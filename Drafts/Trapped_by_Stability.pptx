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5.xml" ContentType="application/vnd.openxmlformats-officedocument.presentationml.notesSlide+xml"/>
  <Override PartName="/ppt/charts/chart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65" r:id="rId5"/>
    <p:sldId id="259" r:id="rId6"/>
    <p:sldId id="286" r:id="rId7"/>
    <p:sldId id="260" r:id="rId8"/>
    <p:sldId id="261" r:id="rId9"/>
    <p:sldId id="288" r:id="rId10"/>
    <p:sldId id="262" r:id="rId11"/>
    <p:sldId id="263" r:id="rId12"/>
    <p:sldId id="264" r:id="rId13"/>
    <p:sldId id="266" r:id="rId14"/>
    <p:sldId id="267" r:id="rId15"/>
    <p:sldId id="268" r:id="rId16"/>
    <p:sldId id="269" r:id="rId17"/>
    <p:sldId id="270" r:id="rId18"/>
    <p:sldId id="271" r:id="rId19"/>
    <p:sldId id="287" r:id="rId20"/>
    <p:sldId id="272" r:id="rId21"/>
    <p:sldId id="273"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845" autoAdjust="0"/>
  </p:normalViewPr>
  <p:slideViewPr>
    <p:cSldViewPr snapToGrid="0" snapToObjects="1">
      <p:cViewPr>
        <p:scale>
          <a:sx n="100" d="100"/>
          <a:sy n="100" d="100"/>
        </p:scale>
        <p:origin x="954" y="-5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Patients</c:v>
                </c:pt>
              </c:strCache>
            </c:strRef>
          </c:tx>
          <c:spPr>
            <a:solidFill>
              <a:srgbClr val="0B4F94"/>
            </a:solidFill>
            <a:effectLst/>
          </c:spPr>
          <c:invertIfNegative val="0"/>
          <c:dLbls>
            <c:numFmt formatCode="#,##0" sourceLinked="0"/>
            <c:spPr>
              <a:noFill/>
              <a:ln>
                <a:noFill/>
              </a:ln>
              <a:effectLst/>
            </c:spPr>
            <c:txPr>
              <a:bodyPr/>
              <a:lstStyle/>
              <a:p>
                <a:pPr>
                  <a:defRPr sz="10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Luminal-like</c:v>
                </c:pt>
                <c:pt idx="1">
                  <c:v>HR+/HER2+</c:v>
                </c:pt>
                <c:pt idx="2">
                  <c:v>HER2-only</c:v>
                </c:pt>
                <c:pt idx="3">
                  <c:v>TNBC</c:v>
                </c:pt>
              </c:strCache>
            </c:strRef>
          </c:cat>
          <c:val>
            <c:numRef>
              <c:f>Sheet1!$B$2:$B$5</c:f>
              <c:numCache>
                <c:formatCode>General</c:formatCode>
                <c:ptCount val="4"/>
                <c:pt idx="0">
                  <c:v>595</c:v>
                </c:pt>
                <c:pt idx="1">
                  <c:v>104</c:v>
                </c:pt>
                <c:pt idx="2">
                  <c:v>59</c:v>
                </c:pt>
                <c:pt idx="3">
                  <c:v>164</c:v>
                </c:pt>
              </c:numCache>
            </c:numRef>
          </c:val>
          <c:extLst>
            <c:ext xmlns:c16="http://schemas.microsoft.com/office/drawing/2014/chart" uri="{C3380CC4-5D6E-409C-BE32-E72D297353CC}">
              <c16:uniqueId val="{00000000-845E-48CB-8241-9309EC5053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DF1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Explained variance</c:v>
                </c:pt>
              </c:strCache>
            </c:strRef>
          </c:tx>
          <c:spPr>
            <a:solidFill>
              <a:srgbClr val="0B4F94"/>
            </a:solidFill>
            <a:effectLst/>
          </c:spPr>
          <c:invertIfNegative val="0"/>
          <c:cat>
            <c:strRef>
              <c:f>Sheet1!$A$2:$A$11</c:f>
              <c:strCache>
                <c:ptCount val="10"/>
                <c:pt idx="0">
                  <c:v>PC1</c:v>
                </c:pt>
                <c:pt idx="1">
                  <c:v>PC2</c:v>
                </c:pt>
                <c:pt idx="2">
                  <c:v>PC3</c:v>
                </c:pt>
                <c:pt idx="3">
                  <c:v>PC4</c:v>
                </c:pt>
                <c:pt idx="4">
                  <c:v>PC5</c:v>
                </c:pt>
                <c:pt idx="5">
                  <c:v>PC6</c:v>
                </c:pt>
                <c:pt idx="6">
                  <c:v>PC7</c:v>
                </c:pt>
                <c:pt idx="7">
                  <c:v>PC8</c:v>
                </c:pt>
                <c:pt idx="8">
                  <c:v>PC9</c:v>
                </c:pt>
                <c:pt idx="9">
                  <c:v>PC10</c:v>
                </c:pt>
              </c:strCache>
            </c:strRef>
          </c:cat>
          <c:val>
            <c:numRef>
              <c:f>Sheet1!$B$2:$B$11</c:f>
              <c:numCache>
                <c:formatCode>General</c:formatCode>
                <c:ptCount val="10"/>
                <c:pt idx="0">
                  <c:v>15.5</c:v>
                </c:pt>
                <c:pt idx="1">
                  <c:v>9.6</c:v>
                </c:pt>
                <c:pt idx="2">
                  <c:v>7.8</c:v>
                </c:pt>
                <c:pt idx="3">
                  <c:v>5.3</c:v>
                </c:pt>
                <c:pt idx="4">
                  <c:v>5</c:v>
                </c:pt>
                <c:pt idx="5">
                  <c:v>3.7</c:v>
                </c:pt>
                <c:pt idx="6">
                  <c:v>3.5</c:v>
                </c:pt>
                <c:pt idx="7">
                  <c:v>3</c:v>
                </c:pt>
                <c:pt idx="8">
                  <c:v>2.4</c:v>
                </c:pt>
                <c:pt idx="9">
                  <c:v>2.2000000000000002</c:v>
                </c:pt>
              </c:numCache>
            </c:numRef>
          </c:val>
          <c:extLst>
            <c:ext xmlns:c16="http://schemas.microsoft.com/office/drawing/2014/chart" uri="{C3380CC4-5D6E-409C-BE32-E72D297353CC}">
              <c16:uniqueId val="{00000000-40EB-4625-A9BE-6F0130717CC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2"/>
        <c:crosses val="autoZero"/>
        <c:auto val="1"/>
        <c:lblAlgn val="ctr"/>
        <c:lblOffset val="100"/>
        <c:noMultiLvlLbl val="1"/>
      </c:catAx>
      <c:valAx>
        <c:axId val="2094734552"/>
        <c:scaling>
          <c:orientation val="minMax"/>
          <c:max val="18"/>
          <c:min val="0"/>
        </c:scaling>
        <c:delete val="0"/>
        <c:axPos val="l"/>
        <c:majorGridlines>
          <c:spPr>
            <a:ln w="6350" cap="flat">
              <a:solidFill>
                <a:srgbClr val="EDF1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|Cohen d|</c:v>
                </c:pt>
              </c:strCache>
            </c:strRef>
          </c:tx>
          <c:spPr>
            <a:solidFill>
              <a:srgbClr val="0B4F94"/>
            </a:solidFill>
            <a:effectLst/>
          </c:spPr>
          <c:invertIfNegative val="0"/>
          <c:dLbls>
            <c:numFmt formatCode="0.00" sourceLinked="0"/>
            <c:spPr>
              <a:noFill/>
              <a:ln>
                <a:noFill/>
              </a:ln>
              <a:effectLst/>
            </c:spPr>
            <c:txPr>
              <a:bodyPr/>
              <a:lstStyle/>
              <a:p>
                <a:pPr>
                  <a:defRPr sz="10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SER std. dev.</c:v>
                </c:pt>
                <c:pt idx="1">
                  <c:v>PE std. dev.</c:v>
                </c:pt>
                <c:pt idx="2">
                  <c:v>SER entropy</c:v>
                </c:pt>
                <c:pt idx="3">
                  <c:v>SER sum entropy</c:v>
                </c:pt>
                <c:pt idx="4">
                  <c:v>SER difference entropy</c:v>
                </c:pt>
                <c:pt idx="5">
                  <c:v>SER homogeneity (1)</c:v>
                </c:pt>
                <c:pt idx="6">
                  <c:v>SER homogeneity (2)</c:v>
                </c:pt>
              </c:strCache>
            </c:strRef>
          </c:cat>
          <c:val>
            <c:numRef>
              <c:f>Sheet1!$B$2:$B$8</c:f>
              <c:numCache>
                <c:formatCode>General</c:formatCode>
                <c:ptCount val="7"/>
                <c:pt idx="0">
                  <c:v>2.1960000000000002</c:v>
                </c:pt>
                <c:pt idx="1">
                  <c:v>2.0470000000000002</c:v>
                </c:pt>
                <c:pt idx="2">
                  <c:v>2.214</c:v>
                </c:pt>
                <c:pt idx="3">
                  <c:v>2.2109999999999999</c:v>
                </c:pt>
                <c:pt idx="4">
                  <c:v>2.1619999999999999</c:v>
                </c:pt>
                <c:pt idx="5">
                  <c:v>2.1040000000000001</c:v>
                </c:pt>
                <c:pt idx="6">
                  <c:v>2.1139999999999999</c:v>
                </c:pt>
              </c:numCache>
            </c:numRef>
          </c:val>
          <c:extLst>
            <c:ext xmlns:c16="http://schemas.microsoft.com/office/drawing/2014/chart" uri="{C3380CC4-5D6E-409C-BE32-E72D297353CC}">
              <c16:uniqueId val="{00000000-F64B-4DE8-97DC-6B07CF5230F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max val="2.6"/>
          <c:min val="0"/>
        </c:scaling>
        <c:delete val="0"/>
        <c:axPos val="b"/>
        <c:majorGridlines>
          <c:spPr>
            <a:ln w="6350" cap="flat">
              <a:solidFill>
                <a:srgbClr val="EDF1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Event rate (%)</c:v>
                </c:pt>
              </c:strCache>
            </c:strRef>
          </c:tx>
          <c:spPr>
            <a:solidFill>
              <a:srgbClr val="4E78A0">
                <a:alpha val="100000"/>
              </a:srgbClr>
            </a:solidFill>
            <a:effectLst/>
          </c:spPr>
          <c:invertIfNegative val="0"/>
          <c:dPt>
            <c:idx val="0"/>
            <c:invertIfNegative val="0"/>
            <c:bubble3D val="0"/>
            <c:spPr>
              <a:solidFill>
                <a:srgbClr val="4E78A0"/>
              </a:solidFill>
              <a:effectLst/>
            </c:spPr>
            <c:extLst>
              <c:ext xmlns:c16="http://schemas.microsoft.com/office/drawing/2014/chart" uri="{C3380CC4-5D6E-409C-BE32-E72D297353CC}">
                <c16:uniqueId val="{00000001-8AD4-4D72-A3A6-77E6B7CD99A8}"/>
              </c:ext>
            </c:extLst>
          </c:dPt>
          <c:dPt>
            <c:idx val="1"/>
            <c:invertIfNegative val="0"/>
            <c:bubble3D val="0"/>
            <c:spPr>
              <a:solidFill>
                <a:srgbClr val="0B4F94"/>
              </a:solidFill>
              <a:effectLst/>
            </c:spPr>
            <c:extLst>
              <c:ext xmlns:c16="http://schemas.microsoft.com/office/drawing/2014/chart" uri="{C3380CC4-5D6E-409C-BE32-E72D297353CC}">
                <c16:uniqueId val="{00000003-8AD4-4D72-A3A6-77E6B7CD99A8}"/>
              </c:ext>
            </c:extLst>
          </c:dPt>
          <c:dLbls>
            <c:numFmt formatCode="0.0&quot;%&quot;" sourceLinked="0"/>
            <c:spPr>
              <a:noFill/>
              <a:ln>
                <a:noFill/>
              </a:ln>
              <a:effectLst/>
            </c:spPr>
            <c:txPr>
              <a:bodyPr/>
              <a:lstStyle/>
              <a:p>
                <a:pPr>
                  <a:defRPr sz="14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  (55 pts · 2 events)</c:v>
                </c:pt>
                <c:pt idx="1">
                  <c:v>Cluster 1  (46 pts · 8 events)</c:v>
                </c:pt>
              </c:strCache>
            </c:strRef>
          </c:cat>
          <c:val>
            <c:numRef>
              <c:f>Sheet1!$B$2:$B$3</c:f>
              <c:numCache>
                <c:formatCode>General</c:formatCode>
                <c:ptCount val="2"/>
                <c:pt idx="0">
                  <c:v>3.6</c:v>
                </c:pt>
                <c:pt idx="1">
                  <c:v>17.399999999999999</c:v>
                </c:pt>
              </c:numCache>
            </c:numRef>
          </c:val>
          <c:extLst>
            <c:ext xmlns:c16="http://schemas.microsoft.com/office/drawing/2014/chart" uri="{C3380CC4-5D6E-409C-BE32-E72D297353CC}">
              <c16:uniqueId val="{00000004-8AD4-4D72-A3A6-77E6B7CD99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max val="22"/>
          <c:min val="0"/>
        </c:scaling>
        <c:delete val="0"/>
        <c:axPos val="l"/>
        <c:majorGridlines>
          <c:spPr>
            <a:ln w="6350" cap="flat">
              <a:solidFill>
                <a:srgbClr val="EDF1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GE</c:v>
                </c:pt>
              </c:strCache>
            </c:strRef>
          </c:tx>
          <c:spPr>
            <a:solidFill>
              <a:srgbClr val="0B4F94"/>
            </a:solidFill>
            <a:effectLst/>
          </c:spPr>
          <c:invertIfNegative val="0"/>
          <c:dLbls>
            <c:numFmt formatCode="0.0&quot;%&quot;" sourceLinked="0"/>
            <c:spPr>
              <a:noFill/>
              <a:ln>
                <a:noFill/>
              </a:ln>
              <a:effectLst/>
            </c:spPr>
            <c:txPr>
              <a:bodyPr/>
              <a:lstStyle/>
              <a:p>
                <a:pPr>
                  <a:defRPr sz="11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c:v>
                </c:pt>
                <c:pt idx="1">
                  <c:v>Cluster 1</c:v>
                </c:pt>
              </c:strCache>
            </c:strRef>
          </c:cat>
          <c:val>
            <c:numRef>
              <c:f>Sheet1!$B$2:$B$3</c:f>
              <c:numCache>
                <c:formatCode>General</c:formatCode>
                <c:ptCount val="2"/>
                <c:pt idx="0">
                  <c:v>93.4</c:v>
                </c:pt>
                <c:pt idx="1">
                  <c:v>24.1</c:v>
                </c:pt>
              </c:numCache>
            </c:numRef>
          </c:val>
          <c:extLst>
            <c:ext xmlns:c16="http://schemas.microsoft.com/office/drawing/2014/chart" uri="{C3380CC4-5D6E-409C-BE32-E72D297353CC}">
              <c16:uniqueId val="{00000000-7774-445F-8168-EA02CB422720}"/>
            </c:ext>
          </c:extLst>
        </c:ser>
        <c:ser>
          <c:idx val="1"/>
          <c:order val="1"/>
          <c:tx>
            <c:strRef>
              <c:f>Sheet1!$C$1</c:f>
              <c:strCache>
                <c:ptCount val="1"/>
                <c:pt idx="0">
                  <c:v>Siemens</c:v>
                </c:pt>
              </c:strCache>
            </c:strRef>
          </c:tx>
          <c:spPr>
            <a:solidFill>
              <a:srgbClr val="B33C3C"/>
            </a:solidFill>
            <a:effectLst/>
          </c:spPr>
          <c:invertIfNegative val="0"/>
          <c:dLbls>
            <c:numFmt formatCode="0.0&quot;%&quot;" sourceLinked="0"/>
            <c:spPr>
              <a:noFill/>
              <a:ln>
                <a:noFill/>
              </a:ln>
              <a:effectLst/>
            </c:spPr>
            <c:txPr>
              <a:bodyPr/>
              <a:lstStyle/>
              <a:p>
                <a:pPr>
                  <a:defRPr sz="1100" b="1" i="0" u="none" strike="noStrike">
                    <a:solidFill>
                      <a:srgbClr val="FFFFFF"/>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Cluster 0</c:v>
                </c:pt>
                <c:pt idx="1">
                  <c:v>Cluster 1</c:v>
                </c:pt>
              </c:strCache>
            </c:strRef>
          </c:cat>
          <c:val>
            <c:numRef>
              <c:f>Sheet1!$C$2:$C$3</c:f>
              <c:numCache>
                <c:formatCode>General</c:formatCode>
                <c:ptCount val="2"/>
                <c:pt idx="0">
                  <c:v>6.6</c:v>
                </c:pt>
                <c:pt idx="1">
                  <c:v>75.900000000000006</c:v>
                </c:pt>
              </c:numCache>
            </c:numRef>
          </c:val>
          <c:extLst>
            <c:ext xmlns:c16="http://schemas.microsoft.com/office/drawing/2014/chart" uri="{C3380CC4-5D6E-409C-BE32-E72D297353CC}">
              <c16:uniqueId val="{00000001-7774-445F-8168-EA02CB422720}"/>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1"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DF1F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A2330"/>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Cluster 0</c:v>
                </c:pt>
              </c:strCache>
            </c:strRef>
          </c:tx>
          <c:spPr>
            <a:ln>
              <a:noFill/>
            </a:ln>
            <a:effectLst/>
          </c:spPr>
          <c:marker>
            <c:symbol val="circle"/>
            <c:size val="5"/>
            <c:spPr>
              <a:solidFill>
                <a:srgbClr val="4E78A0"/>
              </a:solidFill>
              <a:ln w="9525" cap="flat">
                <a:solidFill>
                  <a:srgbClr val="4E78A0"/>
                </a:solidFill>
                <a:prstDash val="solid"/>
                <a:round/>
              </a:ln>
              <a:effectLst/>
            </c:spPr>
          </c:marker>
          <c:xVal>
            <c:numRef>
              <c:f>Sheet1!$A$2:$A$231</c:f>
              <c:numCache>
                <c:formatCode>General</c:formatCode>
                <c:ptCount val="230"/>
                <c:pt idx="0">
                  <c:v>-3.3292571297794811</c:v>
                </c:pt>
                <c:pt idx="1">
                  <c:v>-1.9056661480378401</c:v>
                </c:pt>
                <c:pt idx="2">
                  <c:v>-3.5296152799949239</c:v>
                </c:pt>
                <c:pt idx="3">
                  <c:v>-4.0060309881284173E-2</c:v>
                </c:pt>
                <c:pt idx="4">
                  <c:v>-3.0451917663502392</c:v>
                </c:pt>
                <c:pt idx="5">
                  <c:v>-1.6287221223554311</c:v>
                </c:pt>
                <c:pt idx="6">
                  <c:v>-1.0257631821245494</c:v>
                </c:pt>
                <c:pt idx="7">
                  <c:v>-1.8674480463980014</c:v>
                </c:pt>
                <c:pt idx="8">
                  <c:v>-1.4152210806722358</c:v>
                </c:pt>
                <c:pt idx="9">
                  <c:v>-3.2873041808786208</c:v>
                </c:pt>
                <c:pt idx="10">
                  <c:v>0.12632443271807503</c:v>
                </c:pt>
                <c:pt idx="11">
                  <c:v>-1.5822703796143849</c:v>
                </c:pt>
                <c:pt idx="12">
                  <c:v>-4.3174362758928684</c:v>
                </c:pt>
                <c:pt idx="13">
                  <c:v>-1.8652105389363243</c:v>
                </c:pt>
                <c:pt idx="14">
                  <c:v>-3.5038784810831549</c:v>
                </c:pt>
                <c:pt idx="15">
                  <c:v>-2.205987648259788</c:v>
                </c:pt>
                <c:pt idx="16">
                  <c:v>0.24837135251720799</c:v>
                </c:pt>
                <c:pt idx="17">
                  <c:v>-1.8334562027503349</c:v>
                </c:pt>
                <c:pt idx="18">
                  <c:v>-2.6377919734123525</c:v>
                </c:pt>
                <c:pt idx="19">
                  <c:v>-1.6678672296180619</c:v>
                </c:pt>
                <c:pt idx="20">
                  <c:v>-3.0201849739571909</c:v>
                </c:pt>
                <c:pt idx="21">
                  <c:v>0.41477931298304327</c:v>
                </c:pt>
                <c:pt idx="22">
                  <c:v>-0.48366383248058264</c:v>
                </c:pt>
                <c:pt idx="23">
                  <c:v>-1.8709351971639783</c:v>
                </c:pt>
                <c:pt idx="24">
                  <c:v>-2.9842065226286509</c:v>
                </c:pt>
                <c:pt idx="25">
                  <c:v>-2.5110668630910888</c:v>
                </c:pt>
                <c:pt idx="26">
                  <c:v>-1.6082620246935688</c:v>
                </c:pt>
                <c:pt idx="27">
                  <c:v>-0.72121192780495669</c:v>
                </c:pt>
                <c:pt idx="28">
                  <c:v>-4.5221971556689997</c:v>
                </c:pt>
                <c:pt idx="29">
                  <c:v>-2.6348561514783269</c:v>
                </c:pt>
                <c:pt idx="30">
                  <c:v>-2.1648550935420743</c:v>
                </c:pt>
                <c:pt idx="31">
                  <c:v>-3.5408257279244575</c:v>
                </c:pt>
                <c:pt idx="32">
                  <c:v>-1.1876155767770222</c:v>
                </c:pt>
                <c:pt idx="33">
                  <c:v>-3.4061357910585532</c:v>
                </c:pt>
                <c:pt idx="34">
                  <c:v>-1.8365225303612742</c:v>
                </c:pt>
                <c:pt idx="35">
                  <c:v>-1.3746233376156245</c:v>
                </c:pt>
                <c:pt idx="36">
                  <c:v>-1.7972760871781039</c:v>
                </c:pt>
                <c:pt idx="37">
                  <c:v>-1.3498780451153274</c:v>
                </c:pt>
                <c:pt idx="38">
                  <c:v>-1.7009650729690742</c:v>
                </c:pt>
                <c:pt idx="39">
                  <c:v>-2.582426324418682</c:v>
                </c:pt>
                <c:pt idx="40">
                  <c:v>-0.71180364041530075</c:v>
                </c:pt>
                <c:pt idx="41">
                  <c:v>-3.1269044272791175</c:v>
                </c:pt>
                <c:pt idx="42">
                  <c:v>-3.6503481923604837</c:v>
                </c:pt>
                <c:pt idx="43">
                  <c:v>-2.0834639344141985</c:v>
                </c:pt>
                <c:pt idx="44">
                  <c:v>-0.12171169563714246</c:v>
                </c:pt>
                <c:pt idx="45">
                  <c:v>-4.4055438003911593</c:v>
                </c:pt>
                <c:pt idx="46">
                  <c:v>-3.1571326996067794</c:v>
                </c:pt>
                <c:pt idx="47">
                  <c:v>0.63226247995645712</c:v>
                </c:pt>
                <c:pt idx="48">
                  <c:v>-0.9551057267109655</c:v>
                </c:pt>
                <c:pt idx="49">
                  <c:v>-3.2143972211555152</c:v>
                </c:pt>
                <c:pt idx="50">
                  <c:v>-1.3437941239107922</c:v>
                </c:pt>
                <c:pt idx="51">
                  <c:v>-2.0509852709175207</c:v>
                </c:pt>
                <c:pt idx="52">
                  <c:v>-0.15248155986738299</c:v>
                </c:pt>
                <c:pt idx="53">
                  <c:v>-2.3223586205731745</c:v>
                </c:pt>
                <c:pt idx="54">
                  <c:v>-1.2536691369688562</c:v>
                </c:pt>
                <c:pt idx="55">
                  <c:v>-1.0023724542516923</c:v>
                </c:pt>
                <c:pt idx="56">
                  <c:v>0.20179645366629284</c:v>
                </c:pt>
                <c:pt idx="57">
                  <c:v>0.66181446928819954</c:v>
                </c:pt>
                <c:pt idx="58">
                  <c:v>-1.3500600100108331</c:v>
                </c:pt>
                <c:pt idx="59">
                  <c:v>-1.5726107118944437</c:v>
                </c:pt>
                <c:pt idx="60">
                  <c:v>-0.65040859025829967</c:v>
                </c:pt>
                <c:pt idx="61">
                  <c:v>-3.9107155444713575</c:v>
                </c:pt>
                <c:pt idx="62">
                  <c:v>-3.7332961129361855</c:v>
                </c:pt>
                <c:pt idx="63">
                  <c:v>-2.5867601608660071</c:v>
                </c:pt>
                <c:pt idx="64">
                  <c:v>-1.4623406382461135</c:v>
                </c:pt>
                <c:pt idx="65">
                  <c:v>0.2795452028613421</c:v>
                </c:pt>
                <c:pt idx="66">
                  <c:v>-1.0019653256419505</c:v>
                </c:pt>
                <c:pt idx="67">
                  <c:v>-0.74795728092493907</c:v>
                </c:pt>
                <c:pt idx="68">
                  <c:v>-3.253360952376366</c:v>
                </c:pt>
                <c:pt idx="69">
                  <c:v>-1.8535240641905575</c:v>
                </c:pt>
                <c:pt idx="70">
                  <c:v>-2.1058618953161052</c:v>
                </c:pt>
                <c:pt idx="71">
                  <c:v>-0.39896114904128344</c:v>
                </c:pt>
                <c:pt idx="72">
                  <c:v>-2.6278430697689577</c:v>
                </c:pt>
                <c:pt idx="73">
                  <c:v>-3.2358276270293178</c:v>
                </c:pt>
                <c:pt idx="74">
                  <c:v>-7.4115303141053523E-3</c:v>
                </c:pt>
                <c:pt idx="75">
                  <c:v>0.43472873478221219</c:v>
                </c:pt>
                <c:pt idx="76">
                  <c:v>-2.7325689267967039</c:v>
                </c:pt>
                <c:pt idx="77">
                  <c:v>-4.5724988506659967</c:v>
                </c:pt>
                <c:pt idx="78">
                  <c:v>-3.1029160543617356</c:v>
                </c:pt>
                <c:pt idx="79">
                  <c:v>-0.89306686794815882</c:v>
                </c:pt>
                <c:pt idx="80">
                  <c:v>-3.1945601133136892</c:v>
                </c:pt>
                <c:pt idx="81">
                  <c:v>-1.122517294193548E-2</c:v>
                </c:pt>
                <c:pt idx="82">
                  <c:v>-3.0899060403261527</c:v>
                </c:pt>
                <c:pt idx="83">
                  <c:v>-2.2328112604027543</c:v>
                </c:pt>
                <c:pt idx="84">
                  <c:v>-0.53320366316589185</c:v>
                </c:pt>
                <c:pt idx="85">
                  <c:v>-2.5096072339000743</c:v>
                </c:pt>
                <c:pt idx="86">
                  <c:v>-2.4144642701854049</c:v>
                </c:pt>
                <c:pt idx="87">
                  <c:v>-1.2862669639095419</c:v>
                </c:pt>
                <c:pt idx="88">
                  <c:v>-0.68065132876364487</c:v>
                </c:pt>
                <c:pt idx="89">
                  <c:v>-1.4523199364858375</c:v>
                </c:pt>
                <c:pt idx="90">
                  <c:v>-0.63240066657002014</c:v>
                </c:pt>
                <c:pt idx="91">
                  <c:v>-2.2655516161793141</c:v>
                </c:pt>
                <c:pt idx="92">
                  <c:v>-2.8609321215045629</c:v>
                </c:pt>
                <c:pt idx="93">
                  <c:v>-1.8161299802066821</c:v>
                </c:pt>
                <c:pt idx="94">
                  <c:v>-3.322075780094754</c:v>
                </c:pt>
                <c:pt idx="95">
                  <c:v>-2.1056355593104299</c:v>
                </c:pt>
                <c:pt idx="96">
                  <c:v>-3.9861115167235952</c:v>
                </c:pt>
                <c:pt idx="97">
                  <c:v>-0.52162605423810593</c:v>
                </c:pt>
                <c:pt idx="98">
                  <c:v>-1.3788217020208569</c:v>
                </c:pt>
                <c:pt idx="99">
                  <c:v>-1.481040203748623</c:v>
                </c:pt>
                <c:pt idx="100">
                  <c:v>-4.1200347737975829</c:v>
                </c:pt>
                <c:pt idx="101">
                  <c:v>-0.19249213644194363</c:v>
                </c:pt>
                <c:pt idx="102">
                  <c:v>-2.343645267977426</c:v>
                </c:pt>
                <c:pt idx="103">
                  <c:v>-4.3797313309913886</c:v>
                </c:pt>
                <c:pt idx="104">
                  <c:v>-3.2116799043240407</c:v>
                </c:pt>
                <c:pt idx="105">
                  <c:v>-2.1295357923077294</c:v>
                </c:pt>
                <c:pt idx="106">
                  <c:v>-0.4540653225458029</c:v>
                </c:pt>
                <c:pt idx="107">
                  <c:v>-2.9615119126821767</c:v>
                </c:pt>
                <c:pt idx="108">
                  <c:v>-1.6816108191642123</c:v>
                </c:pt>
                <c:pt idx="109">
                  <c:v>-3.5203610553331561</c:v>
                </c:pt>
                <c:pt idx="110">
                  <c:v>-2.5160301395302125</c:v>
                </c:pt>
                <c:pt idx="111">
                  <c:v>-0.61694451807156048</c:v>
                </c:pt>
                <c:pt idx="112">
                  <c:v>-2.0057951452938547</c:v>
                </c:pt>
                <c:pt idx="113">
                  <c:v>-3.6168069009973927</c:v>
                </c:pt>
                <c:pt idx="114">
                  <c:v>-0.24115875487649818</c:v>
                </c:pt>
                <c:pt idx="115">
                  <c:v>-2.1506270963996137</c:v>
                </c:pt>
                <c:pt idx="116">
                  <c:v>-3.4197076006183842</c:v>
                </c:pt>
                <c:pt idx="117">
                  <c:v>-1.5649120585591232</c:v>
                </c:pt>
                <c:pt idx="118">
                  <c:v>-1.7297731454198897</c:v>
                </c:pt>
                <c:pt idx="119">
                  <c:v>-0.38635251950696725</c:v>
                </c:pt>
                <c:pt idx="120">
                  <c:v>1.2249407520954878</c:v>
                </c:pt>
                <c:pt idx="121">
                  <c:v>1.4777418517091228</c:v>
                </c:pt>
                <c:pt idx="122">
                  <c:v>3.706510619062712</c:v>
                </c:pt>
                <c:pt idx="123">
                  <c:v>3.7282964982320443</c:v>
                </c:pt>
                <c:pt idx="124">
                  <c:v>1.5206347192729972</c:v>
                </c:pt>
                <c:pt idx="125">
                  <c:v>2.5359346364197548</c:v>
                </c:pt>
                <c:pt idx="126">
                  <c:v>1.8546747026941197</c:v>
                </c:pt>
                <c:pt idx="127">
                  <c:v>2.8629034310488883</c:v>
                </c:pt>
                <c:pt idx="128">
                  <c:v>1.5249634046401075</c:v>
                </c:pt>
                <c:pt idx="129">
                  <c:v>3.0888098006273088</c:v>
                </c:pt>
                <c:pt idx="130">
                  <c:v>3.4761368539117541</c:v>
                </c:pt>
                <c:pt idx="131">
                  <c:v>-0.41408067659239478</c:v>
                </c:pt>
                <c:pt idx="132">
                  <c:v>3.99537445632384</c:v>
                </c:pt>
                <c:pt idx="133">
                  <c:v>2.3530656203959706</c:v>
                </c:pt>
                <c:pt idx="134">
                  <c:v>2.2985626476453906</c:v>
                </c:pt>
                <c:pt idx="135">
                  <c:v>1.6118932499634631</c:v>
                </c:pt>
                <c:pt idx="136">
                  <c:v>1.0582822577453419</c:v>
                </c:pt>
                <c:pt idx="137">
                  <c:v>0.84859255849150372</c:v>
                </c:pt>
                <c:pt idx="138">
                  <c:v>1.6257098392844058</c:v>
                </c:pt>
                <c:pt idx="139">
                  <c:v>1.1004001258806408</c:v>
                </c:pt>
                <c:pt idx="140">
                  <c:v>2.2539918755030031</c:v>
                </c:pt>
                <c:pt idx="141">
                  <c:v>2.5700142537194623</c:v>
                </c:pt>
                <c:pt idx="142">
                  <c:v>0.76619801864903336</c:v>
                </c:pt>
                <c:pt idx="143">
                  <c:v>1.6400819865007965</c:v>
                </c:pt>
                <c:pt idx="144">
                  <c:v>3.0063385044442739</c:v>
                </c:pt>
                <c:pt idx="145">
                  <c:v>3.5717376246740771</c:v>
                </c:pt>
                <c:pt idx="146">
                  <c:v>1.4575237391584839</c:v>
                </c:pt>
                <c:pt idx="147">
                  <c:v>-0.30638616862203438</c:v>
                </c:pt>
                <c:pt idx="148">
                  <c:v>3.367045018268243</c:v>
                </c:pt>
                <c:pt idx="149">
                  <c:v>1.264263871823941</c:v>
                </c:pt>
                <c:pt idx="150">
                  <c:v>3.0391499946636427</c:v>
                </c:pt>
                <c:pt idx="151">
                  <c:v>2.3275327666156613</c:v>
                </c:pt>
                <c:pt idx="152">
                  <c:v>1.090519498861124</c:v>
                </c:pt>
                <c:pt idx="153">
                  <c:v>0.32994638834705192</c:v>
                </c:pt>
                <c:pt idx="154">
                  <c:v>1.4475243393711894</c:v>
                </c:pt>
                <c:pt idx="155">
                  <c:v>1.7333214537368633</c:v>
                </c:pt>
                <c:pt idx="156">
                  <c:v>1.5860189973161354</c:v>
                </c:pt>
                <c:pt idx="157">
                  <c:v>7.6134763386193072E-4</c:v>
                </c:pt>
                <c:pt idx="158">
                  <c:v>2.3696490392950933</c:v>
                </c:pt>
                <c:pt idx="159">
                  <c:v>1.3573266631597125</c:v>
                </c:pt>
                <c:pt idx="160">
                  <c:v>2.2713837313615772</c:v>
                </c:pt>
                <c:pt idx="161">
                  <c:v>2.9021524475835974</c:v>
                </c:pt>
                <c:pt idx="162">
                  <c:v>2.5238343556162923</c:v>
                </c:pt>
                <c:pt idx="163">
                  <c:v>2.321451434933183</c:v>
                </c:pt>
                <c:pt idx="164">
                  <c:v>1.5891635416815932</c:v>
                </c:pt>
                <c:pt idx="165">
                  <c:v>1.848440363909966</c:v>
                </c:pt>
                <c:pt idx="166">
                  <c:v>2.1513257054732833</c:v>
                </c:pt>
                <c:pt idx="167">
                  <c:v>4.048720001961934</c:v>
                </c:pt>
                <c:pt idx="168">
                  <c:v>1.16372833865345</c:v>
                </c:pt>
                <c:pt idx="169">
                  <c:v>0.19748026948242825</c:v>
                </c:pt>
                <c:pt idx="170">
                  <c:v>1.8490043419048601</c:v>
                </c:pt>
                <c:pt idx="171">
                  <c:v>1.6203782611062909</c:v>
                </c:pt>
                <c:pt idx="172">
                  <c:v>2.4543942076143632</c:v>
                </c:pt>
                <c:pt idx="173">
                  <c:v>1.1385994883352293</c:v>
                </c:pt>
                <c:pt idx="174">
                  <c:v>1.8288206618891318</c:v>
                </c:pt>
                <c:pt idx="175">
                  <c:v>2.6304235057752487</c:v>
                </c:pt>
                <c:pt idx="176">
                  <c:v>1.9976298948620552</c:v>
                </c:pt>
                <c:pt idx="177">
                  <c:v>4.3813273705529268</c:v>
                </c:pt>
                <c:pt idx="178">
                  <c:v>0.11809996360020314</c:v>
                </c:pt>
                <c:pt idx="179">
                  <c:v>3.8402079674543366</c:v>
                </c:pt>
                <c:pt idx="180">
                  <c:v>1.2425909276486116</c:v>
                </c:pt>
                <c:pt idx="181">
                  <c:v>2.9967157304183019</c:v>
                </c:pt>
                <c:pt idx="182">
                  <c:v>1.4399285652248976</c:v>
                </c:pt>
                <c:pt idx="183">
                  <c:v>0.28071890885940776</c:v>
                </c:pt>
                <c:pt idx="184">
                  <c:v>3.1254200283890778</c:v>
                </c:pt>
                <c:pt idx="185">
                  <c:v>0.70507065465703223</c:v>
                </c:pt>
                <c:pt idx="186">
                  <c:v>0.7007739717388517</c:v>
                </c:pt>
                <c:pt idx="187">
                  <c:v>0.7317364810389595</c:v>
                </c:pt>
                <c:pt idx="188">
                  <c:v>0.27190337775671813</c:v>
                </c:pt>
                <c:pt idx="189">
                  <c:v>1.6293397347347303</c:v>
                </c:pt>
                <c:pt idx="190">
                  <c:v>2.299119173236682</c:v>
                </c:pt>
                <c:pt idx="191">
                  <c:v>3.6441951930377172</c:v>
                </c:pt>
                <c:pt idx="192">
                  <c:v>0.64429315353091221</c:v>
                </c:pt>
                <c:pt idx="193">
                  <c:v>3.7727377310071155</c:v>
                </c:pt>
                <c:pt idx="194">
                  <c:v>1.1442019958874319</c:v>
                </c:pt>
                <c:pt idx="195">
                  <c:v>2.9192332471872442</c:v>
                </c:pt>
                <c:pt idx="196">
                  <c:v>0.5525745813880627</c:v>
                </c:pt>
                <c:pt idx="197">
                  <c:v>2.5623945950806029</c:v>
                </c:pt>
                <c:pt idx="198">
                  <c:v>2.6870864872653351</c:v>
                </c:pt>
                <c:pt idx="199">
                  <c:v>2.2750858560815344</c:v>
                </c:pt>
                <c:pt idx="200">
                  <c:v>1.8608923305219971</c:v>
                </c:pt>
                <c:pt idx="201">
                  <c:v>2.5605055198181637</c:v>
                </c:pt>
                <c:pt idx="202">
                  <c:v>2.9279737875998788</c:v>
                </c:pt>
                <c:pt idx="203">
                  <c:v>1.7653872106433584</c:v>
                </c:pt>
                <c:pt idx="204">
                  <c:v>1.5770058845776231</c:v>
                </c:pt>
                <c:pt idx="205">
                  <c:v>1.6893695530109949</c:v>
                </c:pt>
                <c:pt idx="206">
                  <c:v>3.7596260166731197</c:v>
                </c:pt>
                <c:pt idx="207">
                  <c:v>2.629944134493698</c:v>
                </c:pt>
                <c:pt idx="208">
                  <c:v>2.1084483980344393</c:v>
                </c:pt>
                <c:pt idx="209">
                  <c:v>2.2392200409803569</c:v>
                </c:pt>
                <c:pt idx="210">
                  <c:v>2.3334508037459347</c:v>
                </c:pt>
                <c:pt idx="211">
                  <c:v>3.7868106527179757</c:v>
                </c:pt>
                <c:pt idx="212">
                  <c:v>3.4336972247909356</c:v>
                </c:pt>
                <c:pt idx="213">
                  <c:v>1.9041931715565235</c:v>
                </c:pt>
                <c:pt idx="214">
                  <c:v>1.2937282544970028</c:v>
                </c:pt>
                <c:pt idx="215">
                  <c:v>2.6730680567325411</c:v>
                </c:pt>
                <c:pt idx="216">
                  <c:v>2.0366231173800964</c:v>
                </c:pt>
                <c:pt idx="217">
                  <c:v>3.8528702539786881</c:v>
                </c:pt>
                <c:pt idx="218">
                  <c:v>0.84245730302368971</c:v>
                </c:pt>
                <c:pt idx="219">
                  <c:v>1.4358482186392389</c:v>
                </c:pt>
                <c:pt idx="220">
                  <c:v>1.441745002698356</c:v>
                </c:pt>
                <c:pt idx="221">
                  <c:v>3.8177663881708233</c:v>
                </c:pt>
                <c:pt idx="222">
                  <c:v>2.080958396663779</c:v>
                </c:pt>
                <c:pt idx="223">
                  <c:v>2.9565964247285916</c:v>
                </c:pt>
                <c:pt idx="224">
                  <c:v>1.9027450458872432</c:v>
                </c:pt>
                <c:pt idx="225">
                  <c:v>0.99835706669820512</c:v>
                </c:pt>
                <c:pt idx="226">
                  <c:v>-0.37380385705058394</c:v>
                </c:pt>
                <c:pt idx="227">
                  <c:v>3.2809572631459227</c:v>
                </c:pt>
                <c:pt idx="228">
                  <c:v>2.5509597005829026</c:v>
                </c:pt>
                <c:pt idx="229">
                  <c:v>1.4610175605337277</c:v>
                </c:pt>
              </c:numCache>
            </c:numRef>
          </c:xVal>
          <c:yVal>
            <c:numRef>
              <c:f>Sheet1!$B$2:$B$231</c:f>
              <c:numCache>
                <c:formatCode>General</c:formatCode>
                <c:ptCount val="230"/>
                <c:pt idx="0">
                  <c:v>-0.24494482384912741</c:v>
                </c:pt>
                <c:pt idx="1">
                  <c:v>2.2763485412008864</c:v>
                </c:pt>
                <c:pt idx="2">
                  <c:v>0.14885172942479363</c:v>
                </c:pt>
                <c:pt idx="3">
                  <c:v>-1.355706804365761</c:v>
                </c:pt>
                <c:pt idx="4">
                  <c:v>0.74644488825055277</c:v>
                </c:pt>
                <c:pt idx="5">
                  <c:v>-1.355231025096546</c:v>
                </c:pt>
                <c:pt idx="6">
                  <c:v>0.62388110894648086</c:v>
                </c:pt>
                <c:pt idx="7">
                  <c:v>1.3746901642645331</c:v>
                </c:pt>
                <c:pt idx="8">
                  <c:v>0.94674046974822379</c:v>
                </c:pt>
                <c:pt idx="9">
                  <c:v>0.28608487043809583</c:v>
                </c:pt>
                <c:pt idx="10">
                  <c:v>0.7766343627573582</c:v>
                </c:pt>
                <c:pt idx="11">
                  <c:v>0.13333633244344342</c:v>
                </c:pt>
                <c:pt idx="12">
                  <c:v>0.90590388193019256</c:v>
                </c:pt>
                <c:pt idx="13">
                  <c:v>0.47929001695108736</c:v>
                </c:pt>
                <c:pt idx="14">
                  <c:v>-0.20992575958950255</c:v>
                </c:pt>
                <c:pt idx="15">
                  <c:v>1.0751644332263472</c:v>
                </c:pt>
                <c:pt idx="16">
                  <c:v>3.0228010916668796E-2</c:v>
                </c:pt>
                <c:pt idx="17">
                  <c:v>1.463790453430073</c:v>
                </c:pt>
                <c:pt idx="18">
                  <c:v>1.1612191467173865</c:v>
                </c:pt>
                <c:pt idx="19">
                  <c:v>-1.7158032666279777</c:v>
                </c:pt>
                <c:pt idx="20">
                  <c:v>1.3692756090850642</c:v>
                </c:pt>
                <c:pt idx="21">
                  <c:v>-0.8055379977527497</c:v>
                </c:pt>
                <c:pt idx="22">
                  <c:v>-0.9264125503464864</c:v>
                </c:pt>
                <c:pt idx="23">
                  <c:v>1.4228984787928269</c:v>
                </c:pt>
                <c:pt idx="24">
                  <c:v>0.78232753555811585</c:v>
                </c:pt>
                <c:pt idx="25">
                  <c:v>-0.4086163023547425</c:v>
                </c:pt>
                <c:pt idx="26">
                  <c:v>2.1706626431697753</c:v>
                </c:pt>
                <c:pt idx="27">
                  <c:v>0.87805112936503416</c:v>
                </c:pt>
                <c:pt idx="28">
                  <c:v>1.4922903994895482</c:v>
                </c:pt>
                <c:pt idx="29">
                  <c:v>-0.49904768587932263</c:v>
                </c:pt>
                <c:pt idx="30">
                  <c:v>0.46989145304878444</c:v>
                </c:pt>
                <c:pt idx="31">
                  <c:v>0.23407318854275555</c:v>
                </c:pt>
                <c:pt idx="32">
                  <c:v>-0.89038571058122051</c:v>
                </c:pt>
                <c:pt idx="33">
                  <c:v>0.66979912327918167</c:v>
                </c:pt>
                <c:pt idx="34">
                  <c:v>1.8262214517028932</c:v>
                </c:pt>
                <c:pt idx="35">
                  <c:v>0.76784129474927165</c:v>
                </c:pt>
                <c:pt idx="36">
                  <c:v>-1.4085746193731983</c:v>
                </c:pt>
                <c:pt idx="37">
                  <c:v>9.0854495289436121E-2</c:v>
                </c:pt>
                <c:pt idx="38">
                  <c:v>-9.9707438281690985E-2</c:v>
                </c:pt>
                <c:pt idx="39">
                  <c:v>-0.38887996479911807</c:v>
                </c:pt>
                <c:pt idx="40">
                  <c:v>0.36377694721944442</c:v>
                </c:pt>
                <c:pt idx="41">
                  <c:v>1.372340449570874</c:v>
                </c:pt>
                <c:pt idx="42">
                  <c:v>1.286896761300186</c:v>
                </c:pt>
                <c:pt idx="43">
                  <c:v>-0.66557415049446744</c:v>
                </c:pt>
                <c:pt idx="44">
                  <c:v>-0.23948704542910965</c:v>
                </c:pt>
                <c:pt idx="45">
                  <c:v>2.6297975691947522</c:v>
                </c:pt>
                <c:pt idx="46">
                  <c:v>0.57394081180510526</c:v>
                </c:pt>
                <c:pt idx="47">
                  <c:v>6.9809431545097556E-2</c:v>
                </c:pt>
                <c:pt idx="48">
                  <c:v>-0.70066304182796246</c:v>
                </c:pt>
                <c:pt idx="49">
                  <c:v>0.39911790256528734</c:v>
                </c:pt>
                <c:pt idx="50">
                  <c:v>-1.7642315596654861</c:v>
                </c:pt>
                <c:pt idx="51">
                  <c:v>0.66611041034817542</c:v>
                </c:pt>
                <c:pt idx="52">
                  <c:v>2.4485531747778149</c:v>
                </c:pt>
                <c:pt idx="53">
                  <c:v>-0.58808587872498275</c:v>
                </c:pt>
                <c:pt idx="54">
                  <c:v>-0.46576418379094914</c:v>
                </c:pt>
                <c:pt idx="55">
                  <c:v>-1.2999017180586145</c:v>
                </c:pt>
                <c:pt idx="56">
                  <c:v>0.63930181664228747</c:v>
                </c:pt>
                <c:pt idx="57">
                  <c:v>0.49439952372609841</c:v>
                </c:pt>
                <c:pt idx="58">
                  <c:v>-0.77456267989751981</c:v>
                </c:pt>
                <c:pt idx="59">
                  <c:v>0.66278443786361907</c:v>
                </c:pt>
                <c:pt idx="60">
                  <c:v>0.58146644527681535</c:v>
                </c:pt>
                <c:pt idx="61">
                  <c:v>0.3170750824473868</c:v>
                </c:pt>
                <c:pt idx="62">
                  <c:v>2.0462011287899782</c:v>
                </c:pt>
                <c:pt idx="63">
                  <c:v>1.8424360730649063</c:v>
                </c:pt>
                <c:pt idx="64">
                  <c:v>0.7189403063249169</c:v>
                </c:pt>
                <c:pt idx="65">
                  <c:v>0.21079584038974472</c:v>
                </c:pt>
                <c:pt idx="66">
                  <c:v>0.7014725586440933</c:v>
                </c:pt>
                <c:pt idx="67">
                  <c:v>1.0527025082071024</c:v>
                </c:pt>
                <c:pt idx="68">
                  <c:v>0.82066936871426122</c:v>
                </c:pt>
                <c:pt idx="69">
                  <c:v>-2.8876386394549476</c:v>
                </c:pt>
                <c:pt idx="70">
                  <c:v>-1.0581707469377859</c:v>
                </c:pt>
                <c:pt idx="71">
                  <c:v>-0.42499326481356164</c:v>
                </c:pt>
                <c:pt idx="72">
                  <c:v>-0.4258871037406487</c:v>
                </c:pt>
                <c:pt idx="73">
                  <c:v>1.4543323641167241</c:v>
                </c:pt>
                <c:pt idx="74">
                  <c:v>-1.3383455534762727</c:v>
                </c:pt>
                <c:pt idx="75">
                  <c:v>1.1295958698490152</c:v>
                </c:pt>
                <c:pt idx="76">
                  <c:v>1.9285109758266545</c:v>
                </c:pt>
                <c:pt idx="77">
                  <c:v>-1.3655670943347358</c:v>
                </c:pt>
                <c:pt idx="78">
                  <c:v>1.0940426269674979</c:v>
                </c:pt>
                <c:pt idx="79">
                  <c:v>-0.41790407702859272</c:v>
                </c:pt>
                <c:pt idx="80">
                  <c:v>0.73464173891165307</c:v>
                </c:pt>
                <c:pt idx="81">
                  <c:v>-1.0203471063960481</c:v>
                </c:pt>
                <c:pt idx="82">
                  <c:v>0.20662959775573236</c:v>
                </c:pt>
                <c:pt idx="83">
                  <c:v>-0.19862258241744013</c:v>
                </c:pt>
                <c:pt idx="84">
                  <c:v>-5.6615906551556572E-2</c:v>
                </c:pt>
                <c:pt idx="85">
                  <c:v>0.44868987636780522</c:v>
                </c:pt>
                <c:pt idx="86">
                  <c:v>-0.92981845631106319</c:v>
                </c:pt>
                <c:pt idx="87">
                  <c:v>-0.1528800982358105</c:v>
                </c:pt>
                <c:pt idx="88">
                  <c:v>0.13040583688010582</c:v>
                </c:pt>
                <c:pt idx="89">
                  <c:v>-0.63633567596162677</c:v>
                </c:pt>
                <c:pt idx="90">
                  <c:v>0.78475458399489595</c:v>
                </c:pt>
                <c:pt idx="91">
                  <c:v>0.1204332836990709</c:v>
                </c:pt>
                <c:pt idx="92">
                  <c:v>0.78286438879629205</c:v>
                </c:pt>
                <c:pt idx="93">
                  <c:v>-0.541766797776849</c:v>
                </c:pt>
                <c:pt idx="94">
                  <c:v>0.60446169734001498</c:v>
                </c:pt>
                <c:pt idx="95">
                  <c:v>-0.29233659430594139</c:v>
                </c:pt>
                <c:pt idx="96">
                  <c:v>1.9843855093883003</c:v>
                </c:pt>
                <c:pt idx="97">
                  <c:v>0.12621425795212621</c:v>
                </c:pt>
                <c:pt idx="98">
                  <c:v>0.95270551518654445</c:v>
                </c:pt>
                <c:pt idx="99">
                  <c:v>0.97032533760947803</c:v>
                </c:pt>
                <c:pt idx="100">
                  <c:v>-0.11058398071120817</c:v>
                </c:pt>
                <c:pt idx="101">
                  <c:v>0.40552971962899675</c:v>
                </c:pt>
                <c:pt idx="102">
                  <c:v>0.1739428584394565</c:v>
                </c:pt>
                <c:pt idx="103">
                  <c:v>1.861934008526331</c:v>
                </c:pt>
                <c:pt idx="104">
                  <c:v>-1.3385623166905531</c:v>
                </c:pt>
                <c:pt idx="105">
                  <c:v>-1.5038962441916579</c:v>
                </c:pt>
                <c:pt idx="106">
                  <c:v>-0.64408701077724051</c:v>
                </c:pt>
                <c:pt idx="107">
                  <c:v>0.81829870965195628</c:v>
                </c:pt>
                <c:pt idx="108">
                  <c:v>0.74928006032356431</c:v>
                </c:pt>
                <c:pt idx="109">
                  <c:v>0.92662368138463891</c:v>
                </c:pt>
                <c:pt idx="110">
                  <c:v>2.8360544963409173E-3</c:v>
                </c:pt>
                <c:pt idx="111">
                  <c:v>2.097608361416488</c:v>
                </c:pt>
                <c:pt idx="112">
                  <c:v>1.4033504402739478</c:v>
                </c:pt>
                <c:pt idx="113">
                  <c:v>0.11558964731390065</c:v>
                </c:pt>
                <c:pt idx="114">
                  <c:v>0.45587900540242587</c:v>
                </c:pt>
                <c:pt idx="115">
                  <c:v>-2.1646472242027572</c:v>
                </c:pt>
                <c:pt idx="116">
                  <c:v>-0.21211689686686103</c:v>
                </c:pt>
                <c:pt idx="117">
                  <c:v>0.4806873741718441</c:v>
                </c:pt>
                <c:pt idx="118">
                  <c:v>1.5257075681405885</c:v>
                </c:pt>
                <c:pt idx="119">
                  <c:v>0.47339499233324056</c:v>
                </c:pt>
              </c:numCache>
            </c:numRef>
          </c:yVal>
          <c:smooth val="0"/>
          <c:extLst>
            <c:ext xmlns:c16="http://schemas.microsoft.com/office/drawing/2014/chart" uri="{C3380CC4-5D6E-409C-BE32-E72D297353CC}">
              <c16:uniqueId val="{00000000-5731-4214-9D29-1A94E730CAB3}"/>
            </c:ext>
          </c:extLst>
        </c:ser>
        <c:ser>
          <c:idx val="1"/>
          <c:order val="1"/>
          <c:tx>
            <c:strRef>
              <c:f>Sheet1!$C$1</c:f>
              <c:strCache>
                <c:ptCount val="1"/>
                <c:pt idx="0">
                  <c:v>Cluster 1</c:v>
                </c:pt>
              </c:strCache>
            </c:strRef>
          </c:tx>
          <c:spPr>
            <a:ln>
              <a:noFill/>
            </a:ln>
            <a:effectLst/>
          </c:spPr>
          <c:marker>
            <c:symbol val="circle"/>
            <c:size val="5"/>
            <c:spPr>
              <a:solidFill>
                <a:srgbClr val="0B4F94"/>
              </a:solidFill>
              <a:ln w="9525" cap="flat">
                <a:solidFill>
                  <a:srgbClr val="0B4F94"/>
                </a:solidFill>
                <a:prstDash val="solid"/>
                <a:round/>
              </a:ln>
              <a:effectLst/>
            </c:spPr>
          </c:marker>
          <c:xVal>
            <c:numRef>
              <c:f>Sheet1!$A$2:$A$231</c:f>
              <c:numCache>
                <c:formatCode>General</c:formatCode>
                <c:ptCount val="230"/>
                <c:pt idx="0">
                  <c:v>-3.3292571297794811</c:v>
                </c:pt>
                <c:pt idx="1">
                  <c:v>-1.9056661480378401</c:v>
                </c:pt>
                <c:pt idx="2">
                  <c:v>-3.5296152799949239</c:v>
                </c:pt>
                <c:pt idx="3">
                  <c:v>-4.0060309881284173E-2</c:v>
                </c:pt>
                <c:pt idx="4">
                  <c:v>-3.0451917663502392</c:v>
                </c:pt>
                <c:pt idx="5">
                  <c:v>-1.6287221223554311</c:v>
                </c:pt>
                <c:pt idx="6">
                  <c:v>-1.0257631821245494</c:v>
                </c:pt>
                <c:pt idx="7">
                  <c:v>-1.8674480463980014</c:v>
                </c:pt>
                <c:pt idx="8">
                  <c:v>-1.4152210806722358</c:v>
                </c:pt>
                <c:pt idx="9">
                  <c:v>-3.2873041808786208</c:v>
                </c:pt>
                <c:pt idx="10">
                  <c:v>0.12632443271807503</c:v>
                </c:pt>
                <c:pt idx="11">
                  <c:v>-1.5822703796143849</c:v>
                </c:pt>
                <c:pt idx="12">
                  <c:v>-4.3174362758928684</c:v>
                </c:pt>
                <c:pt idx="13">
                  <c:v>-1.8652105389363243</c:v>
                </c:pt>
                <c:pt idx="14">
                  <c:v>-3.5038784810831549</c:v>
                </c:pt>
                <c:pt idx="15">
                  <c:v>-2.205987648259788</c:v>
                </c:pt>
                <c:pt idx="16">
                  <c:v>0.24837135251720799</c:v>
                </c:pt>
                <c:pt idx="17">
                  <c:v>-1.8334562027503349</c:v>
                </c:pt>
                <c:pt idx="18">
                  <c:v>-2.6377919734123525</c:v>
                </c:pt>
                <c:pt idx="19">
                  <c:v>-1.6678672296180619</c:v>
                </c:pt>
                <c:pt idx="20">
                  <c:v>-3.0201849739571909</c:v>
                </c:pt>
                <c:pt idx="21">
                  <c:v>0.41477931298304327</c:v>
                </c:pt>
                <c:pt idx="22">
                  <c:v>-0.48366383248058264</c:v>
                </c:pt>
                <c:pt idx="23">
                  <c:v>-1.8709351971639783</c:v>
                </c:pt>
                <c:pt idx="24">
                  <c:v>-2.9842065226286509</c:v>
                </c:pt>
                <c:pt idx="25">
                  <c:v>-2.5110668630910888</c:v>
                </c:pt>
                <c:pt idx="26">
                  <c:v>-1.6082620246935688</c:v>
                </c:pt>
                <c:pt idx="27">
                  <c:v>-0.72121192780495669</c:v>
                </c:pt>
                <c:pt idx="28">
                  <c:v>-4.5221971556689997</c:v>
                </c:pt>
                <c:pt idx="29">
                  <c:v>-2.6348561514783269</c:v>
                </c:pt>
                <c:pt idx="30">
                  <c:v>-2.1648550935420743</c:v>
                </c:pt>
                <c:pt idx="31">
                  <c:v>-3.5408257279244575</c:v>
                </c:pt>
                <c:pt idx="32">
                  <c:v>-1.1876155767770222</c:v>
                </c:pt>
                <c:pt idx="33">
                  <c:v>-3.4061357910585532</c:v>
                </c:pt>
                <c:pt idx="34">
                  <c:v>-1.8365225303612742</c:v>
                </c:pt>
                <c:pt idx="35">
                  <c:v>-1.3746233376156245</c:v>
                </c:pt>
                <c:pt idx="36">
                  <c:v>-1.7972760871781039</c:v>
                </c:pt>
                <c:pt idx="37">
                  <c:v>-1.3498780451153274</c:v>
                </c:pt>
                <c:pt idx="38">
                  <c:v>-1.7009650729690742</c:v>
                </c:pt>
                <c:pt idx="39">
                  <c:v>-2.582426324418682</c:v>
                </c:pt>
                <c:pt idx="40">
                  <c:v>-0.71180364041530075</c:v>
                </c:pt>
                <c:pt idx="41">
                  <c:v>-3.1269044272791175</c:v>
                </c:pt>
                <c:pt idx="42">
                  <c:v>-3.6503481923604837</c:v>
                </c:pt>
                <c:pt idx="43">
                  <c:v>-2.0834639344141985</c:v>
                </c:pt>
                <c:pt idx="44">
                  <c:v>-0.12171169563714246</c:v>
                </c:pt>
                <c:pt idx="45">
                  <c:v>-4.4055438003911593</c:v>
                </c:pt>
                <c:pt idx="46">
                  <c:v>-3.1571326996067794</c:v>
                </c:pt>
                <c:pt idx="47">
                  <c:v>0.63226247995645712</c:v>
                </c:pt>
                <c:pt idx="48">
                  <c:v>-0.9551057267109655</c:v>
                </c:pt>
                <c:pt idx="49">
                  <c:v>-3.2143972211555152</c:v>
                </c:pt>
                <c:pt idx="50">
                  <c:v>-1.3437941239107922</c:v>
                </c:pt>
                <c:pt idx="51">
                  <c:v>-2.0509852709175207</c:v>
                </c:pt>
                <c:pt idx="52">
                  <c:v>-0.15248155986738299</c:v>
                </c:pt>
                <c:pt idx="53">
                  <c:v>-2.3223586205731745</c:v>
                </c:pt>
                <c:pt idx="54">
                  <c:v>-1.2536691369688562</c:v>
                </c:pt>
                <c:pt idx="55">
                  <c:v>-1.0023724542516923</c:v>
                </c:pt>
                <c:pt idx="56">
                  <c:v>0.20179645366629284</c:v>
                </c:pt>
                <c:pt idx="57">
                  <c:v>0.66181446928819954</c:v>
                </c:pt>
                <c:pt idx="58">
                  <c:v>-1.3500600100108331</c:v>
                </c:pt>
                <c:pt idx="59">
                  <c:v>-1.5726107118944437</c:v>
                </c:pt>
                <c:pt idx="60">
                  <c:v>-0.65040859025829967</c:v>
                </c:pt>
                <c:pt idx="61">
                  <c:v>-3.9107155444713575</c:v>
                </c:pt>
                <c:pt idx="62">
                  <c:v>-3.7332961129361855</c:v>
                </c:pt>
                <c:pt idx="63">
                  <c:v>-2.5867601608660071</c:v>
                </c:pt>
                <c:pt idx="64">
                  <c:v>-1.4623406382461135</c:v>
                </c:pt>
                <c:pt idx="65">
                  <c:v>0.2795452028613421</c:v>
                </c:pt>
                <c:pt idx="66">
                  <c:v>-1.0019653256419505</c:v>
                </c:pt>
                <c:pt idx="67">
                  <c:v>-0.74795728092493907</c:v>
                </c:pt>
                <c:pt idx="68">
                  <c:v>-3.253360952376366</c:v>
                </c:pt>
                <c:pt idx="69">
                  <c:v>-1.8535240641905575</c:v>
                </c:pt>
                <c:pt idx="70">
                  <c:v>-2.1058618953161052</c:v>
                </c:pt>
                <c:pt idx="71">
                  <c:v>-0.39896114904128344</c:v>
                </c:pt>
                <c:pt idx="72">
                  <c:v>-2.6278430697689577</c:v>
                </c:pt>
                <c:pt idx="73">
                  <c:v>-3.2358276270293178</c:v>
                </c:pt>
                <c:pt idx="74">
                  <c:v>-7.4115303141053523E-3</c:v>
                </c:pt>
                <c:pt idx="75">
                  <c:v>0.43472873478221219</c:v>
                </c:pt>
                <c:pt idx="76">
                  <c:v>-2.7325689267967039</c:v>
                </c:pt>
                <c:pt idx="77">
                  <c:v>-4.5724988506659967</c:v>
                </c:pt>
                <c:pt idx="78">
                  <c:v>-3.1029160543617356</c:v>
                </c:pt>
                <c:pt idx="79">
                  <c:v>-0.89306686794815882</c:v>
                </c:pt>
                <c:pt idx="80">
                  <c:v>-3.1945601133136892</c:v>
                </c:pt>
                <c:pt idx="81">
                  <c:v>-1.122517294193548E-2</c:v>
                </c:pt>
                <c:pt idx="82">
                  <c:v>-3.0899060403261527</c:v>
                </c:pt>
                <c:pt idx="83">
                  <c:v>-2.2328112604027543</c:v>
                </c:pt>
                <c:pt idx="84">
                  <c:v>-0.53320366316589185</c:v>
                </c:pt>
                <c:pt idx="85">
                  <c:v>-2.5096072339000743</c:v>
                </c:pt>
                <c:pt idx="86">
                  <c:v>-2.4144642701854049</c:v>
                </c:pt>
                <c:pt idx="87">
                  <c:v>-1.2862669639095419</c:v>
                </c:pt>
                <c:pt idx="88">
                  <c:v>-0.68065132876364487</c:v>
                </c:pt>
                <c:pt idx="89">
                  <c:v>-1.4523199364858375</c:v>
                </c:pt>
                <c:pt idx="90">
                  <c:v>-0.63240066657002014</c:v>
                </c:pt>
                <c:pt idx="91">
                  <c:v>-2.2655516161793141</c:v>
                </c:pt>
                <c:pt idx="92">
                  <c:v>-2.8609321215045629</c:v>
                </c:pt>
                <c:pt idx="93">
                  <c:v>-1.8161299802066821</c:v>
                </c:pt>
                <c:pt idx="94">
                  <c:v>-3.322075780094754</c:v>
                </c:pt>
                <c:pt idx="95">
                  <c:v>-2.1056355593104299</c:v>
                </c:pt>
                <c:pt idx="96">
                  <c:v>-3.9861115167235952</c:v>
                </c:pt>
                <c:pt idx="97">
                  <c:v>-0.52162605423810593</c:v>
                </c:pt>
                <c:pt idx="98">
                  <c:v>-1.3788217020208569</c:v>
                </c:pt>
                <c:pt idx="99">
                  <c:v>-1.481040203748623</c:v>
                </c:pt>
                <c:pt idx="100">
                  <c:v>-4.1200347737975829</c:v>
                </c:pt>
                <c:pt idx="101">
                  <c:v>-0.19249213644194363</c:v>
                </c:pt>
                <c:pt idx="102">
                  <c:v>-2.343645267977426</c:v>
                </c:pt>
                <c:pt idx="103">
                  <c:v>-4.3797313309913886</c:v>
                </c:pt>
                <c:pt idx="104">
                  <c:v>-3.2116799043240407</c:v>
                </c:pt>
                <c:pt idx="105">
                  <c:v>-2.1295357923077294</c:v>
                </c:pt>
                <c:pt idx="106">
                  <c:v>-0.4540653225458029</c:v>
                </c:pt>
                <c:pt idx="107">
                  <c:v>-2.9615119126821767</c:v>
                </c:pt>
                <c:pt idx="108">
                  <c:v>-1.6816108191642123</c:v>
                </c:pt>
                <c:pt idx="109">
                  <c:v>-3.5203610553331561</c:v>
                </c:pt>
                <c:pt idx="110">
                  <c:v>-2.5160301395302125</c:v>
                </c:pt>
                <c:pt idx="111">
                  <c:v>-0.61694451807156048</c:v>
                </c:pt>
                <c:pt idx="112">
                  <c:v>-2.0057951452938547</c:v>
                </c:pt>
                <c:pt idx="113">
                  <c:v>-3.6168069009973927</c:v>
                </c:pt>
                <c:pt idx="114">
                  <c:v>-0.24115875487649818</c:v>
                </c:pt>
                <c:pt idx="115">
                  <c:v>-2.1506270963996137</c:v>
                </c:pt>
                <c:pt idx="116">
                  <c:v>-3.4197076006183842</c:v>
                </c:pt>
                <c:pt idx="117">
                  <c:v>-1.5649120585591232</c:v>
                </c:pt>
                <c:pt idx="118">
                  <c:v>-1.7297731454198897</c:v>
                </c:pt>
                <c:pt idx="119">
                  <c:v>-0.38635251950696725</c:v>
                </c:pt>
                <c:pt idx="120">
                  <c:v>1.2249407520954878</c:v>
                </c:pt>
                <c:pt idx="121">
                  <c:v>1.4777418517091228</c:v>
                </c:pt>
                <c:pt idx="122">
                  <c:v>3.706510619062712</c:v>
                </c:pt>
                <c:pt idx="123">
                  <c:v>3.7282964982320443</c:v>
                </c:pt>
                <c:pt idx="124">
                  <c:v>1.5206347192729972</c:v>
                </c:pt>
                <c:pt idx="125">
                  <c:v>2.5359346364197548</c:v>
                </c:pt>
                <c:pt idx="126">
                  <c:v>1.8546747026941197</c:v>
                </c:pt>
                <c:pt idx="127">
                  <c:v>2.8629034310488883</c:v>
                </c:pt>
                <c:pt idx="128">
                  <c:v>1.5249634046401075</c:v>
                </c:pt>
                <c:pt idx="129">
                  <c:v>3.0888098006273088</c:v>
                </c:pt>
                <c:pt idx="130">
                  <c:v>3.4761368539117541</c:v>
                </c:pt>
                <c:pt idx="131">
                  <c:v>-0.41408067659239478</c:v>
                </c:pt>
                <c:pt idx="132">
                  <c:v>3.99537445632384</c:v>
                </c:pt>
                <c:pt idx="133">
                  <c:v>2.3530656203959706</c:v>
                </c:pt>
                <c:pt idx="134">
                  <c:v>2.2985626476453906</c:v>
                </c:pt>
                <c:pt idx="135">
                  <c:v>1.6118932499634631</c:v>
                </c:pt>
                <c:pt idx="136">
                  <c:v>1.0582822577453419</c:v>
                </c:pt>
                <c:pt idx="137">
                  <c:v>0.84859255849150372</c:v>
                </c:pt>
                <c:pt idx="138">
                  <c:v>1.6257098392844058</c:v>
                </c:pt>
                <c:pt idx="139">
                  <c:v>1.1004001258806408</c:v>
                </c:pt>
                <c:pt idx="140">
                  <c:v>2.2539918755030031</c:v>
                </c:pt>
                <c:pt idx="141">
                  <c:v>2.5700142537194623</c:v>
                </c:pt>
                <c:pt idx="142">
                  <c:v>0.76619801864903336</c:v>
                </c:pt>
                <c:pt idx="143">
                  <c:v>1.6400819865007965</c:v>
                </c:pt>
                <c:pt idx="144">
                  <c:v>3.0063385044442739</c:v>
                </c:pt>
                <c:pt idx="145">
                  <c:v>3.5717376246740771</c:v>
                </c:pt>
                <c:pt idx="146">
                  <c:v>1.4575237391584839</c:v>
                </c:pt>
                <c:pt idx="147">
                  <c:v>-0.30638616862203438</c:v>
                </c:pt>
                <c:pt idx="148">
                  <c:v>3.367045018268243</c:v>
                </c:pt>
                <c:pt idx="149">
                  <c:v>1.264263871823941</c:v>
                </c:pt>
                <c:pt idx="150">
                  <c:v>3.0391499946636427</c:v>
                </c:pt>
                <c:pt idx="151">
                  <c:v>2.3275327666156613</c:v>
                </c:pt>
                <c:pt idx="152">
                  <c:v>1.090519498861124</c:v>
                </c:pt>
                <c:pt idx="153">
                  <c:v>0.32994638834705192</c:v>
                </c:pt>
                <c:pt idx="154">
                  <c:v>1.4475243393711894</c:v>
                </c:pt>
                <c:pt idx="155">
                  <c:v>1.7333214537368633</c:v>
                </c:pt>
                <c:pt idx="156">
                  <c:v>1.5860189973161354</c:v>
                </c:pt>
                <c:pt idx="157">
                  <c:v>7.6134763386193072E-4</c:v>
                </c:pt>
                <c:pt idx="158">
                  <c:v>2.3696490392950933</c:v>
                </c:pt>
                <c:pt idx="159">
                  <c:v>1.3573266631597125</c:v>
                </c:pt>
                <c:pt idx="160">
                  <c:v>2.2713837313615772</c:v>
                </c:pt>
                <c:pt idx="161">
                  <c:v>2.9021524475835974</c:v>
                </c:pt>
                <c:pt idx="162">
                  <c:v>2.5238343556162923</c:v>
                </c:pt>
                <c:pt idx="163">
                  <c:v>2.321451434933183</c:v>
                </c:pt>
                <c:pt idx="164">
                  <c:v>1.5891635416815932</c:v>
                </c:pt>
                <c:pt idx="165">
                  <c:v>1.848440363909966</c:v>
                </c:pt>
                <c:pt idx="166">
                  <c:v>2.1513257054732833</c:v>
                </c:pt>
                <c:pt idx="167">
                  <c:v>4.048720001961934</c:v>
                </c:pt>
                <c:pt idx="168">
                  <c:v>1.16372833865345</c:v>
                </c:pt>
                <c:pt idx="169">
                  <c:v>0.19748026948242825</c:v>
                </c:pt>
                <c:pt idx="170">
                  <c:v>1.8490043419048601</c:v>
                </c:pt>
                <c:pt idx="171">
                  <c:v>1.6203782611062909</c:v>
                </c:pt>
                <c:pt idx="172">
                  <c:v>2.4543942076143632</c:v>
                </c:pt>
                <c:pt idx="173">
                  <c:v>1.1385994883352293</c:v>
                </c:pt>
                <c:pt idx="174">
                  <c:v>1.8288206618891318</c:v>
                </c:pt>
                <c:pt idx="175">
                  <c:v>2.6304235057752487</c:v>
                </c:pt>
                <c:pt idx="176">
                  <c:v>1.9976298948620552</c:v>
                </c:pt>
                <c:pt idx="177">
                  <c:v>4.3813273705529268</c:v>
                </c:pt>
                <c:pt idx="178">
                  <c:v>0.11809996360020314</c:v>
                </c:pt>
                <c:pt idx="179">
                  <c:v>3.8402079674543366</c:v>
                </c:pt>
                <c:pt idx="180">
                  <c:v>1.2425909276486116</c:v>
                </c:pt>
                <c:pt idx="181">
                  <c:v>2.9967157304183019</c:v>
                </c:pt>
                <c:pt idx="182">
                  <c:v>1.4399285652248976</c:v>
                </c:pt>
                <c:pt idx="183">
                  <c:v>0.28071890885940776</c:v>
                </c:pt>
                <c:pt idx="184">
                  <c:v>3.1254200283890778</c:v>
                </c:pt>
                <c:pt idx="185">
                  <c:v>0.70507065465703223</c:v>
                </c:pt>
                <c:pt idx="186">
                  <c:v>0.7007739717388517</c:v>
                </c:pt>
                <c:pt idx="187">
                  <c:v>0.7317364810389595</c:v>
                </c:pt>
                <c:pt idx="188">
                  <c:v>0.27190337775671813</c:v>
                </c:pt>
                <c:pt idx="189">
                  <c:v>1.6293397347347303</c:v>
                </c:pt>
                <c:pt idx="190">
                  <c:v>2.299119173236682</c:v>
                </c:pt>
                <c:pt idx="191">
                  <c:v>3.6441951930377172</c:v>
                </c:pt>
                <c:pt idx="192">
                  <c:v>0.64429315353091221</c:v>
                </c:pt>
                <c:pt idx="193">
                  <c:v>3.7727377310071155</c:v>
                </c:pt>
                <c:pt idx="194">
                  <c:v>1.1442019958874319</c:v>
                </c:pt>
                <c:pt idx="195">
                  <c:v>2.9192332471872442</c:v>
                </c:pt>
                <c:pt idx="196">
                  <c:v>0.5525745813880627</c:v>
                </c:pt>
                <c:pt idx="197">
                  <c:v>2.5623945950806029</c:v>
                </c:pt>
                <c:pt idx="198">
                  <c:v>2.6870864872653351</c:v>
                </c:pt>
                <c:pt idx="199">
                  <c:v>2.2750858560815344</c:v>
                </c:pt>
                <c:pt idx="200">
                  <c:v>1.8608923305219971</c:v>
                </c:pt>
                <c:pt idx="201">
                  <c:v>2.5605055198181637</c:v>
                </c:pt>
                <c:pt idx="202">
                  <c:v>2.9279737875998788</c:v>
                </c:pt>
                <c:pt idx="203">
                  <c:v>1.7653872106433584</c:v>
                </c:pt>
                <c:pt idx="204">
                  <c:v>1.5770058845776231</c:v>
                </c:pt>
                <c:pt idx="205">
                  <c:v>1.6893695530109949</c:v>
                </c:pt>
                <c:pt idx="206">
                  <c:v>3.7596260166731197</c:v>
                </c:pt>
                <c:pt idx="207">
                  <c:v>2.629944134493698</c:v>
                </c:pt>
                <c:pt idx="208">
                  <c:v>2.1084483980344393</c:v>
                </c:pt>
                <c:pt idx="209">
                  <c:v>2.2392200409803569</c:v>
                </c:pt>
                <c:pt idx="210">
                  <c:v>2.3334508037459347</c:v>
                </c:pt>
                <c:pt idx="211">
                  <c:v>3.7868106527179757</c:v>
                </c:pt>
                <c:pt idx="212">
                  <c:v>3.4336972247909356</c:v>
                </c:pt>
                <c:pt idx="213">
                  <c:v>1.9041931715565235</c:v>
                </c:pt>
                <c:pt idx="214">
                  <c:v>1.2937282544970028</c:v>
                </c:pt>
                <c:pt idx="215">
                  <c:v>2.6730680567325411</c:v>
                </c:pt>
                <c:pt idx="216">
                  <c:v>2.0366231173800964</c:v>
                </c:pt>
                <c:pt idx="217">
                  <c:v>3.8528702539786881</c:v>
                </c:pt>
                <c:pt idx="218">
                  <c:v>0.84245730302368971</c:v>
                </c:pt>
                <c:pt idx="219">
                  <c:v>1.4358482186392389</c:v>
                </c:pt>
                <c:pt idx="220">
                  <c:v>1.441745002698356</c:v>
                </c:pt>
                <c:pt idx="221">
                  <c:v>3.8177663881708233</c:v>
                </c:pt>
                <c:pt idx="222">
                  <c:v>2.080958396663779</c:v>
                </c:pt>
                <c:pt idx="223">
                  <c:v>2.9565964247285916</c:v>
                </c:pt>
                <c:pt idx="224">
                  <c:v>1.9027450458872432</c:v>
                </c:pt>
                <c:pt idx="225">
                  <c:v>0.99835706669820512</c:v>
                </c:pt>
                <c:pt idx="226">
                  <c:v>-0.37380385705058394</c:v>
                </c:pt>
                <c:pt idx="227">
                  <c:v>3.2809572631459227</c:v>
                </c:pt>
                <c:pt idx="228">
                  <c:v>2.5509597005829026</c:v>
                </c:pt>
                <c:pt idx="229">
                  <c:v>1.4610175605337277</c:v>
                </c:pt>
              </c:numCache>
            </c:numRef>
          </c:xVal>
          <c:yVal>
            <c:numRef>
              <c:f>Sheet1!$C$2:$C$231</c:f>
              <c:numCache>
                <c:formatCode>General</c:formatCode>
                <c:ptCount val="230"/>
                <c:pt idx="120">
                  <c:v>-0.44769579960290073</c:v>
                </c:pt>
                <c:pt idx="121">
                  <c:v>-0.1982232528661303</c:v>
                </c:pt>
                <c:pt idx="122">
                  <c:v>-1.3823440499386215</c:v>
                </c:pt>
                <c:pt idx="123">
                  <c:v>0.40304717444439631</c:v>
                </c:pt>
                <c:pt idx="124">
                  <c:v>1.1011792209140068</c:v>
                </c:pt>
                <c:pt idx="125">
                  <c:v>-0.569456921076536</c:v>
                </c:pt>
                <c:pt idx="126">
                  <c:v>-2.1331679178171035</c:v>
                </c:pt>
                <c:pt idx="127">
                  <c:v>0.20739376181401029</c:v>
                </c:pt>
                <c:pt idx="128">
                  <c:v>1.2519179255062971</c:v>
                </c:pt>
                <c:pt idx="129">
                  <c:v>-0.24932401089851472</c:v>
                </c:pt>
                <c:pt idx="130">
                  <c:v>1.5602069993439991</c:v>
                </c:pt>
                <c:pt idx="131">
                  <c:v>5.1828713546810345E-2</c:v>
                </c:pt>
                <c:pt idx="132">
                  <c:v>0.98322352797344015</c:v>
                </c:pt>
                <c:pt idx="133">
                  <c:v>-0.36309411241783696</c:v>
                </c:pt>
                <c:pt idx="134">
                  <c:v>-1.3724576648606139</c:v>
                </c:pt>
                <c:pt idx="135">
                  <c:v>9.3554167439917124E-2</c:v>
                </c:pt>
                <c:pt idx="136">
                  <c:v>-0.84811993107862871</c:v>
                </c:pt>
                <c:pt idx="137">
                  <c:v>-0.16504175474282315</c:v>
                </c:pt>
                <c:pt idx="138">
                  <c:v>1.1495007897653371</c:v>
                </c:pt>
                <c:pt idx="139">
                  <c:v>-1.603618922642327</c:v>
                </c:pt>
                <c:pt idx="140">
                  <c:v>-8.9670799767461062E-2</c:v>
                </c:pt>
                <c:pt idx="141">
                  <c:v>3.8194834018514062E-2</c:v>
                </c:pt>
                <c:pt idx="142">
                  <c:v>0.81310300821110315</c:v>
                </c:pt>
                <c:pt idx="143">
                  <c:v>-0.3456294131079824</c:v>
                </c:pt>
                <c:pt idx="144">
                  <c:v>-4.6490470172650074E-2</c:v>
                </c:pt>
                <c:pt idx="145">
                  <c:v>0.77492544303488475</c:v>
                </c:pt>
                <c:pt idx="146">
                  <c:v>-0.67043285486137483</c:v>
                </c:pt>
                <c:pt idx="147">
                  <c:v>-0.38108931524841749</c:v>
                </c:pt>
                <c:pt idx="148">
                  <c:v>0.99591248720571979</c:v>
                </c:pt>
                <c:pt idx="149">
                  <c:v>0.13684802058538334</c:v>
                </c:pt>
                <c:pt idx="150">
                  <c:v>-0.63480931614087655</c:v>
                </c:pt>
                <c:pt idx="151">
                  <c:v>-0.89437548304459058</c:v>
                </c:pt>
                <c:pt idx="152">
                  <c:v>1.0143912330154998</c:v>
                </c:pt>
                <c:pt idx="153">
                  <c:v>-0.27839594729922357</c:v>
                </c:pt>
                <c:pt idx="154">
                  <c:v>-4.1401766447272365E-2</c:v>
                </c:pt>
                <c:pt idx="155">
                  <c:v>-0.65505267416583024</c:v>
                </c:pt>
                <c:pt idx="156">
                  <c:v>-0.76013928977717471</c:v>
                </c:pt>
                <c:pt idx="157">
                  <c:v>0.11006650787863401</c:v>
                </c:pt>
                <c:pt idx="158">
                  <c:v>-1.1834210473458169</c:v>
                </c:pt>
                <c:pt idx="159">
                  <c:v>-1.8859794276670774</c:v>
                </c:pt>
                <c:pt idx="160">
                  <c:v>0.17729604626360199</c:v>
                </c:pt>
                <c:pt idx="161">
                  <c:v>-7.2266840604335372E-2</c:v>
                </c:pt>
                <c:pt idx="162">
                  <c:v>-0.25950506528242168</c:v>
                </c:pt>
                <c:pt idx="163">
                  <c:v>-1.284286731778389</c:v>
                </c:pt>
                <c:pt idx="164">
                  <c:v>-0.59424112579518795</c:v>
                </c:pt>
                <c:pt idx="165">
                  <c:v>-1.6230341681037181</c:v>
                </c:pt>
                <c:pt idx="166">
                  <c:v>-2.3960676554232228</c:v>
                </c:pt>
                <c:pt idx="167">
                  <c:v>0.661245192789914</c:v>
                </c:pt>
                <c:pt idx="168">
                  <c:v>0.38232854450144738</c:v>
                </c:pt>
                <c:pt idx="169">
                  <c:v>1.2067447409578353</c:v>
                </c:pt>
                <c:pt idx="170">
                  <c:v>-0.17198669927715354</c:v>
                </c:pt>
                <c:pt idx="171">
                  <c:v>1.204621375577392</c:v>
                </c:pt>
                <c:pt idx="172">
                  <c:v>-7.6772258181077899E-2</c:v>
                </c:pt>
                <c:pt idx="173">
                  <c:v>-0.24712438590082547</c:v>
                </c:pt>
                <c:pt idx="174">
                  <c:v>-0.83422933747915951</c:v>
                </c:pt>
                <c:pt idx="175">
                  <c:v>-0.26177001913377834</c:v>
                </c:pt>
                <c:pt idx="176">
                  <c:v>0.73512966011904601</c:v>
                </c:pt>
                <c:pt idx="177">
                  <c:v>0.25492862325082266</c:v>
                </c:pt>
                <c:pt idx="178">
                  <c:v>-0.69745883507738227</c:v>
                </c:pt>
                <c:pt idx="179">
                  <c:v>0.66694248210769114</c:v>
                </c:pt>
                <c:pt idx="180">
                  <c:v>-0.30793156122960175</c:v>
                </c:pt>
                <c:pt idx="181">
                  <c:v>1.0667840848599242</c:v>
                </c:pt>
                <c:pt idx="182">
                  <c:v>0.80787421210467403</c:v>
                </c:pt>
                <c:pt idx="183">
                  <c:v>-1.443700147214688</c:v>
                </c:pt>
                <c:pt idx="184">
                  <c:v>0.32557794753654523</c:v>
                </c:pt>
                <c:pt idx="185">
                  <c:v>1.3840148518985329</c:v>
                </c:pt>
                <c:pt idx="186">
                  <c:v>-0.58368636823098941</c:v>
                </c:pt>
                <c:pt idx="187">
                  <c:v>-1.4229820556228634</c:v>
                </c:pt>
                <c:pt idx="188">
                  <c:v>9.3254625793830509E-2</c:v>
                </c:pt>
                <c:pt idx="189">
                  <c:v>-2.1587977625732298</c:v>
                </c:pt>
                <c:pt idx="190">
                  <c:v>0.78780369521909854</c:v>
                </c:pt>
                <c:pt idx="191">
                  <c:v>0.27806680435362197</c:v>
                </c:pt>
                <c:pt idx="192">
                  <c:v>0.4293598062540388</c:v>
                </c:pt>
                <c:pt idx="193">
                  <c:v>0.92650489505151234</c:v>
                </c:pt>
                <c:pt idx="194">
                  <c:v>0.66903938534651253</c:v>
                </c:pt>
                <c:pt idx="195">
                  <c:v>-4.6714785406866549E-3</c:v>
                </c:pt>
                <c:pt idx="196">
                  <c:v>-1.6203481538989817</c:v>
                </c:pt>
                <c:pt idx="197">
                  <c:v>-1.4728795072223257</c:v>
                </c:pt>
                <c:pt idx="198">
                  <c:v>-1.390732978740252</c:v>
                </c:pt>
                <c:pt idx="199">
                  <c:v>0.38646719102657612</c:v>
                </c:pt>
                <c:pt idx="200">
                  <c:v>-0.32377640246406469</c:v>
                </c:pt>
                <c:pt idx="201">
                  <c:v>0.71201009047915542</c:v>
                </c:pt>
                <c:pt idx="202">
                  <c:v>0.10034683585439616</c:v>
                </c:pt>
                <c:pt idx="203">
                  <c:v>0.43554671974203218</c:v>
                </c:pt>
                <c:pt idx="204">
                  <c:v>0.20248186230187978</c:v>
                </c:pt>
                <c:pt idx="205">
                  <c:v>-0.20172997513776697</c:v>
                </c:pt>
                <c:pt idx="206">
                  <c:v>0.34565567475081038</c:v>
                </c:pt>
                <c:pt idx="207">
                  <c:v>-1.1138876324228968</c:v>
                </c:pt>
                <c:pt idx="208">
                  <c:v>-5.7976044069564595E-2</c:v>
                </c:pt>
                <c:pt idx="209">
                  <c:v>0.92750238473826674</c:v>
                </c:pt>
                <c:pt idx="210">
                  <c:v>-0.78753368030733395</c:v>
                </c:pt>
                <c:pt idx="211">
                  <c:v>-1.2117329451980214</c:v>
                </c:pt>
                <c:pt idx="212">
                  <c:v>1.8499422048664063</c:v>
                </c:pt>
                <c:pt idx="213">
                  <c:v>-0.26891869649150002</c:v>
                </c:pt>
                <c:pt idx="214">
                  <c:v>0.39461787739346776</c:v>
                </c:pt>
                <c:pt idx="215">
                  <c:v>1.8259496807601485</c:v>
                </c:pt>
                <c:pt idx="216">
                  <c:v>-1.1379750086955935</c:v>
                </c:pt>
                <c:pt idx="217">
                  <c:v>-1.7363851152792955</c:v>
                </c:pt>
                <c:pt idx="218">
                  <c:v>-2.292849955648709</c:v>
                </c:pt>
                <c:pt idx="219">
                  <c:v>0.36633815000128289</c:v>
                </c:pt>
                <c:pt idx="220">
                  <c:v>-1.1073814483073188</c:v>
                </c:pt>
                <c:pt idx="221">
                  <c:v>-0.85061614796961271</c:v>
                </c:pt>
                <c:pt idx="222">
                  <c:v>-0.16422468019130343</c:v>
                </c:pt>
                <c:pt idx="223">
                  <c:v>0.92590588690912379</c:v>
                </c:pt>
                <c:pt idx="224">
                  <c:v>0.37314247711746895</c:v>
                </c:pt>
                <c:pt idx="225">
                  <c:v>-0.71188481608753329</c:v>
                </c:pt>
                <c:pt idx="226">
                  <c:v>-1.5118443291474319</c:v>
                </c:pt>
                <c:pt idx="227">
                  <c:v>0.35492385725702646</c:v>
                </c:pt>
                <c:pt idx="228">
                  <c:v>-0.67146420773427751</c:v>
                </c:pt>
                <c:pt idx="229">
                  <c:v>0.37171988766785091</c:v>
                </c:pt>
              </c:numCache>
            </c:numRef>
          </c:yVal>
          <c:smooth val="0"/>
          <c:extLst>
            <c:ext xmlns:c16="http://schemas.microsoft.com/office/drawing/2014/chart" uri="{C3380CC4-5D6E-409C-BE32-E72D297353CC}">
              <c16:uniqueId val="{00000001-5731-4214-9D29-1A94E730CAB3}"/>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DF1F6"/>
              </a:solidFill>
              <a:prstDash val="solid"/>
              <a:round/>
            </a:ln>
          </c:spPr>
        </c:majorGridlines>
        <c:title>
          <c:tx>
            <c:rich>
              <a:bodyPr/>
              <a:lstStyle/>
              <a:p>
                <a:pPr>
                  <a:defRPr sz="1000" b="0" i="0" u="none" strike="noStrike">
                    <a:solidFill>
                      <a:srgbClr val="5C6B7E"/>
                    </a:solidFill>
                    <a:latin typeface="Arial"/>
                  </a:defRPr>
                </a:pPr>
                <a:r>
                  <a:rPr lang="en-GB" sz="1000" b="0" i="0" u="none" strike="noStrike">
                    <a:solidFill>
                      <a:srgbClr val="5C6B7E"/>
                    </a:solidFill>
                    <a:latin typeface="Arial"/>
                  </a:rPr>
                  <a:t>PC1</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5C6B7E"/>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DF1F6"/>
              </a:solidFill>
              <a:prstDash val="solid"/>
              <a:round/>
            </a:ln>
          </c:spPr>
        </c:majorGridlines>
        <c:title>
          <c:tx>
            <c:rich>
              <a:bodyPr/>
              <a:lstStyle/>
              <a:p>
                <a:pPr>
                  <a:defRPr sz="1000" b="0" i="0" u="none" strike="noStrike">
                    <a:solidFill>
                      <a:srgbClr val="5C6B7E"/>
                    </a:solidFill>
                    <a:latin typeface="Arial"/>
                  </a:defRPr>
                </a:pPr>
                <a:r>
                  <a:rPr lang="en-GB" sz="1000" b="0" i="0" u="none" strike="noStrike">
                    <a:solidFill>
                      <a:srgbClr val="5C6B7E"/>
                    </a:solidFill>
                    <a:latin typeface="Arial"/>
                  </a:rPr>
                  <a:t>PC2</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5C6B7E"/>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A2330"/>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GE</c:v>
                </c:pt>
              </c:strCache>
            </c:strRef>
          </c:tx>
          <c:spPr>
            <a:ln>
              <a:noFill/>
            </a:ln>
            <a:effectLst/>
          </c:spPr>
          <c:marker>
            <c:symbol val="circle"/>
            <c:size val="5"/>
            <c:spPr>
              <a:solidFill>
                <a:srgbClr val="4E78A0"/>
              </a:solidFill>
              <a:ln w="9525" cap="flat">
                <a:solidFill>
                  <a:srgbClr val="4E78A0"/>
                </a:solidFill>
                <a:prstDash val="solid"/>
                <a:round/>
              </a:ln>
              <a:effectLst/>
            </c:spPr>
          </c:marker>
          <c:xVal>
            <c:numRef>
              <c:f>Sheet1!$A$2:$A$231</c:f>
              <c:numCache>
                <c:formatCode>General</c:formatCode>
                <c:ptCount val="230"/>
                <c:pt idx="0">
                  <c:v>-3.3292571297794811</c:v>
                </c:pt>
                <c:pt idx="1">
                  <c:v>-1.9056661480378401</c:v>
                </c:pt>
                <c:pt idx="2">
                  <c:v>-3.5296152799949239</c:v>
                </c:pt>
                <c:pt idx="3">
                  <c:v>-4.0060309881284173E-2</c:v>
                </c:pt>
                <c:pt idx="4">
                  <c:v>-3.0451917663502392</c:v>
                </c:pt>
                <c:pt idx="5">
                  <c:v>-1.6287221223554311</c:v>
                </c:pt>
                <c:pt idx="6">
                  <c:v>-1.0257631821245494</c:v>
                </c:pt>
                <c:pt idx="7">
                  <c:v>-1.8674480463980014</c:v>
                </c:pt>
                <c:pt idx="8">
                  <c:v>-1.4152210806722358</c:v>
                </c:pt>
                <c:pt idx="9">
                  <c:v>-3.2873041808786208</c:v>
                </c:pt>
                <c:pt idx="10">
                  <c:v>0.12632443271807503</c:v>
                </c:pt>
                <c:pt idx="11">
                  <c:v>-1.5822703796143849</c:v>
                </c:pt>
                <c:pt idx="12">
                  <c:v>-4.3174362758928684</c:v>
                </c:pt>
                <c:pt idx="13">
                  <c:v>-1.8652105389363243</c:v>
                </c:pt>
                <c:pt idx="14">
                  <c:v>-3.5038784810831549</c:v>
                </c:pt>
                <c:pt idx="15">
                  <c:v>-2.205987648259788</c:v>
                </c:pt>
                <c:pt idx="16">
                  <c:v>0.24837135251720799</c:v>
                </c:pt>
                <c:pt idx="17">
                  <c:v>-1.8334562027503349</c:v>
                </c:pt>
                <c:pt idx="18">
                  <c:v>-2.6377919734123525</c:v>
                </c:pt>
                <c:pt idx="19">
                  <c:v>-1.6678672296180619</c:v>
                </c:pt>
                <c:pt idx="20">
                  <c:v>-3.0201849739571909</c:v>
                </c:pt>
                <c:pt idx="21">
                  <c:v>0.41477931298304327</c:v>
                </c:pt>
                <c:pt idx="22">
                  <c:v>-0.48366383248058264</c:v>
                </c:pt>
                <c:pt idx="23">
                  <c:v>-1.8709351971639783</c:v>
                </c:pt>
                <c:pt idx="24">
                  <c:v>-2.9842065226286509</c:v>
                </c:pt>
                <c:pt idx="25">
                  <c:v>-2.5110668630910888</c:v>
                </c:pt>
                <c:pt idx="26">
                  <c:v>-1.6082620246935688</c:v>
                </c:pt>
                <c:pt idx="27">
                  <c:v>-0.72121192780495669</c:v>
                </c:pt>
                <c:pt idx="28">
                  <c:v>-4.5221971556689997</c:v>
                </c:pt>
                <c:pt idx="29">
                  <c:v>-2.6348561514783269</c:v>
                </c:pt>
                <c:pt idx="30">
                  <c:v>-2.1648550935420743</c:v>
                </c:pt>
                <c:pt idx="31">
                  <c:v>-3.5408257279244575</c:v>
                </c:pt>
                <c:pt idx="32">
                  <c:v>-1.1876155767770222</c:v>
                </c:pt>
                <c:pt idx="33">
                  <c:v>-3.4061357910585532</c:v>
                </c:pt>
                <c:pt idx="34">
                  <c:v>-1.8365225303612742</c:v>
                </c:pt>
                <c:pt idx="35">
                  <c:v>-1.3746233376156245</c:v>
                </c:pt>
                <c:pt idx="36">
                  <c:v>-1.7972760871781039</c:v>
                </c:pt>
                <c:pt idx="37">
                  <c:v>-1.3498780451153274</c:v>
                </c:pt>
                <c:pt idx="38">
                  <c:v>-1.7009650729690742</c:v>
                </c:pt>
                <c:pt idx="39">
                  <c:v>-2.582426324418682</c:v>
                </c:pt>
                <c:pt idx="40">
                  <c:v>-0.71180364041530075</c:v>
                </c:pt>
                <c:pt idx="41">
                  <c:v>-3.1269044272791175</c:v>
                </c:pt>
                <c:pt idx="42">
                  <c:v>-3.6503481923604837</c:v>
                </c:pt>
                <c:pt idx="43">
                  <c:v>-2.0834639344141985</c:v>
                </c:pt>
                <c:pt idx="44">
                  <c:v>-0.12171169563714246</c:v>
                </c:pt>
                <c:pt idx="45">
                  <c:v>-4.4055438003911593</c:v>
                </c:pt>
                <c:pt idx="46">
                  <c:v>-3.1571326996067794</c:v>
                </c:pt>
                <c:pt idx="47">
                  <c:v>0.63226247995645712</c:v>
                </c:pt>
                <c:pt idx="48">
                  <c:v>-0.9551057267109655</c:v>
                </c:pt>
                <c:pt idx="49">
                  <c:v>-3.2143972211555152</c:v>
                </c:pt>
                <c:pt idx="50">
                  <c:v>-1.3437941239107922</c:v>
                </c:pt>
                <c:pt idx="51">
                  <c:v>-2.0509852709175207</c:v>
                </c:pt>
                <c:pt idx="52">
                  <c:v>-0.15248155986738299</c:v>
                </c:pt>
                <c:pt idx="53">
                  <c:v>-2.3223586205731745</c:v>
                </c:pt>
                <c:pt idx="54">
                  <c:v>-1.2536691369688562</c:v>
                </c:pt>
                <c:pt idx="55">
                  <c:v>-1.0023724542516923</c:v>
                </c:pt>
                <c:pt idx="56">
                  <c:v>0.20179645366629284</c:v>
                </c:pt>
                <c:pt idx="57">
                  <c:v>0.66181446928819954</c:v>
                </c:pt>
                <c:pt idx="58">
                  <c:v>-1.3500600100108331</c:v>
                </c:pt>
                <c:pt idx="59">
                  <c:v>-1.5726107118944437</c:v>
                </c:pt>
                <c:pt idx="60">
                  <c:v>-0.65040859025829967</c:v>
                </c:pt>
                <c:pt idx="61">
                  <c:v>-3.9107155444713575</c:v>
                </c:pt>
                <c:pt idx="62">
                  <c:v>-3.7332961129361855</c:v>
                </c:pt>
                <c:pt idx="63">
                  <c:v>-2.5867601608660071</c:v>
                </c:pt>
                <c:pt idx="64">
                  <c:v>-1.4623406382461135</c:v>
                </c:pt>
                <c:pt idx="65">
                  <c:v>0.2795452028613421</c:v>
                </c:pt>
                <c:pt idx="66">
                  <c:v>-1.0019653256419505</c:v>
                </c:pt>
                <c:pt idx="67">
                  <c:v>-0.74795728092493907</c:v>
                </c:pt>
                <c:pt idx="68">
                  <c:v>-3.253360952376366</c:v>
                </c:pt>
                <c:pt idx="69">
                  <c:v>-1.8535240641905575</c:v>
                </c:pt>
                <c:pt idx="70">
                  <c:v>-2.1058618953161052</c:v>
                </c:pt>
                <c:pt idx="71">
                  <c:v>-0.39896114904128344</c:v>
                </c:pt>
                <c:pt idx="72">
                  <c:v>-2.6278430697689577</c:v>
                </c:pt>
                <c:pt idx="73">
                  <c:v>-3.2358276270293178</c:v>
                </c:pt>
                <c:pt idx="74">
                  <c:v>-7.4115303141053523E-3</c:v>
                </c:pt>
                <c:pt idx="75">
                  <c:v>0.43472873478221219</c:v>
                </c:pt>
                <c:pt idx="76">
                  <c:v>-2.7325689267967039</c:v>
                </c:pt>
                <c:pt idx="77">
                  <c:v>-4.5724988506659967</c:v>
                </c:pt>
                <c:pt idx="78">
                  <c:v>-3.1029160543617356</c:v>
                </c:pt>
                <c:pt idx="79">
                  <c:v>-0.89306686794815882</c:v>
                </c:pt>
                <c:pt idx="80">
                  <c:v>-3.1945601133136892</c:v>
                </c:pt>
                <c:pt idx="81">
                  <c:v>-1.122517294193548E-2</c:v>
                </c:pt>
                <c:pt idx="82">
                  <c:v>-3.0899060403261527</c:v>
                </c:pt>
                <c:pt idx="83">
                  <c:v>-2.2328112604027543</c:v>
                </c:pt>
                <c:pt idx="84">
                  <c:v>-0.53320366316589185</c:v>
                </c:pt>
                <c:pt idx="85">
                  <c:v>-2.5096072339000743</c:v>
                </c:pt>
                <c:pt idx="86">
                  <c:v>-2.4144642701854049</c:v>
                </c:pt>
                <c:pt idx="87">
                  <c:v>-1.2862669639095419</c:v>
                </c:pt>
                <c:pt idx="88">
                  <c:v>-0.68065132876364487</c:v>
                </c:pt>
                <c:pt idx="89">
                  <c:v>-1.4523199364858375</c:v>
                </c:pt>
                <c:pt idx="90">
                  <c:v>-0.63240066657002014</c:v>
                </c:pt>
                <c:pt idx="91">
                  <c:v>-2.2655516161793141</c:v>
                </c:pt>
                <c:pt idx="92">
                  <c:v>-2.8609321215045629</c:v>
                </c:pt>
                <c:pt idx="93">
                  <c:v>-1.8161299802066821</c:v>
                </c:pt>
                <c:pt idx="94">
                  <c:v>-3.322075780094754</c:v>
                </c:pt>
                <c:pt idx="95">
                  <c:v>-2.1056355593104299</c:v>
                </c:pt>
                <c:pt idx="96">
                  <c:v>-3.9861115167235952</c:v>
                </c:pt>
                <c:pt idx="97">
                  <c:v>-0.52162605423810593</c:v>
                </c:pt>
                <c:pt idx="98">
                  <c:v>-1.3788217020208569</c:v>
                </c:pt>
                <c:pt idx="99">
                  <c:v>-1.481040203748623</c:v>
                </c:pt>
                <c:pt idx="100">
                  <c:v>-4.1200347737975829</c:v>
                </c:pt>
                <c:pt idx="101">
                  <c:v>-0.19249213644194363</c:v>
                </c:pt>
                <c:pt idx="102">
                  <c:v>-2.343645267977426</c:v>
                </c:pt>
                <c:pt idx="103">
                  <c:v>-4.3797313309913886</c:v>
                </c:pt>
                <c:pt idx="104">
                  <c:v>-3.2116799043240407</c:v>
                </c:pt>
                <c:pt idx="105">
                  <c:v>-2.1295357923077294</c:v>
                </c:pt>
                <c:pt idx="106">
                  <c:v>-0.4540653225458029</c:v>
                </c:pt>
                <c:pt idx="107">
                  <c:v>-2.9615119126821767</c:v>
                </c:pt>
                <c:pt idx="108">
                  <c:v>-1.6816108191642123</c:v>
                </c:pt>
                <c:pt idx="109">
                  <c:v>-3.5203610553331561</c:v>
                </c:pt>
                <c:pt idx="110">
                  <c:v>-2.5160301395302125</c:v>
                </c:pt>
                <c:pt idx="111">
                  <c:v>-0.61694451807156048</c:v>
                </c:pt>
                <c:pt idx="112">
                  <c:v>-2.0057951452938547</c:v>
                </c:pt>
                <c:pt idx="113">
                  <c:v>-3.6168069009973927</c:v>
                </c:pt>
                <c:pt idx="114">
                  <c:v>-0.24115875487649818</c:v>
                </c:pt>
                <c:pt idx="115">
                  <c:v>-2.1506270963996137</c:v>
                </c:pt>
                <c:pt idx="116">
                  <c:v>-3.4197076006183842</c:v>
                </c:pt>
                <c:pt idx="117">
                  <c:v>-1.5649120585591232</c:v>
                </c:pt>
                <c:pt idx="118">
                  <c:v>-1.7297731454198897</c:v>
                </c:pt>
                <c:pt idx="119">
                  <c:v>-0.38635251950696725</c:v>
                </c:pt>
                <c:pt idx="120">
                  <c:v>1.2249407520954878</c:v>
                </c:pt>
                <c:pt idx="121">
                  <c:v>1.4777418517091228</c:v>
                </c:pt>
                <c:pt idx="122">
                  <c:v>3.706510619062712</c:v>
                </c:pt>
                <c:pt idx="123">
                  <c:v>3.7282964982320443</c:v>
                </c:pt>
                <c:pt idx="124">
                  <c:v>1.5206347192729972</c:v>
                </c:pt>
                <c:pt idx="125">
                  <c:v>2.5359346364197548</c:v>
                </c:pt>
                <c:pt idx="126">
                  <c:v>1.8546747026941197</c:v>
                </c:pt>
                <c:pt idx="127">
                  <c:v>2.8629034310488883</c:v>
                </c:pt>
                <c:pt idx="128">
                  <c:v>1.5249634046401075</c:v>
                </c:pt>
                <c:pt idx="129">
                  <c:v>3.0888098006273088</c:v>
                </c:pt>
                <c:pt idx="130">
                  <c:v>3.4761368539117541</c:v>
                </c:pt>
                <c:pt idx="131">
                  <c:v>-0.41408067659239478</c:v>
                </c:pt>
                <c:pt idx="132">
                  <c:v>3.99537445632384</c:v>
                </c:pt>
                <c:pt idx="133">
                  <c:v>2.3530656203959706</c:v>
                </c:pt>
                <c:pt idx="134">
                  <c:v>2.2985626476453906</c:v>
                </c:pt>
                <c:pt idx="135">
                  <c:v>1.6118932499634631</c:v>
                </c:pt>
                <c:pt idx="136">
                  <c:v>1.0582822577453419</c:v>
                </c:pt>
                <c:pt idx="137">
                  <c:v>0.84859255849150372</c:v>
                </c:pt>
                <c:pt idx="138">
                  <c:v>1.6257098392844058</c:v>
                </c:pt>
                <c:pt idx="139">
                  <c:v>1.1004001258806408</c:v>
                </c:pt>
                <c:pt idx="140">
                  <c:v>2.2539918755030031</c:v>
                </c:pt>
                <c:pt idx="141">
                  <c:v>2.5700142537194623</c:v>
                </c:pt>
                <c:pt idx="142">
                  <c:v>0.76619801864903336</c:v>
                </c:pt>
                <c:pt idx="143">
                  <c:v>1.6400819865007965</c:v>
                </c:pt>
                <c:pt idx="144">
                  <c:v>3.0063385044442739</c:v>
                </c:pt>
                <c:pt idx="145">
                  <c:v>3.5717376246740771</c:v>
                </c:pt>
                <c:pt idx="146">
                  <c:v>1.4575237391584839</c:v>
                </c:pt>
                <c:pt idx="147">
                  <c:v>-0.30638616862203438</c:v>
                </c:pt>
                <c:pt idx="148">
                  <c:v>3.367045018268243</c:v>
                </c:pt>
                <c:pt idx="149">
                  <c:v>1.264263871823941</c:v>
                </c:pt>
                <c:pt idx="150">
                  <c:v>3.0391499946636427</c:v>
                </c:pt>
                <c:pt idx="151">
                  <c:v>2.3275327666156613</c:v>
                </c:pt>
                <c:pt idx="152">
                  <c:v>1.090519498861124</c:v>
                </c:pt>
                <c:pt idx="153">
                  <c:v>0.32994638834705192</c:v>
                </c:pt>
                <c:pt idx="154">
                  <c:v>1.4475243393711894</c:v>
                </c:pt>
                <c:pt idx="155">
                  <c:v>1.7333214537368633</c:v>
                </c:pt>
                <c:pt idx="156">
                  <c:v>1.5860189973161354</c:v>
                </c:pt>
                <c:pt idx="157">
                  <c:v>7.6134763386193072E-4</c:v>
                </c:pt>
                <c:pt idx="158">
                  <c:v>2.3696490392950933</c:v>
                </c:pt>
                <c:pt idx="159">
                  <c:v>1.3573266631597125</c:v>
                </c:pt>
                <c:pt idx="160">
                  <c:v>2.2713837313615772</c:v>
                </c:pt>
                <c:pt idx="161">
                  <c:v>2.9021524475835974</c:v>
                </c:pt>
                <c:pt idx="162">
                  <c:v>2.5238343556162923</c:v>
                </c:pt>
                <c:pt idx="163">
                  <c:v>2.321451434933183</c:v>
                </c:pt>
                <c:pt idx="164">
                  <c:v>1.5891635416815932</c:v>
                </c:pt>
                <c:pt idx="165">
                  <c:v>1.848440363909966</c:v>
                </c:pt>
                <c:pt idx="166">
                  <c:v>2.1513257054732833</c:v>
                </c:pt>
                <c:pt idx="167">
                  <c:v>4.048720001961934</c:v>
                </c:pt>
                <c:pt idx="168">
                  <c:v>1.16372833865345</c:v>
                </c:pt>
                <c:pt idx="169">
                  <c:v>0.19748026948242825</c:v>
                </c:pt>
                <c:pt idx="170">
                  <c:v>1.8490043419048601</c:v>
                </c:pt>
                <c:pt idx="171">
                  <c:v>1.6203782611062909</c:v>
                </c:pt>
                <c:pt idx="172">
                  <c:v>2.4543942076143632</c:v>
                </c:pt>
                <c:pt idx="173">
                  <c:v>1.1385994883352293</c:v>
                </c:pt>
                <c:pt idx="174">
                  <c:v>1.8288206618891318</c:v>
                </c:pt>
                <c:pt idx="175">
                  <c:v>2.6304235057752487</c:v>
                </c:pt>
                <c:pt idx="176">
                  <c:v>1.9976298948620552</c:v>
                </c:pt>
                <c:pt idx="177">
                  <c:v>4.3813273705529268</c:v>
                </c:pt>
                <c:pt idx="178">
                  <c:v>0.11809996360020314</c:v>
                </c:pt>
                <c:pt idx="179">
                  <c:v>3.8402079674543366</c:v>
                </c:pt>
                <c:pt idx="180">
                  <c:v>1.2425909276486116</c:v>
                </c:pt>
                <c:pt idx="181">
                  <c:v>2.9967157304183019</c:v>
                </c:pt>
                <c:pt idx="182">
                  <c:v>1.4399285652248976</c:v>
                </c:pt>
                <c:pt idx="183">
                  <c:v>0.28071890885940776</c:v>
                </c:pt>
                <c:pt idx="184">
                  <c:v>3.1254200283890778</c:v>
                </c:pt>
                <c:pt idx="185">
                  <c:v>0.70507065465703223</c:v>
                </c:pt>
                <c:pt idx="186">
                  <c:v>0.7007739717388517</c:v>
                </c:pt>
                <c:pt idx="187">
                  <c:v>0.7317364810389595</c:v>
                </c:pt>
                <c:pt idx="188">
                  <c:v>0.27190337775671813</c:v>
                </c:pt>
                <c:pt idx="189">
                  <c:v>1.6293397347347303</c:v>
                </c:pt>
                <c:pt idx="190">
                  <c:v>2.299119173236682</c:v>
                </c:pt>
                <c:pt idx="191">
                  <c:v>3.6441951930377172</c:v>
                </c:pt>
                <c:pt idx="192">
                  <c:v>0.64429315353091221</c:v>
                </c:pt>
                <c:pt idx="193">
                  <c:v>3.7727377310071155</c:v>
                </c:pt>
                <c:pt idx="194">
                  <c:v>1.1442019958874319</c:v>
                </c:pt>
                <c:pt idx="195">
                  <c:v>2.9192332471872442</c:v>
                </c:pt>
                <c:pt idx="196">
                  <c:v>0.5525745813880627</c:v>
                </c:pt>
                <c:pt idx="197">
                  <c:v>2.5623945950806029</c:v>
                </c:pt>
                <c:pt idx="198">
                  <c:v>2.6870864872653351</c:v>
                </c:pt>
                <c:pt idx="199">
                  <c:v>2.2750858560815344</c:v>
                </c:pt>
                <c:pt idx="200">
                  <c:v>1.8608923305219971</c:v>
                </c:pt>
                <c:pt idx="201">
                  <c:v>2.5605055198181637</c:v>
                </c:pt>
                <c:pt idx="202">
                  <c:v>2.9279737875998788</c:v>
                </c:pt>
                <c:pt idx="203">
                  <c:v>1.7653872106433584</c:v>
                </c:pt>
                <c:pt idx="204">
                  <c:v>1.5770058845776231</c:v>
                </c:pt>
                <c:pt idx="205">
                  <c:v>1.6893695530109949</c:v>
                </c:pt>
                <c:pt idx="206">
                  <c:v>3.7596260166731197</c:v>
                </c:pt>
                <c:pt idx="207">
                  <c:v>2.629944134493698</c:v>
                </c:pt>
                <c:pt idx="208">
                  <c:v>2.1084483980344393</c:v>
                </c:pt>
                <c:pt idx="209">
                  <c:v>2.2392200409803569</c:v>
                </c:pt>
                <c:pt idx="210">
                  <c:v>2.3334508037459347</c:v>
                </c:pt>
                <c:pt idx="211">
                  <c:v>3.7868106527179757</c:v>
                </c:pt>
                <c:pt idx="212">
                  <c:v>3.4336972247909356</c:v>
                </c:pt>
                <c:pt idx="213">
                  <c:v>1.9041931715565235</c:v>
                </c:pt>
                <c:pt idx="214">
                  <c:v>1.2937282544970028</c:v>
                </c:pt>
                <c:pt idx="215">
                  <c:v>2.6730680567325411</c:v>
                </c:pt>
                <c:pt idx="216">
                  <c:v>2.0366231173800964</c:v>
                </c:pt>
                <c:pt idx="217">
                  <c:v>3.8528702539786881</c:v>
                </c:pt>
                <c:pt idx="218">
                  <c:v>0.84245730302368971</c:v>
                </c:pt>
                <c:pt idx="219">
                  <c:v>1.4358482186392389</c:v>
                </c:pt>
                <c:pt idx="220">
                  <c:v>1.441745002698356</c:v>
                </c:pt>
                <c:pt idx="221">
                  <c:v>3.8177663881708233</c:v>
                </c:pt>
                <c:pt idx="222">
                  <c:v>2.080958396663779</c:v>
                </c:pt>
                <c:pt idx="223">
                  <c:v>2.9565964247285916</c:v>
                </c:pt>
                <c:pt idx="224">
                  <c:v>1.9027450458872432</c:v>
                </c:pt>
                <c:pt idx="225">
                  <c:v>0.99835706669820512</c:v>
                </c:pt>
                <c:pt idx="226">
                  <c:v>-0.37380385705058394</c:v>
                </c:pt>
                <c:pt idx="227">
                  <c:v>3.2809572631459227</c:v>
                </c:pt>
                <c:pt idx="228">
                  <c:v>2.5509597005829026</c:v>
                </c:pt>
                <c:pt idx="229">
                  <c:v>1.4610175605337277</c:v>
                </c:pt>
              </c:numCache>
            </c:numRef>
          </c:xVal>
          <c:yVal>
            <c:numRef>
              <c:f>Sheet1!$B$2:$B$231</c:f>
              <c:numCache>
                <c:formatCode>General</c:formatCode>
                <c:ptCount val="230"/>
                <c:pt idx="0">
                  <c:v>-0.24494482384912741</c:v>
                </c:pt>
                <c:pt idx="1">
                  <c:v>2.2763485412008864</c:v>
                </c:pt>
                <c:pt idx="2">
                  <c:v>0.14885172942479363</c:v>
                </c:pt>
                <c:pt idx="3">
                  <c:v>-1.355706804365761</c:v>
                </c:pt>
                <c:pt idx="4">
                  <c:v>0.74644488825055277</c:v>
                </c:pt>
                <c:pt idx="5">
                  <c:v>-1.355231025096546</c:v>
                </c:pt>
                <c:pt idx="6">
                  <c:v>0.62388110894648086</c:v>
                </c:pt>
                <c:pt idx="7">
                  <c:v>1.3746901642645331</c:v>
                </c:pt>
                <c:pt idx="8">
                  <c:v>0.94674046974822379</c:v>
                </c:pt>
                <c:pt idx="9">
                  <c:v>0.28608487043809583</c:v>
                </c:pt>
                <c:pt idx="10">
                  <c:v>0.7766343627573582</c:v>
                </c:pt>
                <c:pt idx="11">
                  <c:v>0.13333633244344342</c:v>
                </c:pt>
                <c:pt idx="12">
                  <c:v>0.90590388193019256</c:v>
                </c:pt>
                <c:pt idx="13">
                  <c:v>0.47929001695108736</c:v>
                </c:pt>
                <c:pt idx="14">
                  <c:v>-0.20992575958950255</c:v>
                </c:pt>
                <c:pt idx="15">
                  <c:v>1.0751644332263472</c:v>
                </c:pt>
                <c:pt idx="16">
                  <c:v>3.0228010916668796E-2</c:v>
                </c:pt>
                <c:pt idx="17">
                  <c:v>1.463790453430073</c:v>
                </c:pt>
                <c:pt idx="18">
                  <c:v>1.1612191467173865</c:v>
                </c:pt>
                <c:pt idx="19">
                  <c:v>-1.7158032666279777</c:v>
                </c:pt>
                <c:pt idx="20">
                  <c:v>1.3692756090850642</c:v>
                </c:pt>
                <c:pt idx="21">
                  <c:v>-0.8055379977527497</c:v>
                </c:pt>
                <c:pt idx="22">
                  <c:v>-0.9264125503464864</c:v>
                </c:pt>
                <c:pt idx="23">
                  <c:v>1.4228984787928269</c:v>
                </c:pt>
                <c:pt idx="24">
                  <c:v>0.78232753555811585</c:v>
                </c:pt>
                <c:pt idx="25">
                  <c:v>-0.4086163023547425</c:v>
                </c:pt>
                <c:pt idx="26">
                  <c:v>2.1706626431697753</c:v>
                </c:pt>
                <c:pt idx="27">
                  <c:v>0.87805112936503416</c:v>
                </c:pt>
                <c:pt idx="28">
                  <c:v>1.4922903994895482</c:v>
                </c:pt>
                <c:pt idx="29">
                  <c:v>-0.49904768587932263</c:v>
                </c:pt>
                <c:pt idx="30">
                  <c:v>0.46989145304878444</c:v>
                </c:pt>
                <c:pt idx="31">
                  <c:v>0.23407318854275555</c:v>
                </c:pt>
                <c:pt idx="32">
                  <c:v>-0.89038571058122051</c:v>
                </c:pt>
                <c:pt idx="33">
                  <c:v>0.66979912327918167</c:v>
                </c:pt>
                <c:pt idx="34">
                  <c:v>1.8262214517028932</c:v>
                </c:pt>
                <c:pt idx="35">
                  <c:v>0.76784129474927165</c:v>
                </c:pt>
                <c:pt idx="36">
                  <c:v>-1.4085746193731983</c:v>
                </c:pt>
                <c:pt idx="37">
                  <c:v>9.0854495289436121E-2</c:v>
                </c:pt>
                <c:pt idx="38">
                  <c:v>-9.9707438281690985E-2</c:v>
                </c:pt>
                <c:pt idx="39">
                  <c:v>-0.38887996479911807</c:v>
                </c:pt>
                <c:pt idx="40">
                  <c:v>0.36377694721944442</c:v>
                </c:pt>
                <c:pt idx="41">
                  <c:v>1.372340449570874</c:v>
                </c:pt>
                <c:pt idx="42">
                  <c:v>1.286896761300186</c:v>
                </c:pt>
                <c:pt idx="43">
                  <c:v>-0.66557415049446744</c:v>
                </c:pt>
                <c:pt idx="44">
                  <c:v>-0.23948704542910965</c:v>
                </c:pt>
                <c:pt idx="45">
                  <c:v>2.6297975691947522</c:v>
                </c:pt>
                <c:pt idx="46">
                  <c:v>0.57394081180510526</c:v>
                </c:pt>
                <c:pt idx="47">
                  <c:v>6.9809431545097556E-2</c:v>
                </c:pt>
                <c:pt idx="48">
                  <c:v>-0.70066304182796246</c:v>
                </c:pt>
                <c:pt idx="49">
                  <c:v>0.39911790256528734</c:v>
                </c:pt>
                <c:pt idx="50">
                  <c:v>-1.7642315596654861</c:v>
                </c:pt>
                <c:pt idx="51">
                  <c:v>0.66611041034817542</c:v>
                </c:pt>
                <c:pt idx="52">
                  <c:v>2.4485531747778149</c:v>
                </c:pt>
                <c:pt idx="53">
                  <c:v>-0.58808587872498275</c:v>
                </c:pt>
                <c:pt idx="54">
                  <c:v>-0.46576418379094914</c:v>
                </c:pt>
                <c:pt idx="55">
                  <c:v>-1.2999017180586145</c:v>
                </c:pt>
                <c:pt idx="56">
                  <c:v>0.63930181664228747</c:v>
                </c:pt>
                <c:pt idx="57">
                  <c:v>0.49439952372609841</c:v>
                </c:pt>
                <c:pt idx="58">
                  <c:v>-0.77456267989751981</c:v>
                </c:pt>
                <c:pt idx="59">
                  <c:v>0.66278443786361907</c:v>
                </c:pt>
                <c:pt idx="60">
                  <c:v>0.58146644527681535</c:v>
                </c:pt>
                <c:pt idx="61">
                  <c:v>0.3170750824473868</c:v>
                </c:pt>
                <c:pt idx="62">
                  <c:v>2.0462011287899782</c:v>
                </c:pt>
                <c:pt idx="63">
                  <c:v>1.8424360730649063</c:v>
                </c:pt>
                <c:pt idx="64">
                  <c:v>0.7189403063249169</c:v>
                </c:pt>
                <c:pt idx="65">
                  <c:v>0.21079584038974472</c:v>
                </c:pt>
                <c:pt idx="66">
                  <c:v>0.7014725586440933</c:v>
                </c:pt>
                <c:pt idx="67">
                  <c:v>1.0527025082071024</c:v>
                </c:pt>
                <c:pt idx="68">
                  <c:v>0.82066936871426122</c:v>
                </c:pt>
                <c:pt idx="69">
                  <c:v>-2.8876386394549476</c:v>
                </c:pt>
                <c:pt idx="70">
                  <c:v>-1.0581707469377859</c:v>
                </c:pt>
                <c:pt idx="71">
                  <c:v>-0.42499326481356164</c:v>
                </c:pt>
                <c:pt idx="72">
                  <c:v>-0.4258871037406487</c:v>
                </c:pt>
                <c:pt idx="73">
                  <c:v>1.4543323641167241</c:v>
                </c:pt>
                <c:pt idx="74">
                  <c:v>-1.3383455534762727</c:v>
                </c:pt>
                <c:pt idx="75">
                  <c:v>1.1295958698490152</c:v>
                </c:pt>
                <c:pt idx="76">
                  <c:v>1.9285109758266545</c:v>
                </c:pt>
                <c:pt idx="77">
                  <c:v>-1.3655670943347358</c:v>
                </c:pt>
                <c:pt idx="78">
                  <c:v>1.0940426269674979</c:v>
                </c:pt>
                <c:pt idx="79">
                  <c:v>-0.41790407702859272</c:v>
                </c:pt>
                <c:pt idx="80">
                  <c:v>0.73464173891165307</c:v>
                </c:pt>
                <c:pt idx="81">
                  <c:v>-1.0203471063960481</c:v>
                </c:pt>
                <c:pt idx="82">
                  <c:v>0.20662959775573236</c:v>
                </c:pt>
                <c:pt idx="83">
                  <c:v>-0.19862258241744013</c:v>
                </c:pt>
                <c:pt idx="84">
                  <c:v>-5.6615906551556572E-2</c:v>
                </c:pt>
                <c:pt idx="85">
                  <c:v>0.44868987636780522</c:v>
                </c:pt>
                <c:pt idx="86">
                  <c:v>-0.92981845631106319</c:v>
                </c:pt>
                <c:pt idx="87">
                  <c:v>-0.1528800982358105</c:v>
                </c:pt>
                <c:pt idx="88">
                  <c:v>0.13040583688010582</c:v>
                </c:pt>
                <c:pt idx="89">
                  <c:v>-0.63633567596162677</c:v>
                </c:pt>
                <c:pt idx="90">
                  <c:v>0.78475458399489595</c:v>
                </c:pt>
                <c:pt idx="91">
                  <c:v>0.1204332836990709</c:v>
                </c:pt>
                <c:pt idx="92">
                  <c:v>0.78286438879629205</c:v>
                </c:pt>
                <c:pt idx="93">
                  <c:v>-0.541766797776849</c:v>
                </c:pt>
                <c:pt idx="94">
                  <c:v>0.60446169734001498</c:v>
                </c:pt>
                <c:pt idx="95">
                  <c:v>-0.29233659430594139</c:v>
                </c:pt>
                <c:pt idx="96">
                  <c:v>1.9843855093883003</c:v>
                </c:pt>
                <c:pt idx="97">
                  <c:v>0.12621425795212621</c:v>
                </c:pt>
                <c:pt idx="98">
                  <c:v>0.95270551518654445</c:v>
                </c:pt>
                <c:pt idx="99">
                  <c:v>0.97032533760947803</c:v>
                </c:pt>
                <c:pt idx="100">
                  <c:v>-0.11058398071120817</c:v>
                </c:pt>
                <c:pt idx="101">
                  <c:v>0.40552971962899675</c:v>
                </c:pt>
                <c:pt idx="102">
                  <c:v>0.1739428584394565</c:v>
                </c:pt>
                <c:pt idx="103">
                  <c:v>1.861934008526331</c:v>
                </c:pt>
                <c:pt idx="104">
                  <c:v>-1.3385623166905531</c:v>
                </c:pt>
                <c:pt idx="105">
                  <c:v>-1.5038962441916579</c:v>
                </c:pt>
                <c:pt idx="106">
                  <c:v>-0.64408701077724051</c:v>
                </c:pt>
                <c:pt idx="107">
                  <c:v>0.81829870965195628</c:v>
                </c:pt>
                <c:pt idx="108">
                  <c:v>0.74928006032356431</c:v>
                </c:pt>
                <c:pt idx="109">
                  <c:v>0.92662368138463891</c:v>
                </c:pt>
                <c:pt idx="110">
                  <c:v>2.8360544963409173E-3</c:v>
                </c:pt>
                <c:pt idx="111">
                  <c:v>2.097608361416488</c:v>
                </c:pt>
                <c:pt idx="112">
                  <c:v>1.4033504402739478</c:v>
                </c:pt>
                <c:pt idx="113">
                  <c:v>0.11558964731390065</c:v>
                </c:pt>
                <c:pt idx="114">
                  <c:v>0.45587900540242587</c:v>
                </c:pt>
                <c:pt idx="115">
                  <c:v>-2.1646472242027572</c:v>
                </c:pt>
                <c:pt idx="116">
                  <c:v>-0.21211689686686103</c:v>
                </c:pt>
                <c:pt idx="117">
                  <c:v>0.4806873741718441</c:v>
                </c:pt>
                <c:pt idx="118">
                  <c:v>1.5257075681405885</c:v>
                </c:pt>
                <c:pt idx="119">
                  <c:v>0.47339499233324056</c:v>
                </c:pt>
              </c:numCache>
            </c:numRef>
          </c:yVal>
          <c:smooth val="0"/>
          <c:extLst>
            <c:ext xmlns:c16="http://schemas.microsoft.com/office/drawing/2014/chart" uri="{C3380CC4-5D6E-409C-BE32-E72D297353CC}">
              <c16:uniqueId val="{00000000-D62E-44D5-AF3E-F5EF367A8A49}"/>
            </c:ext>
          </c:extLst>
        </c:ser>
        <c:ser>
          <c:idx val="1"/>
          <c:order val="1"/>
          <c:tx>
            <c:strRef>
              <c:f>Sheet1!$C$1</c:f>
              <c:strCache>
                <c:ptCount val="1"/>
                <c:pt idx="0">
                  <c:v>Siemens</c:v>
                </c:pt>
              </c:strCache>
            </c:strRef>
          </c:tx>
          <c:spPr>
            <a:ln>
              <a:noFill/>
            </a:ln>
            <a:effectLst/>
          </c:spPr>
          <c:marker>
            <c:symbol val="circle"/>
            <c:size val="5"/>
            <c:spPr>
              <a:solidFill>
                <a:srgbClr val="B33C3C"/>
              </a:solidFill>
              <a:ln w="9525" cap="flat">
                <a:solidFill>
                  <a:srgbClr val="B33C3C"/>
                </a:solidFill>
                <a:prstDash val="solid"/>
                <a:round/>
              </a:ln>
              <a:effectLst/>
            </c:spPr>
          </c:marker>
          <c:xVal>
            <c:numRef>
              <c:f>Sheet1!$A$2:$A$231</c:f>
              <c:numCache>
                <c:formatCode>General</c:formatCode>
                <c:ptCount val="230"/>
                <c:pt idx="0">
                  <c:v>-3.3292571297794811</c:v>
                </c:pt>
                <c:pt idx="1">
                  <c:v>-1.9056661480378401</c:v>
                </c:pt>
                <c:pt idx="2">
                  <c:v>-3.5296152799949239</c:v>
                </c:pt>
                <c:pt idx="3">
                  <c:v>-4.0060309881284173E-2</c:v>
                </c:pt>
                <c:pt idx="4">
                  <c:v>-3.0451917663502392</c:v>
                </c:pt>
                <c:pt idx="5">
                  <c:v>-1.6287221223554311</c:v>
                </c:pt>
                <c:pt idx="6">
                  <c:v>-1.0257631821245494</c:v>
                </c:pt>
                <c:pt idx="7">
                  <c:v>-1.8674480463980014</c:v>
                </c:pt>
                <c:pt idx="8">
                  <c:v>-1.4152210806722358</c:v>
                </c:pt>
                <c:pt idx="9">
                  <c:v>-3.2873041808786208</c:v>
                </c:pt>
                <c:pt idx="10">
                  <c:v>0.12632443271807503</c:v>
                </c:pt>
                <c:pt idx="11">
                  <c:v>-1.5822703796143849</c:v>
                </c:pt>
                <c:pt idx="12">
                  <c:v>-4.3174362758928684</c:v>
                </c:pt>
                <c:pt idx="13">
                  <c:v>-1.8652105389363243</c:v>
                </c:pt>
                <c:pt idx="14">
                  <c:v>-3.5038784810831549</c:v>
                </c:pt>
                <c:pt idx="15">
                  <c:v>-2.205987648259788</c:v>
                </c:pt>
                <c:pt idx="16">
                  <c:v>0.24837135251720799</c:v>
                </c:pt>
                <c:pt idx="17">
                  <c:v>-1.8334562027503349</c:v>
                </c:pt>
                <c:pt idx="18">
                  <c:v>-2.6377919734123525</c:v>
                </c:pt>
                <c:pt idx="19">
                  <c:v>-1.6678672296180619</c:v>
                </c:pt>
                <c:pt idx="20">
                  <c:v>-3.0201849739571909</c:v>
                </c:pt>
                <c:pt idx="21">
                  <c:v>0.41477931298304327</c:v>
                </c:pt>
                <c:pt idx="22">
                  <c:v>-0.48366383248058264</c:v>
                </c:pt>
                <c:pt idx="23">
                  <c:v>-1.8709351971639783</c:v>
                </c:pt>
                <c:pt idx="24">
                  <c:v>-2.9842065226286509</c:v>
                </c:pt>
                <c:pt idx="25">
                  <c:v>-2.5110668630910888</c:v>
                </c:pt>
                <c:pt idx="26">
                  <c:v>-1.6082620246935688</c:v>
                </c:pt>
                <c:pt idx="27">
                  <c:v>-0.72121192780495669</c:v>
                </c:pt>
                <c:pt idx="28">
                  <c:v>-4.5221971556689997</c:v>
                </c:pt>
                <c:pt idx="29">
                  <c:v>-2.6348561514783269</c:v>
                </c:pt>
                <c:pt idx="30">
                  <c:v>-2.1648550935420743</c:v>
                </c:pt>
                <c:pt idx="31">
                  <c:v>-3.5408257279244575</c:v>
                </c:pt>
                <c:pt idx="32">
                  <c:v>-1.1876155767770222</c:v>
                </c:pt>
                <c:pt idx="33">
                  <c:v>-3.4061357910585532</c:v>
                </c:pt>
                <c:pt idx="34">
                  <c:v>-1.8365225303612742</c:v>
                </c:pt>
                <c:pt idx="35">
                  <c:v>-1.3746233376156245</c:v>
                </c:pt>
                <c:pt idx="36">
                  <c:v>-1.7972760871781039</c:v>
                </c:pt>
                <c:pt idx="37">
                  <c:v>-1.3498780451153274</c:v>
                </c:pt>
                <c:pt idx="38">
                  <c:v>-1.7009650729690742</c:v>
                </c:pt>
                <c:pt idx="39">
                  <c:v>-2.582426324418682</c:v>
                </c:pt>
                <c:pt idx="40">
                  <c:v>-0.71180364041530075</c:v>
                </c:pt>
                <c:pt idx="41">
                  <c:v>-3.1269044272791175</c:v>
                </c:pt>
                <c:pt idx="42">
                  <c:v>-3.6503481923604837</c:v>
                </c:pt>
                <c:pt idx="43">
                  <c:v>-2.0834639344141985</c:v>
                </c:pt>
                <c:pt idx="44">
                  <c:v>-0.12171169563714246</c:v>
                </c:pt>
                <c:pt idx="45">
                  <c:v>-4.4055438003911593</c:v>
                </c:pt>
                <c:pt idx="46">
                  <c:v>-3.1571326996067794</c:v>
                </c:pt>
                <c:pt idx="47">
                  <c:v>0.63226247995645712</c:v>
                </c:pt>
                <c:pt idx="48">
                  <c:v>-0.9551057267109655</c:v>
                </c:pt>
                <c:pt idx="49">
                  <c:v>-3.2143972211555152</c:v>
                </c:pt>
                <c:pt idx="50">
                  <c:v>-1.3437941239107922</c:v>
                </c:pt>
                <c:pt idx="51">
                  <c:v>-2.0509852709175207</c:v>
                </c:pt>
                <c:pt idx="52">
                  <c:v>-0.15248155986738299</c:v>
                </c:pt>
                <c:pt idx="53">
                  <c:v>-2.3223586205731745</c:v>
                </c:pt>
                <c:pt idx="54">
                  <c:v>-1.2536691369688562</c:v>
                </c:pt>
                <c:pt idx="55">
                  <c:v>-1.0023724542516923</c:v>
                </c:pt>
                <c:pt idx="56">
                  <c:v>0.20179645366629284</c:v>
                </c:pt>
                <c:pt idx="57">
                  <c:v>0.66181446928819954</c:v>
                </c:pt>
                <c:pt idx="58">
                  <c:v>-1.3500600100108331</c:v>
                </c:pt>
                <c:pt idx="59">
                  <c:v>-1.5726107118944437</c:v>
                </c:pt>
                <c:pt idx="60">
                  <c:v>-0.65040859025829967</c:v>
                </c:pt>
                <c:pt idx="61">
                  <c:v>-3.9107155444713575</c:v>
                </c:pt>
                <c:pt idx="62">
                  <c:v>-3.7332961129361855</c:v>
                </c:pt>
                <c:pt idx="63">
                  <c:v>-2.5867601608660071</c:v>
                </c:pt>
                <c:pt idx="64">
                  <c:v>-1.4623406382461135</c:v>
                </c:pt>
                <c:pt idx="65">
                  <c:v>0.2795452028613421</c:v>
                </c:pt>
                <c:pt idx="66">
                  <c:v>-1.0019653256419505</c:v>
                </c:pt>
                <c:pt idx="67">
                  <c:v>-0.74795728092493907</c:v>
                </c:pt>
                <c:pt idx="68">
                  <c:v>-3.253360952376366</c:v>
                </c:pt>
                <c:pt idx="69">
                  <c:v>-1.8535240641905575</c:v>
                </c:pt>
                <c:pt idx="70">
                  <c:v>-2.1058618953161052</c:v>
                </c:pt>
                <c:pt idx="71">
                  <c:v>-0.39896114904128344</c:v>
                </c:pt>
                <c:pt idx="72">
                  <c:v>-2.6278430697689577</c:v>
                </c:pt>
                <c:pt idx="73">
                  <c:v>-3.2358276270293178</c:v>
                </c:pt>
                <c:pt idx="74">
                  <c:v>-7.4115303141053523E-3</c:v>
                </c:pt>
                <c:pt idx="75">
                  <c:v>0.43472873478221219</c:v>
                </c:pt>
                <c:pt idx="76">
                  <c:v>-2.7325689267967039</c:v>
                </c:pt>
                <c:pt idx="77">
                  <c:v>-4.5724988506659967</c:v>
                </c:pt>
                <c:pt idx="78">
                  <c:v>-3.1029160543617356</c:v>
                </c:pt>
                <c:pt idx="79">
                  <c:v>-0.89306686794815882</c:v>
                </c:pt>
                <c:pt idx="80">
                  <c:v>-3.1945601133136892</c:v>
                </c:pt>
                <c:pt idx="81">
                  <c:v>-1.122517294193548E-2</c:v>
                </c:pt>
                <c:pt idx="82">
                  <c:v>-3.0899060403261527</c:v>
                </c:pt>
                <c:pt idx="83">
                  <c:v>-2.2328112604027543</c:v>
                </c:pt>
                <c:pt idx="84">
                  <c:v>-0.53320366316589185</c:v>
                </c:pt>
                <c:pt idx="85">
                  <c:v>-2.5096072339000743</c:v>
                </c:pt>
                <c:pt idx="86">
                  <c:v>-2.4144642701854049</c:v>
                </c:pt>
                <c:pt idx="87">
                  <c:v>-1.2862669639095419</c:v>
                </c:pt>
                <c:pt idx="88">
                  <c:v>-0.68065132876364487</c:v>
                </c:pt>
                <c:pt idx="89">
                  <c:v>-1.4523199364858375</c:v>
                </c:pt>
                <c:pt idx="90">
                  <c:v>-0.63240066657002014</c:v>
                </c:pt>
                <c:pt idx="91">
                  <c:v>-2.2655516161793141</c:v>
                </c:pt>
                <c:pt idx="92">
                  <c:v>-2.8609321215045629</c:v>
                </c:pt>
                <c:pt idx="93">
                  <c:v>-1.8161299802066821</c:v>
                </c:pt>
                <c:pt idx="94">
                  <c:v>-3.322075780094754</c:v>
                </c:pt>
                <c:pt idx="95">
                  <c:v>-2.1056355593104299</c:v>
                </c:pt>
                <c:pt idx="96">
                  <c:v>-3.9861115167235952</c:v>
                </c:pt>
                <c:pt idx="97">
                  <c:v>-0.52162605423810593</c:v>
                </c:pt>
                <c:pt idx="98">
                  <c:v>-1.3788217020208569</c:v>
                </c:pt>
                <c:pt idx="99">
                  <c:v>-1.481040203748623</c:v>
                </c:pt>
                <c:pt idx="100">
                  <c:v>-4.1200347737975829</c:v>
                </c:pt>
                <c:pt idx="101">
                  <c:v>-0.19249213644194363</c:v>
                </c:pt>
                <c:pt idx="102">
                  <c:v>-2.343645267977426</c:v>
                </c:pt>
                <c:pt idx="103">
                  <c:v>-4.3797313309913886</c:v>
                </c:pt>
                <c:pt idx="104">
                  <c:v>-3.2116799043240407</c:v>
                </c:pt>
                <c:pt idx="105">
                  <c:v>-2.1295357923077294</c:v>
                </c:pt>
                <c:pt idx="106">
                  <c:v>-0.4540653225458029</c:v>
                </c:pt>
                <c:pt idx="107">
                  <c:v>-2.9615119126821767</c:v>
                </c:pt>
                <c:pt idx="108">
                  <c:v>-1.6816108191642123</c:v>
                </c:pt>
                <c:pt idx="109">
                  <c:v>-3.5203610553331561</c:v>
                </c:pt>
                <c:pt idx="110">
                  <c:v>-2.5160301395302125</c:v>
                </c:pt>
                <c:pt idx="111">
                  <c:v>-0.61694451807156048</c:v>
                </c:pt>
                <c:pt idx="112">
                  <c:v>-2.0057951452938547</c:v>
                </c:pt>
                <c:pt idx="113">
                  <c:v>-3.6168069009973927</c:v>
                </c:pt>
                <c:pt idx="114">
                  <c:v>-0.24115875487649818</c:v>
                </c:pt>
                <c:pt idx="115">
                  <c:v>-2.1506270963996137</c:v>
                </c:pt>
                <c:pt idx="116">
                  <c:v>-3.4197076006183842</c:v>
                </c:pt>
                <c:pt idx="117">
                  <c:v>-1.5649120585591232</c:v>
                </c:pt>
                <c:pt idx="118">
                  <c:v>-1.7297731454198897</c:v>
                </c:pt>
                <c:pt idx="119">
                  <c:v>-0.38635251950696725</c:v>
                </c:pt>
                <c:pt idx="120">
                  <c:v>1.2249407520954878</c:v>
                </c:pt>
                <c:pt idx="121">
                  <c:v>1.4777418517091228</c:v>
                </c:pt>
                <c:pt idx="122">
                  <c:v>3.706510619062712</c:v>
                </c:pt>
                <c:pt idx="123">
                  <c:v>3.7282964982320443</c:v>
                </c:pt>
                <c:pt idx="124">
                  <c:v>1.5206347192729972</c:v>
                </c:pt>
                <c:pt idx="125">
                  <c:v>2.5359346364197548</c:v>
                </c:pt>
                <c:pt idx="126">
                  <c:v>1.8546747026941197</c:v>
                </c:pt>
                <c:pt idx="127">
                  <c:v>2.8629034310488883</c:v>
                </c:pt>
                <c:pt idx="128">
                  <c:v>1.5249634046401075</c:v>
                </c:pt>
                <c:pt idx="129">
                  <c:v>3.0888098006273088</c:v>
                </c:pt>
                <c:pt idx="130">
                  <c:v>3.4761368539117541</c:v>
                </c:pt>
                <c:pt idx="131">
                  <c:v>-0.41408067659239478</c:v>
                </c:pt>
                <c:pt idx="132">
                  <c:v>3.99537445632384</c:v>
                </c:pt>
                <c:pt idx="133">
                  <c:v>2.3530656203959706</c:v>
                </c:pt>
                <c:pt idx="134">
                  <c:v>2.2985626476453906</c:v>
                </c:pt>
                <c:pt idx="135">
                  <c:v>1.6118932499634631</c:v>
                </c:pt>
                <c:pt idx="136">
                  <c:v>1.0582822577453419</c:v>
                </c:pt>
                <c:pt idx="137">
                  <c:v>0.84859255849150372</c:v>
                </c:pt>
                <c:pt idx="138">
                  <c:v>1.6257098392844058</c:v>
                </c:pt>
                <c:pt idx="139">
                  <c:v>1.1004001258806408</c:v>
                </c:pt>
                <c:pt idx="140">
                  <c:v>2.2539918755030031</c:v>
                </c:pt>
                <c:pt idx="141">
                  <c:v>2.5700142537194623</c:v>
                </c:pt>
                <c:pt idx="142">
                  <c:v>0.76619801864903336</c:v>
                </c:pt>
                <c:pt idx="143">
                  <c:v>1.6400819865007965</c:v>
                </c:pt>
                <c:pt idx="144">
                  <c:v>3.0063385044442739</c:v>
                </c:pt>
                <c:pt idx="145">
                  <c:v>3.5717376246740771</c:v>
                </c:pt>
                <c:pt idx="146">
                  <c:v>1.4575237391584839</c:v>
                </c:pt>
                <c:pt idx="147">
                  <c:v>-0.30638616862203438</c:v>
                </c:pt>
                <c:pt idx="148">
                  <c:v>3.367045018268243</c:v>
                </c:pt>
                <c:pt idx="149">
                  <c:v>1.264263871823941</c:v>
                </c:pt>
                <c:pt idx="150">
                  <c:v>3.0391499946636427</c:v>
                </c:pt>
                <c:pt idx="151">
                  <c:v>2.3275327666156613</c:v>
                </c:pt>
                <c:pt idx="152">
                  <c:v>1.090519498861124</c:v>
                </c:pt>
                <c:pt idx="153">
                  <c:v>0.32994638834705192</c:v>
                </c:pt>
                <c:pt idx="154">
                  <c:v>1.4475243393711894</c:v>
                </c:pt>
                <c:pt idx="155">
                  <c:v>1.7333214537368633</c:v>
                </c:pt>
                <c:pt idx="156">
                  <c:v>1.5860189973161354</c:v>
                </c:pt>
                <c:pt idx="157">
                  <c:v>7.6134763386193072E-4</c:v>
                </c:pt>
                <c:pt idx="158">
                  <c:v>2.3696490392950933</c:v>
                </c:pt>
                <c:pt idx="159">
                  <c:v>1.3573266631597125</c:v>
                </c:pt>
                <c:pt idx="160">
                  <c:v>2.2713837313615772</c:v>
                </c:pt>
                <c:pt idx="161">
                  <c:v>2.9021524475835974</c:v>
                </c:pt>
                <c:pt idx="162">
                  <c:v>2.5238343556162923</c:v>
                </c:pt>
                <c:pt idx="163">
                  <c:v>2.321451434933183</c:v>
                </c:pt>
                <c:pt idx="164">
                  <c:v>1.5891635416815932</c:v>
                </c:pt>
                <c:pt idx="165">
                  <c:v>1.848440363909966</c:v>
                </c:pt>
                <c:pt idx="166">
                  <c:v>2.1513257054732833</c:v>
                </c:pt>
                <c:pt idx="167">
                  <c:v>4.048720001961934</c:v>
                </c:pt>
                <c:pt idx="168">
                  <c:v>1.16372833865345</c:v>
                </c:pt>
                <c:pt idx="169">
                  <c:v>0.19748026948242825</c:v>
                </c:pt>
                <c:pt idx="170">
                  <c:v>1.8490043419048601</c:v>
                </c:pt>
                <c:pt idx="171">
                  <c:v>1.6203782611062909</c:v>
                </c:pt>
                <c:pt idx="172">
                  <c:v>2.4543942076143632</c:v>
                </c:pt>
                <c:pt idx="173">
                  <c:v>1.1385994883352293</c:v>
                </c:pt>
                <c:pt idx="174">
                  <c:v>1.8288206618891318</c:v>
                </c:pt>
                <c:pt idx="175">
                  <c:v>2.6304235057752487</c:v>
                </c:pt>
                <c:pt idx="176">
                  <c:v>1.9976298948620552</c:v>
                </c:pt>
                <c:pt idx="177">
                  <c:v>4.3813273705529268</c:v>
                </c:pt>
                <c:pt idx="178">
                  <c:v>0.11809996360020314</c:v>
                </c:pt>
                <c:pt idx="179">
                  <c:v>3.8402079674543366</c:v>
                </c:pt>
                <c:pt idx="180">
                  <c:v>1.2425909276486116</c:v>
                </c:pt>
                <c:pt idx="181">
                  <c:v>2.9967157304183019</c:v>
                </c:pt>
                <c:pt idx="182">
                  <c:v>1.4399285652248976</c:v>
                </c:pt>
                <c:pt idx="183">
                  <c:v>0.28071890885940776</c:v>
                </c:pt>
                <c:pt idx="184">
                  <c:v>3.1254200283890778</c:v>
                </c:pt>
                <c:pt idx="185">
                  <c:v>0.70507065465703223</c:v>
                </c:pt>
                <c:pt idx="186">
                  <c:v>0.7007739717388517</c:v>
                </c:pt>
                <c:pt idx="187">
                  <c:v>0.7317364810389595</c:v>
                </c:pt>
                <c:pt idx="188">
                  <c:v>0.27190337775671813</c:v>
                </c:pt>
                <c:pt idx="189">
                  <c:v>1.6293397347347303</c:v>
                </c:pt>
                <c:pt idx="190">
                  <c:v>2.299119173236682</c:v>
                </c:pt>
                <c:pt idx="191">
                  <c:v>3.6441951930377172</c:v>
                </c:pt>
                <c:pt idx="192">
                  <c:v>0.64429315353091221</c:v>
                </c:pt>
                <c:pt idx="193">
                  <c:v>3.7727377310071155</c:v>
                </c:pt>
                <c:pt idx="194">
                  <c:v>1.1442019958874319</c:v>
                </c:pt>
                <c:pt idx="195">
                  <c:v>2.9192332471872442</c:v>
                </c:pt>
                <c:pt idx="196">
                  <c:v>0.5525745813880627</c:v>
                </c:pt>
                <c:pt idx="197">
                  <c:v>2.5623945950806029</c:v>
                </c:pt>
                <c:pt idx="198">
                  <c:v>2.6870864872653351</c:v>
                </c:pt>
                <c:pt idx="199">
                  <c:v>2.2750858560815344</c:v>
                </c:pt>
                <c:pt idx="200">
                  <c:v>1.8608923305219971</c:v>
                </c:pt>
                <c:pt idx="201">
                  <c:v>2.5605055198181637</c:v>
                </c:pt>
                <c:pt idx="202">
                  <c:v>2.9279737875998788</c:v>
                </c:pt>
                <c:pt idx="203">
                  <c:v>1.7653872106433584</c:v>
                </c:pt>
                <c:pt idx="204">
                  <c:v>1.5770058845776231</c:v>
                </c:pt>
                <c:pt idx="205">
                  <c:v>1.6893695530109949</c:v>
                </c:pt>
                <c:pt idx="206">
                  <c:v>3.7596260166731197</c:v>
                </c:pt>
                <c:pt idx="207">
                  <c:v>2.629944134493698</c:v>
                </c:pt>
                <c:pt idx="208">
                  <c:v>2.1084483980344393</c:v>
                </c:pt>
                <c:pt idx="209">
                  <c:v>2.2392200409803569</c:v>
                </c:pt>
                <c:pt idx="210">
                  <c:v>2.3334508037459347</c:v>
                </c:pt>
                <c:pt idx="211">
                  <c:v>3.7868106527179757</c:v>
                </c:pt>
                <c:pt idx="212">
                  <c:v>3.4336972247909356</c:v>
                </c:pt>
                <c:pt idx="213">
                  <c:v>1.9041931715565235</c:v>
                </c:pt>
                <c:pt idx="214">
                  <c:v>1.2937282544970028</c:v>
                </c:pt>
                <c:pt idx="215">
                  <c:v>2.6730680567325411</c:v>
                </c:pt>
                <c:pt idx="216">
                  <c:v>2.0366231173800964</c:v>
                </c:pt>
                <c:pt idx="217">
                  <c:v>3.8528702539786881</c:v>
                </c:pt>
                <c:pt idx="218">
                  <c:v>0.84245730302368971</c:v>
                </c:pt>
                <c:pt idx="219">
                  <c:v>1.4358482186392389</c:v>
                </c:pt>
                <c:pt idx="220">
                  <c:v>1.441745002698356</c:v>
                </c:pt>
                <c:pt idx="221">
                  <c:v>3.8177663881708233</c:v>
                </c:pt>
                <c:pt idx="222">
                  <c:v>2.080958396663779</c:v>
                </c:pt>
                <c:pt idx="223">
                  <c:v>2.9565964247285916</c:v>
                </c:pt>
                <c:pt idx="224">
                  <c:v>1.9027450458872432</c:v>
                </c:pt>
                <c:pt idx="225">
                  <c:v>0.99835706669820512</c:v>
                </c:pt>
                <c:pt idx="226">
                  <c:v>-0.37380385705058394</c:v>
                </c:pt>
                <c:pt idx="227">
                  <c:v>3.2809572631459227</c:v>
                </c:pt>
                <c:pt idx="228">
                  <c:v>2.5509597005829026</c:v>
                </c:pt>
                <c:pt idx="229">
                  <c:v>1.4610175605337277</c:v>
                </c:pt>
              </c:numCache>
            </c:numRef>
          </c:xVal>
          <c:yVal>
            <c:numRef>
              <c:f>Sheet1!$C$2:$C$231</c:f>
              <c:numCache>
                <c:formatCode>General</c:formatCode>
                <c:ptCount val="230"/>
                <c:pt idx="120">
                  <c:v>-0.44769579960290073</c:v>
                </c:pt>
                <c:pt idx="121">
                  <c:v>-0.1982232528661303</c:v>
                </c:pt>
                <c:pt idx="122">
                  <c:v>-1.3823440499386215</c:v>
                </c:pt>
                <c:pt idx="123">
                  <c:v>0.40304717444439631</c:v>
                </c:pt>
                <c:pt idx="124">
                  <c:v>1.1011792209140068</c:v>
                </c:pt>
                <c:pt idx="125">
                  <c:v>-0.569456921076536</c:v>
                </c:pt>
                <c:pt idx="126">
                  <c:v>-2.1331679178171035</c:v>
                </c:pt>
                <c:pt idx="127">
                  <c:v>0.20739376181401029</c:v>
                </c:pt>
                <c:pt idx="128">
                  <c:v>1.2519179255062971</c:v>
                </c:pt>
                <c:pt idx="129">
                  <c:v>-0.24932401089851472</c:v>
                </c:pt>
                <c:pt idx="130">
                  <c:v>1.5602069993439991</c:v>
                </c:pt>
                <c:pt idx="131">
                  <c:v>5.1828713546810345E-2</c:v>
                </c:pt>
                <c:pt idx="132">
                  <c:v>0.98322352797344015</c:v>
                </c:pt>
                <c:pt idx="133">
                  <c:v>-0.36309411241783696</c:v>
                </c:pt>
                <c:pt idx="134">
                  <c:v>-1.3724576648606139</c:v>
                </c:pt>
                <c:pt idx="135">
                  <c:v>9.3554167439917124E-2</c:v>
                </c:pt>
                <c:pt idx="136">
                  <c:v>-0.84811993107862871</c:v>
                </c:pt>
                <c:pt idx="137">
                  <c:v>-0.16504175474282315</c:v>
                </c:pt>
                <c:pt idx="138">
                  <c:v>1.1495007897653371</c:v>
                </c:pt>
                <c:pt idx="139">
                  <c:v>-1.603618922642327</c:v>
                </c:pt>
                <c:pt idx="140">
                  <c:v>-8.9670799767461062E-2</c:v>
                </c:pt>
                <c:pt idx="141">
                  <c:v>3.8194834018514062E-2</c:v>
                </c:pt>
                <c:pt idx="142">
                  <c:v>0.81310300821110315</c:v>
                </c:pt>
                <c:pt idx="143">
                  <c:v>-0.3456294131079824</c:v>
                </c:pt>
                <c:pt idx="144">
                  <c:v>-4.6490470172650074E-2</c:v>
                </c:pt>
                <c:pt idx="145">
                  <c:v>0.77492544303488475</c:v>
                </c:pt>
                <c:pt idx="146">
                  <c:v>-0.67043285486137483</c:v>
                </c:pt>
                <c:pt idx="147">
                  <c:v>-0.38108931524841749</c:v>
                </c:pt>
                <c:pt idx="148">
                  <c:v>0.99591248720571979</c:v>
                </c:pt>
                <c:pt idx="149">
                  <c:v>0.13684802058538334</c:v>
                </c:pt>
                <c:pt idx="150">
                  <c:v>-0.63480931614087655</c:v>
                </c:pt>
                <c:pt idx="151">
                  <c:v>-0.89437548304459058</c:v>
                </c:pt>
                <c:pt idx="152">
                  <c:v>1.0143912330154998</c:v>
                </c:pt>
                <c:pt idx="153">
                  <c:v>-0.27839594729922357</c:v>
                </c:pt>
                <c:pt idx="154">
                  <c:v>-4.1401766447272365E-2</c:v>
                </c:pt>
                <c:pt idx="155">
                  <c:v>-0.65505267416583024</c:v>
                </c:pt>
                <c:pt idx="156">
                  <c:v>-0.76013928977717471</c:v>
                </c:pt>
                <c:pt idx="157">
                  <c:v>0.11006650787863401</c:v>
                </c:pt>
                <c:pt idx="158">
                  <c:v>-1.1834210473458169</c:v>
                </c:pt>
                <c:pt idx="159">
                  <c:v>-1.8859794276670774</c:v>
                </c:pt>
                <c:pt idx="160">
                  <c:v>0.17729604626360199</c:v>
                </c:pt>
                <c:pt idx="161">
                  <c:v>-7.2266840604335372E-2</c:v>
                </c:pt>
                <c:pt idx="162">
                  <c:v>-0.25950506528242168</c:v>
                </c:pt>
                <c:pt idx="163">
                  <c:v>-1.284286731778389</c:v>
                </c:pt>
                <c:pt idx="164">
                  <c:v>-0.59424112579518795</c:v>
                </c:pt>
                <c:pt idx="165">
                  <c:v>-1.6230341681037181</c:v>
                </c:pt>
                <c:pt idx="166">
                  <c:v>-2.3960676554232228</c:v>
                </c:pt>
                <c:pt idx="167">
                  <c:v>0.661245192789914</c:v>
                </c:pt>
                <c:pt idx="168">
                  <c:v>0.38232854450144738</c:v>
                </c:pt>
                <c:pt idx="169">
                  <c:v>1.2067447409578353</c:v>
                </c:pt>
                <c:pt idx="170">
                  <c:v>-0.17198669927715354</c:v>
                </c:pt>
                <c:pt idx="171">
                  <c:v>1.204621375577392</c:v>
                </c:pt>
                <c:pt idx="172">
                  <c:v>-7.6772258181077899E-2</c:v>
                </c:pt>
                <c:pt idx="173">
                  <c:v>-0.24712438590082547</c:v>
                </c:pt>
                <c:pt idx="174">
                  <c:v>-0.83422933747915951</c:v>
                </c:pt>
                <c:pt idx="175">
                  <c:v>-0.26177001913377834</c:v>
                </c:pt>
                <c:pt idx="176">
                  <c:v>0.73512966011904601</c:v>
                </c:pt>
                <c:pt idx="177">
                  <c:v>0.25492862325082266</c:v>
                </c:pt>
                <c:pt idx="178">
                  <c:v>-0.69745883507738227</c:v>
                </c:pt>
                <c:pt idx="179">
                  <c:v>0.66694248210769114</c:v>
                </c:pt>
                <c:pt idx="180">
                  <c:v>-0.30793156122960175</c:v>
                </c:pt>
                <c:pt idx="181">
                  <c:v>1.0667840848599242</c:v>
                </c:pt>
                <c:pt idx="182">
                  <c:v>0.80787421210467403</c:v>
                </c:pt>
                <c:pt idx="183">
                  <c:v>-1.443700147214688</c:v>
                </c:pt>
                <c:pt idx="184">
                  <c:v>0.32557794753654523</c:v>
                </c:pt>
                <c:pt idx="185">
                  <c:v>1.3840148518985329</c:v>
                </c:pt>
                <c:pt idx="186">
                  <c:v>-0.58368636823098941</c:v>
                </c:pt>
                <c:pt idx="187">
                  <c:v>-1.4229820556228634</c:v>
                </c:pt>
                <c:pt idx="188">
                  <c:v>9.3254625793830509E-2</c:v>
                </c:pt>
                <c:pt idx="189">
                  <c:v>-2.1587977625732298</c:v>
                </c:pt>
                <c:pt idx="190">
                  <c:v>0.78780369521909854</c:v>
                </c:pt>
                <c:pt idx="191">
                  <c:v>0.27806680435362197</c:v>
                </c:pt>
                <c:pt idx="192">
                  <c:v>0.4293598062540388</c:v>
                </c:pt>
                <c:pt idx="193">
                  <c:v>0.92650489505151234</c:v>
                </c:pt>
                <c:pt idx="194">
                  <c:v>0.66903938534651253</c:v>
                </c:pt>
                <c:pt idx="195">
                  <c:v>-4.6714785406866549E-3</c:v>
                </c:pt>
                <c:pt idx="196">
                  <c:v>-1.6203481538989817</c:v>
                </c:pt>
                <c:pt idx="197">
                  <c:v>-1.4728795072223257</c:v>
                </c:pt>
                <c:pt idx="198">
                  <c:v>-1.390732978740252</c:v>
                </c:pt>
                <c:pt idx="199">
                  <c:v>0.38646719102657612</c:v>
                </c:pt>
                <c:pt idx="200">
                  <c:v>-0.32377640246406469</c:v>
                </c:pt>
                <c:pt idx="201">
                  <c:v>0.71201009047915542</c:v>
                </c:pt>
                <c:pt idx="202">
                  <c:v>0.10034683585439616</c:v>
                </c:pt>
                <c:pt idx="203">
                  <c:v>0.43554671974203218</c:v>
                </c:pt>
                <c:pt idx="204">
                  <c:v>0.20248186230187978</c:v>
                </c:pt>
                <c:pt idx="205">
                  <c:v>-0.20172997513776697</c:v>
                </c:pt>
                <c:pt idx="206">
                  <c:v>0.34565567475081038</c:v>
                </c:pt>
                <c:pt idx="207">
                  <c:v>-1.1138876324228968</c:v>
                </c:pt>
                <c:pt idx="208">
                  <c:v>-5.7976044069564595E-2</c:v>
                </c:pt>
                <c:pt idx="209">
                  <c:v>0.92750238473826674</c:v>
                </c:pt>
                <c:pt idx="210">
                  <c:v>-0.78753368030733395</c:v>
                </c:pt>
                <c:pt idx="211">
                  <c:v>-1.2117329451980214</c:v>
                </c:pt>
                <c:pt idx="212">
                  <c:v>1.8499422048664063</c:v>
                </c:pt>
                <c:pt idx="213">
                  <c:v>-0.26891869649150002</c:v>
                </c:pt>
                <c:pt idx="214">
                  <c:v>0.39461787739346776</c:v>
                </c:pt>
                <c:pt idx="215">
                  <c:v>1.8259496807601485</c:v>
                </c:pt>
                <c:pt idx="216">
                  <c:v>-1.1379750086955935</c:v>
                </c:pt>
                <c:pt idx="217">
                  <c:v>-1.7363851152792955</c:v>
                </c:pt>
                <c:pt idx="218">
                  <c:v>-2.292849955648709</c:v>
                </c:pt>
                <c:pt idx="219">
                  <c:v>0.36633815000128289</c:v>
                </c:pt>
                <c:pt idx="220">
                  <c:v>-1.1073814483073188</c:v>
                </c:pt>
                <c:pt idx="221">
                  <c:v>-0.85061614796961271</c:v>
                </c:pt>
                <c:pt idx="222">
                  <c:v>-0.16422468019130343</c:v>
                </c:pt>
                <c:pt idx="223">
                  <c:v>0.92590588690912379</c:v>
                </c:pt>
                <c:pt idx="224">
                  <c:v>0.37314247711746895</c:v>
                </c:pt>
                <c:pt idx="225">
                  <c:v>-0.71188481608753329</c:v>
                </c:pt>
                <c:pt idx="226">
                  <c:v>-1.5118443291474319</c:v>
                </c:pt>
                <c:pt idx="227">
                  <c:v>0.35492385725702646</c:v>
                </c:pt>
                <c:pt idx="228">
                  <c:v>-0.67146420773427751</c:v>
                </c:pt>
                <c:pt idx="229">
                  <c:v>0.37171988766785091</c:v>
                </c:pt>
              </c:numCache>
            </c:numRef>
          </c:yVal>
          <c:smooth val="0"/>
          <c:extLst>
            <c:ext xmlns:c16="http://schemas.microsoft.com/office/drawing/2014/chart" uri="{C3380CC4-5D6E-409C-BE32-E72D297353CC}">
              <c16:uniqueId val="{00000001-D62E-44D5-AF3E-F5EF367A8A49}"/>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DF1F6"/>
              </a:solidFill>
              <a:prstDash val="solid"/>
              <a:round/>
            </a:ln>
          </c:spPr>
        </c:majorGridlines>
        <c:title>
          <c:tx>
            <c:rich>
              <a:bodyPr/>
              <a:lstStyle/>
              <a:p>
                <a:pPr>
                  <a:defRPr sz="1000" b="0" i="0" u="none" strike="noStrike">
                    <a:solidFill>
                      <a:srgbClr val="5C6B7E"/>
                    </a:solidFill>
                    <a:latin typeface="Arial"/>
                  </a:defRPr>
                </a:pPr>
                <a:r>
                  <a:rPr lang="en-GB" sz="1000" b="0" i="0" u="none" strike="noStrike">
                    <a:solidFill>
                      <a:srgbClr val="5C6B7E"/>
                    </a:solidFill>
                    <a:latin typeface="Arial"/>
                  </a:rPr>
                  <a:t>PC1</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800" b="0" i="0" u="none" strike="noStrike">
                <a:solidFill>
                  <a:srgbClr val="5C6B7E"/>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DF1F6"/>
              </a:solidFill>
              <a:prstDash val="solid"/>
              <a:round/>
            </a:ln>
          </c:spPr>
        </c:majorGridlines>
        <c:title>
          <c:tx>
            <c:rich>
              <a:bodyPr/>
              <a:lstStyle/>
              <a:p>
                <a:pPr>
                  <a:defRPr sz="1000" b="0" i="0" u="none" strike="noStrike">
                    <a:solidFill>
                      <a:srgbClr val="5C6B7E"/>
                    </a:solidFill>
                    <a:latin typeface="Arial"/>
                  </a:defRPr>
                </a:pPr>
                <a:r>
                  <a:rPr lang="en-GB" sz="1000" b="0" i="0" u="none" strike="noStrike">
                    <a:solidFill>
                      <a:srgbClr val="5C6B7E"/>
                    </a:solidFill>
                    <a:latin typeface="Arial"/>
                  </a:rPr>
                  <a:t>PC2</a:t>
                </a:r>
              </a:p>
            </c:rich>
          </c:tx>
          <c:overlay val="0"/>
        </c:title>
        <c:numFmt formatCode="General" sourceLinked="0"/>
        <c:majorTickMark val="none"/>
        <c:minorTickMark val="none"/>
        <c:tickLblPos val="nextTo"/>
        <c:spPr>
          <a:ln w="12700" cap="flat">
            <a:solidFill>
              <a:srgbClr val="888888"/>
            </a:solidFill>
            <a:prstDash val="solid"/>
            <a:round/>
          </a:ln>
        </c:spPr>
        <c:txPr>
          <a:bodyPr/>
          <a:lstStyle/>
          <a:p>
            <a:pPr>
              <a:defRPr sz="800" b="0" i="0" u="none" strike="noStrike">
                <a:solidFill>
                  <a:srgbClr val="5C6B7E"/>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A2330"/>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Technical</c:v>
                </c:pt>
              </c:strCache>
            </c:strRef>
          </c:tx>
          <c:spPr>
            <a:solidFill>
              <a:srgbClr val="2E8FA8"/>
            </a:solidFill>
            <a:effectLst/>
          </c:spPr>
          <c:invertIfNegative val="0"/>
          <c:dLbls>
            <c:numFmt formatCode="0.00" sourceLinked="0"/>
            <c:spPr>
              <a:noFill/>
              <a:ln>
                <a:noFill/>
              </a:ln>
              <a:effectLst/>
            </c:spPr>
            <c:txPr>
              <a:bodyPr/>
              <a:lstStyle/>
              <a:p>
                <a:pPr>
                  <a:defRPr sz="10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TR  (repetition time)</c:v>
                </c:pt>
                <c:pt idx="1">
                  <c:v>TE  (echo time)</c:v>
                </c:pt>
                <c:pt idx="2">
                  <c:v>Acquisition matrix</c:v>
                </c:pt>
                <c:pt idx="3">
                  <c:v>Manufacturer</c:v>
                </c:pt>
                <c:pt idx="4">
                  <c:v>Field strength</c:v>
                </c:pt>
                <c:pt idx="5">
                  <c:v>Slice thickness</c:v>
                </c:pt>
                <c:pt idx="6">
                  <c:v>Molecular subtype</c:v>
                </c:pt>
              </c:strCache>
            </c:strRef>
          </c:cat>
          <c:val>
            <c:numRef>
              <c:f>Sheet1!$B$2:$B$8</c:f>
              <c:numCache>
                <c:formatCode>General</c:formatCode>
                <c:ptCount val="7"/>
                <c:pt idx="0">
                  <c:v>0.76</c:v>
                </c:pt>
                <c:pt idx="1">
                  <c:v>0.63</c:v>
                </c:pt>
                <c:pt idx="2">
                  <c:v>0.56999999999999995</c:v>
                </c:pt>
                <c:pt idx="3">
                  <c:v>0.49</c:v>
                </c:pt>
                <c:pt idx="4">
                  <c:v>0.09</c:v>
                </c:pt>
                <c:pt idx="5">
                  <c:v>7.0000000000000007E-2</c:v>
                </c:pt>
              </c:numCache>
            </c:numRef>
          </c:val>
          <c:extLst>
            <c:ext xmlns:c16="http://schemas.microsoft.com/office/drawing/2014/chart" uri="{C3380CC4-5D6E-409C-BE32-E72D297353CC}">
              <c16:uniqueId val="{00000000-18CB-4CCF-A1C1-9B7B2A5BCD05}"/>
            </c:ext>
          </c:extLst>
        </c:ser>
        <c:ser>
          <c:idx val="1"/>
          <c:order val="1"/>
          <c:tx>
            <c:strRef>
              <c:f>Sheet1!$C$1</c:f>
              <c:strCache>
                <c:ptCount val="1"/>
                <c:pt idx="0">
                  <c:v>Biological</c:v>
                </c:pt>
              </c:strCache>
            </c:strRef>
          </c:tx>
          <c:spPr>
            <a:solidFill>
              <a:srgbClr val="B33C3C"/>
            </a:solidFill>
            <a:effectLst/>
          </c:spPr>
          <c:invertIfNegative val="0"/>
          <c:dLbls>
            <c:numFmt formatCode="0.00" sourceLinked="0"/>
            <c:spPr>
              <a:noFill/>
              <a:ln>
                <a:noFill/>
              </a:ln>
              <a:effectLst/>
            </c:spPr>
            <c:txPr>
              <a:bodyPr/>
              <a:lstStyle/>
              <a:p>
                <a:pPr>
                  <a:defRPr sz="10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TR  (repetition time)</c:v>
                </c:pt>
                <c:pt idx="1">
                  <c:v>TE  (echo time)</c:v>
                </c:pt>
                <c:pt idx="2">
                  <c:v>Acquisition matrix</c:v>
                </c:pt>
                <c:pt idx="3">
                  <c:v>Manufacturer</c:v>
                </c:pt>
                <c:pt idx="4">
                  <c:v>Field strength</c:v>
                </c:pt>
                <c:pt idx="5">
                  <c:v>Slice thickness</c:v>
                </c:pt>
                <c:pt idx="6">
                  <c:v>Molecular subtype</c:v>
                </c:pt>
              </c:strCache>
            </c:strRef>
          </c:cat>
          <c:val>
            <c:numRef>
              <c:f>Sheet1!$C$2:$C$8</c:f>
              <c:numCache>
                <c:formatCode>General</c:formatCode>
                <c:ptCount val="7"/>
                <c:pt idx="6">
                  <c:v>0.04</c:v>
                </c:pt>
              </c:numCache>
            </c:numRef>
          </c:val>
          <c:extLst>
            <c:ext xmlns:c16="http://schemas.microsoft.com/office/drawing/2014/chart" uri="{C3380CC4-5D6E-409C-BE32-E72D297353CC}">
              <c16:uniqueId val="{00000001-18CB-4CCF-A1C1-9B7B2A5BCD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0"/>
        <c:axPos val="b"/>
        <c:majorGridlines>
          <c:spPr>
            <a:ln w="6350" cap="flat">
              <a:solidFill>
                <a:srgbClr val="EDF1F6"/>
              </a:solidFill>
              <a:prstDash val="solid"/>
              <a:round/>
            </a:ln>
          </c:spPr>
        </c:majorGridlines>
        <c:title>
          <c:tx>
            <c:rich>
              <a:bodyPr/>
              <a:lstStyle/>
              <a:p>
                <a:pPr>
                  <a:defRPr sz="1000" b="0" i="0" u="none" strike="noStrike">
                    <a:solidFill>
                      <a:srgbClr val="5C6B7E"/>
                    </a:solidFill>
                    <a:latin typeface="Arial"/>
                  </a:defRPr>
                </a:pPr>
                <a:r>
                  <a:rPr lang="en-GB" sz="1000" b="0" i="0" u="none" strike="noStrike">
                    <a:solidFill>
                      <a:srgbClr val="5C6B7E"/>
                    </a:solidFill>
                    <a:latin typeface="Arial"/>
                  </a:rPr>
                  <a:t>η²  (association strength with PC1)</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A2330"/>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ARI</c:v>
                </c:pt>
              </c:strCache>
            </c:strRef>
          </c:tx>
          <c:spPr>
            <a:solidFill>
              <a:srgbClr val="0B4F94"/>
            </a:solidFill>
            <a:effectLst/>
          </c:spPr>
          <c:invertIfNegative val="0"/>
          <c:dLbls>
            <c:numFmt formatCode="0.000" sourceLinked="0"/>
            <c:spPr>
              <a:noFill/>
              <a:ln>
                <a:noFill/>
              </a:ln>
              <a:effectLst/>
            </c:spPr>
            <c:txPr>
              <a:bodyPr/>
              <a:lstStyle/>
              <a:p>
                <a:pPr>
                  <a:defRPr sz="14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Raw</c:v>
                </c:pt>
                <c:pt idx="1">
                  <c:v>Residualized</c:v>
                </c:pt>
                <c:pt idx="2">
                  <c:v>ComBat</c:v>
                </c:pt>
              </c:strCache>
            </c:strRef>
          </c:cat>
          <c:val>
            <c:numRef>
              <c:f>Sheet1!$B$2:$B$4</c:f>
              <c:numCache>
                <c:formatCode>General</c:formatCode>
                <c:ptCount val="3"/>
                <c:pt idx="0">
                  <c:v>0.89300000000000002</c:v>
                </c:pt>
                <c:pt idx="1">
                  <c:v>0.91900000000000004</c:v>
                </c:pt>
                <c:pt idx="2">
                  <c:v>0.90300000000000002</c:v>
                </c:pt>
              </c:numCache>
            </c:numRef>
          </c:val>
          <c:extLst>
            <c:ext xmlns:c16="http://schemas.microsoft.com/office/drawing/2014/chart" uri="{C3380CC4-5D6E-409C-BE32-E72D297353CC}">
              <c16:uniqueId val="{00000000-83CA-49B0-A0B6-318F9F8C97F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DF1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ARI vs raw</c:v>
                </c:pt>
              </c:strCache>
            </c:strRef>
          </c:tx>
          <c:spPr>
            <a:solidFill>
              <a:srgbClr val="B33C3C"/>
            </a:solidFill>
            <a:effectLst/>
          </c:spPr>
          <c:invertIfNegative val="0"/>
          <c:dLbls>
            <c:numFmt formatCode="0.000" sourceLinked="0"/>
            <c:spPr>
              <a:noFill/>
              <a:ln>
                <a:noFill/>
              </a:ln>
              <a:effectLst/>
            </c:spPr>
            <c:txPr>
              <a:bodyPr/>
              <a:lstStyle/>
              <a:p>
                <a:pPr>
                  <a:defRPr sz="1400" b="1" i="0" u="none" strike="noStrike">
                    <a:solidFill>
                      <a:srgbClr val="082F5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Residualized</c:v>
                </c:pt>
                <c:pt idx="1">
                  <c:v>ComBat</c:v>
                </c:pt>
              </c:strCache>
            </c:strRef>
          </c:cat>
          <c:val>
            <c:numRef>
              <c:f>Sheet1!$B$2:$B$3</c:f>
              <c:numCache>
                <c:formatCode>General</c:formatCode>
                <c:ptCount val="2"/>
                <c:pt idx="0">
                  <c:v>5.6000000000000001E-2</c:v>
                </c:pt>
                <c:pt idx="1">
                  <c:v>6.5000000000000002E-2</c:v>
                </c:pt>
              </c:numCache>
            </c:numRef>
          </c:val>
          <c:extLst>
            <c:ext xmlns:c16="http://schemas.microsoft.com/office/drawing/2014/chart" uri="{C3380CC4-5D6E-409C-BE32-E72D297353CC}">
              <c16:uniqueId val="{00000000-ADFF-4BE8-ABD9-38609C3CE6B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1A2330"/>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DF1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538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“Good morning. This presentation is not about claiming a new breast MRI biomarker. It is about showing how a result can look like a biomarker, pass standard checks, and still fail once we test whether it is truly biological. </a:t>
            </a:r>
            <a:br>
              <a:rPr lang="en-GB" dirty="0"/>
            </a:br>
            <a:r>
              <a:rPr lang="en-GB" dirty="0"/>
              <a:t>Meaning a </a:t>
            </a:r>
            <a:r>
              <a:rPr lang="en-GB" sz="1200" kern="1200" dirty="0">
                <a:solidFill>
                  <a:schemeClr val="tx1"/>
                </a:solidFill>
                <a:effectLst/>
                <a:latin typeface="+mn-lt"/>
                <a:ea typeface="+mn-ea"/>
                <a:cs typeface="+mn-cs"/>
              </a:rPr>
              <a:t>cluster may be reproducible to resampling and demonstrate what appears to be meaningful prognostic signal but lack biological identity</a:t>
            </a:r>
            <a:br>
              <a:rPr lang="en-GB" sz="1200" kern="1200" dirty="0">
                <a:solidFill>
                  <a:schemeClr val="tx1"/>
                </a:solidFill>
                <a:effectLst/>
                <a:latin typeface="+mn-lt"/>
                <a:ea typeface="+mn-ea"/>
                <a:cs typeface="+mn-cs"/>
              </a:rPr>
            </a:br>
            <a:r>
              <a:rPr lang="en-GB" dirty="0"/>
              <a:t>The central message is simple: stability is not the same as validity.”</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The Stability Trap”: the mathematical illusion that a data partition is biologically valid simply because its underlying technical artifact is highly stable and reproducible.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“Radiomics means turning medical images into numbers. Instead of only looking at the MRI visually, we extract quantitative features: texture, enhancement, shape, vascularity, and heterogeneity. The promise is that these numbers may reveal hidden </a:t>
            </a:r>
            <a:r>
              <a:rPr lang="en-GB" dirty="0" err="1"/>
              <a:t>tumor</a:t>
            </a:r>
            <a:r>
              <a:rPr lang="en-GB" dirty="0"/>
              <a:t> subtypes. The risk is that MRI numbers are also affected by the machine: vendor, sequence settings, field strength, TR, TE, and reconstruction. So the key question is: what if the cluster we discover is stable, but only because the scanner effect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In statistics, </a:t>
            </a:r>
            <a:r>
              <a:rPr lang="en-GB" b="1" dirty="0"/>
              <a:t>stability</a:t>
            </a:r>
            <a:r>
              <a:rPr lang="en-GB" dirty="0"/>
              <a:t> means that a result stays similar when the data or analysis is slightly perturbed.</a:t>
            </a:r>
          </a:p>
          <a:p>
            <a:r>
              <a:rPr lang="en-GB" dirty="0"/>
              <a:t>Stability is considered a form of </a:t>
            </a:r>
            <a:r>
              <a:rPr lang="en-GB" b="1" dirty="0"/>
              <a:t>internal validation</a:t>
            </a:r>
            <a:r>
              <a:rPr lang="en-GB" dirty="0"/>
              <a:t>. Scientists use it to check whether a result is reproducible and not just random noise.</a:t>
            </a:r>
          </a:p>
          <a:p>
            <a:r>
              <a:rPr lang="en-GB" dirty="0"/>
              <a:t>If I repeat the clustering process on slightly different versions of the dataset, do I keep getting almost the same patient groups?</a:t>
            </a:r>
          </a:p>
          <a:p>
            <a:endParaRPr lang="en-GB" dirty="0"/>
          </a:p>
          <a:p>
            <a:r>
              <a:rPr lang="en-GB" dirty="0"/>
              <a:t>“The thesis of this talk is: stability is not biological validity. Stability metrics tell us whether a clustering result can be reproduced. They do not tell us whether the cluster represents </a:t>
            </a:r>
            <a:r>
              <a:rPr lang="en-GB" dirty="0" err="1"/>
              <a:t>tumor</a:t>
            </a:r>
            <a:r>
              <a:rPr lang="en-GB" dirty="0"/>
              <a:t> biology. A scanner artifact can be highly reproducible. So if we only ask, ‘Can I reproduce this cluster?’ we may miss the more important question: ‘What is this cluster actually representing?’”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“We </a:t>
            </a:r>
            <a:r>
              <a:rPr lang="en-GB" dirty="0" err="1"/>
              <a:t>analyzed</a:t>
            </a:r>
            <a:r>
              <a:rPr lang="en-GB" dirty="0"/>
              <a:t> 922 breast MRI patients and 529 radiomic features. The cohort includes two main scanner vendors: 628 GE exams and 294 Siemens exams. There were 87 recurrence events. The preprocessing was intentionally standard: remove highly missing or low-variance features, impute missing values using the median, and standardize features using z-scores. Z-scoring means putting all variables on the same scale, so one feature does not dominate simply because it has larger numerical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“Using a standard workflow, the result initially looks compelling. PCA was used first. PCA means reducing hundreds of features into a smaller number of summary axes that capture the main variation in the data. Then k-means clustering was applied. K-means simply tries to divide patients into k groups so patients inside each group are similar. The best k was 2. The silhouette score, </a:t>
            </a:r>
            <a:r>
              <a:rPr lang="en-GB" dirty="0" err="1"/>
              <a:t>Calinski-Harabasz</a:t>
            </a:r>
            <a:r>
              <a:rPr lang="en-GB" dirty="0"/>
              <a:t> index, and bootstrap ARI all supported that. But the important warning is that the PCA plot looked like a continuum, not two naturally separated islands.”</a:t>
            </a:r>
          </a:p>
          <a:p>
            <a:endParaRPr lang="en-GB" dirty="0"/>
          </a:p>
          <a:p>
            <a:r>
              <a:rPr lang="en-GB" dirty="0"/>
              <a:t>The top 10 pcs </a:t>
            </a:r>
            <a:r>
              <a:rPr lang="en-GB" dirty="0" err="1"/>
              <a:t>represtn</a:t>
            </a:r>
            <a:r>
              <a:rPr lang="en-GB" dirty="0"/>
              <a:t> 58% of the variation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A73F6-BC4B-9D67-368B-980FB01DED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B9E33-FF83-CC20-37DA-33370FEBE8E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9017A96C-4D05-6912-2746-DB7280E98C31}"/>
              </a:ext>
            </a:extLst>
          </p:cNvPr>
          <p:cNvSpPr>
            <a:spLocks noGrp="1"/>
          </p:cNvSpPr>
          <p:nvPr>
            <p:ph type="body" idx="1"/>
          </p:nvPr>
        </p:nvSpPr>
        <p:spPr/>
        <p:txBody>
          <a:bodyPr/>
          <a:lstStyle/>
          <a:p>
            <a:r>
              <a:rPr lang="en-GB" dirty="0"/>
              <a:t>“Using a standard workflow, the result initially looks compelling. PCA was used first. PCA means reducing hundreds of features into a smaller number of summary axes that capture the main variation in the data. Then k-means clustering was applied. K-means simply tries to divide patients into k groups so patients inside each group are similar. The best k was 2. The silhouette score, </a:t>
            </a:r>
            <a:r>
              <a:rPr lang="en-GB" dirty="0" err="1"/>
              <a:t>Calinski-Harabasz</a:t>
            </a:r>
            <a:r>
              <a:rPr lang="en-GB" dirty="0"/>
              <a:t> index, and bootstrap ARI all supported that. But the important warning is that the PCA plot looked like a continuum, not two naturally separated islands.”</a:t>
            </a:r>
            <a:endParaRPr lang="en-US" dirty="0"/>
          </a:p>
        </p:txBody>
      </p:sp>
      <p:sp>
        <p:nvSpPr>
          <p:cNvPr id="4" name="Slide Number Placeholder 3">
            <a:extLst>
              <a:ext uri="{FF2B5EF4-FFF2-40B4-BE49-F238E27FC236}">
                <a16:creationId xmlns:a16="http://schemas.microsoft.com/office/drawing/2014/main" id="{43339E41-A9D0-3C94-665E-9D4CAB741F5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38612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features separating the two clusters also looked biologically plausible. They were dominated by SER and PE features. SER means signal enhancement ratio, and PE means peak enhancement. In simple terms, these describe how strongly and how heterogeneously the </a:t>
            </a:r>
            <a:r>
              <a:rPr lang="en-GB" dirty="0" err="1"/>
              <a:t>tumor</a:t>
            </a:r>
            <a:r>
              <a:rPr lang="en-GB" dirty="0"/>
              <a:t> enhances after contrast. That naturally sounds like vascularity. But this is exactly where caution is needed: biological plausibility is not proof. A technical effect can still produce features that sound clinically meaningful.”</a:t>
            </a:r>
          </a:p>
          <a:p>
            <a:endParaRPr lang="en-GB" dirty="0"/>
          </a:p>
          <a:p>
            <a:r>
              <a:rPr lang="en-GB" dirty="0"/>
              <a:t>Cohen’s d measures how strongly a feature separates two groups, standardized by variability. Large absolute values mean the feature distributions overlap very little between clusters.” 0.8 is large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“In the HR-positive, HER2-positive subgroup, the raw clusters appeared to separate recurrence-free survival. Kaplan-Meier curves estimate the probability of remaining recurrence-free over time.</a:t>
            </a:r>
          </a:p>
          <a:p>
            <a:r>
              <a:rPr lang="en-GB" dirty="0"/>
              <a:t> The log-rank test compares whether two survival curves are statistically different. Here, the log-rank p-value was 0.010. The Cox model estimated a hazard ratio of 4.76, meaning Cluster 1 had higher estimated recurrence risk than Cluster 0. But this was based on only 10 recurrence events, so the estimate is unstable and imprecise.”</a:t>
            </a:r>
          </a:p>
          <a:p>
            <a:endParaRPr lang="en-GB" dirty="0"/>
          </a:p>
          <a:p>
            <a:r>
              <a:rPr lang="en-GB" sz="1200" b="1" i="0" kern="1200" dirty="0">
                <a:solidFill>
                  <a:schemeClr val="tx1"/>
                </a:solidFill>
                <a:effectLst/>
                <a:latin typeface="+mn-lt"/>
                <a:ea typeface="+mn-ea"/>
                <a:cs typeface="+mn-cs"/>
              </a:rPr>
              <a:t>The log-rank p test evaluates whether there is a statistically significant difference between the survival distributions of two or more groups.</a:t>
            </a:r>
          </a:p>
          <a:p>
            <a:endParaRPr lang="en-US" dirty="0"/>
          </a:p>
          <a:p>
            <a:r>
              <a:rPr lang="en-GB" dirty="0"/>
              <a:t>The Cox HR test is a statistical method used in survival analysis to test the significance of the hazard ratio (HR) derived from the Cox proportional hazards model. It helps determine whether the HR is equal to one, indicating no effect on the time to event, or whether it is greater than one, indicating a significant effect on the time to event.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760A4-74F2-368C-7BA6-466003934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6D93B-023E-8018-4B9A-A62CFD477B5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5E7420A-8758-3ED5-D07C-3B68D4D38F7A}"/>
              </a:ext>
            </a:extLst>
          </p:cNvPr>
          <p:cNvSpPr>
            <a:spLocks noGrp="1"/>
          </p:cNvSpPr>
          <p:nvPr>
            <p:ph type="body" idx="1"/>
          </p:nvPr>
        </p:nvSpPr>
        <p:spPr/>
        <p:txBody>
          <a:bodyPr/>
          <a:lstStyle/>
          <a:p>
            <a:r>
              <a:rPr lang="en-GB" dirty="0"/>
              <a:t>“In the HR-positive, HER2-positive subgroup, the raw clusters appeared to separate recurrence-free survival. Kaplan-Meier curves estimate the probability of remaining recurrence-free over time.</a:t>
            </a:r>
          </a:p>
          <a:p>
            <a:r>
              <a:rPr lang="en-GB" dirty="0"/>
              <a:t> The log-rank test compares whether two survival curves are statistically different. Here, the log-rank p-value was 0.010. The Cox model estimated a hazard ratio of 4.76, meaning Cluster 1 had higher estimated recurrence risk than Cluster 0. But this was based on only 10 recurrence events, so the estimate is unstable and imprecise.”</a:t>
            </a:r>
          </a:p>
          <a:p>
            <a:endParaRPr lang="en-GB" dirty="0"/>
          </a:p>
          <a:p>
            <a:r>
              <a:rPr lang="en-GB" sz="1200" b="1" i="0" kern="1200" dirty="0">
                <a:solidFill>
                  <a:schemeClr val="tx1"/>
                </a:solidFill>
                <a:effectLst/>
                <a:latin typeface="+mn-lt"/>
                <a:ea typeface="+mn-ea"/>
                <a:cs typeface="+mn-cs"/>
              </a:rPr>
              <a:t>The log-rank p test evaluates whether there is a statistically significant difference between the survival distributions of two or more groups.</a:t>
            </a:r>
          </a:p>
          <a:p>
            <a:endParaRPr lang="en-US" dirty="0"/>
          </a:p>
          <a:p>
            <a:r>
              <a:rPr lang="en-GB" dirty="0"/>
              <a:t>The Cox HR test is a statistical method used in survival analysis to test the significance of the hazard ratio (HR) derived from the Cox proportional hazards model. It helps determine whether the HR is equal to one, indicating no effect on the time to event, or whether it is greater than one, indicating a significant effect on the time to event. </a:t>
            </a:r>
            <a:endParaRPr lang="en-US" dirty="0"/>
          </a:p>
        </p:txBody>
      </p:sp>
      <p:sp>
        <p:nvSpPr>
          <p:cNvPr id="4" name="Slide Number Placeholder 3">
            <a:extLst>
              <a:ext uri="{FF2B5EF4-FFF2-40B4-BE49-F238E27FC236}">
                <a16:creationId xmlns:a16="http://schemas.microsoft.com/office/drawing/2014/main" id="{76E4560E-251D-0590-9FB1-CC05B9B0006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30994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Hinge of the talk. Pause here.
Speak slowly. Repeat the final line. This is the line the audience should remember when you reveal the manufacturer split two slides from now.</a:t>
            </a:r>
          </a:p>
          <a:p>
            <a:endParaRPr lang="en-US" dirty="0"/>
          </a:p>
          <a:p>
            <a:r>
              <a:rPr lang="en-GB" dirty="0"/>
              <a:t>“At this point, a conventional paper might start calling this a vascularity-like prognostic phenotype. But this study does not stop there. Now we ask a harder question: does the interpretation survive technical challenge? If the cluster is truly biological, technical correction should refine it. It should not completely replace which patients belong to which group.”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 first half of the pipeline creates the candidate: raw MRI features, preprocessing, PCA, k-means clustering, and stability testing. The second half tries to break the candidate: test whether the cluster is enriched for technical variables, remove manufacturer effects using </a:t>
            </a:r>
            <a:r>
              <a:rPr lang="en-GB" dirty="0" err="1"/>
              <a:t>residualization</a:t>
            </a:r>
            <a:r>
              <a:rPr lang="en-GB" dirty="0"/>
              <a:t> and </a:t>
            </a:r>
            <a:r>
              <a:rPr lang="en-GB" dirty="0" err="1"/>
              <a:t>ComBat</a:t>
            </a:r>
            <a:r>
              <a:rPr lang="en-GB" dirty="0"/>
              <a:t>, then check whether the same patients remain grouped together. </a:t>
            </a:r>
            <a:r>
              <a:rPr lang="en-GB" dirty="0" err="1"/>
              <a:t>ComBat</a:t>
            </a:r>
            <a:r>
              <a:rPr lang="en-GB" dirty="0"/>
              <a:t> is a harmonization method originally developed to reduce batch effects. Here, the batch is scanner manufacturer.”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separates two ideas. Stability asks: if I repeat the analysis under the same condition, do I get a similar cluster? Identity asks: after technical correction, are the same patients still grouped together? Both are measured using ARI, the adjusted Rand index. ARI compares two cluster </a:t>
            </a:r>
            <a:r>
              <a:rPr lang="en-GB" dirty="0" err="1"/>
              <a:t>labelings</a:t>
            </a:r>
            <a:r>
              <a:rPr lang="en-GB" dirty="0"/>
              <a:t>. A value near 1 means they are very similar. A value near 0 means they are almost unrelated. This study preserves stability but fails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“Here is the reveal. The raw cluster was strongly associated with manufacturer. Cluster 0 was mostly GE: 547 GE and only 39 Siemens. Cluster 1 was mostly Siemens: 255 Siemens and 81 GE. The manufacturer association had a p-value of 8 times 10 to the minus 104, which is overwhelming. By contrast, molecular subtype had p = 0.146 and whole-cohort recurrence had p = 0.766. So the cluster aligned much more with scanner vendor than with </a:t>
            </a:r>
            <a:r>
              <a:rPr lang="en-GB" dirty="0" err="1"/>
              <a:t>tumor</a:t>
            </a:r>
            <a:r>
              <a:rPr lang="en-GB" dirty="0"/>
              <a:t> subtype or recurrence.”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is the same PCA space </a:t>
            </a:r>
            <a:r>
              <a:rPr lang="en-GB" dirty="0" err="1"/>
              <a:t>colored</a:t>
            </a:r>
            <a:r>
              <a:rPr lang="en-GB" dirty="0"/>
              <a:t> two ways. On the left, patients are </a:t>
            </a:r>
            <a:r>
              <a:rPr lang="en-GB" dirty="0" err="1"/>
              <a:t>colored</a:t>
            </a:r>
            <a:r>
              <a:rPr lang="en-GB" dirty="0"/>
              <a:t> by raw cluster. On the right, they are </a:t>
            </a:r>
            <a:r>
              <a:rPr lang="en-GB" dirty="0" err="1"/>
              <a:t>colored</a:t>
            </a:r>
            <a:r>
              <a:rPr lang="en-GB" dirty="0"/>
              <a:t> by manufacturer. The two views are nearly interchangeable. This is the moment where the interpretation changes. The algorithm is not mainly recovering </a:t>
            </a:r>
            <a:r>
              <a:rPr lang="en-GB" dirty="0" err="1"/>
              <a:t>tumor</a:t>
            </a:r>
            <a:r>
              <a:rPr lang="en-GB" dirty="0"/>
              <a:t> biology. It is largely recovering the scanner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slide asks what drives PC1, the first and strongest PCA axis. TR explains about 0.76, TE about 0.63, acquisition matrix about 0.57, and manufacturer about 0.49. Molecular subtype stays below about 0.04 across the top PCs. TR and TE are MRI timing parameters. Eta-squared here is a measure of how much variation in a PC is associated with a variable. The contrast is the key point: technical variables dominate; subtype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is the stability trap. A cluster can be reproducible because the artifact is reproducible. High bootstrap ARI does not automatically mean biology. It may simply mean that the scanner-related structure is consistent. So the correct chain is: stability is not identity, and identity is not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is the visual </a:t>
            </a:r>
            <a:r>
              <a:rPr lang="en-GB" dirty="0" err="1"/>
              <a:t>center</a:t>
            </a:r>
            <a:r>
              <a:rPr lang="en-GB" dirty="0"/>
              <a:t> of the talk. Panel A shows that internal stability stayed high: raw, </a:t>
            </a:r>
            <a:r>
              <a:rPr lang="en-GB" dirty="0" err="1"/>
              <a:t>residualized</a:t>
            </a:r>
            <a:r>
              <a:rPr lang="en-GB" dirty="0"/>
              <a:t>, and </a:t>
            </a:r>
            <a:r>
              <a:rPr lang="en-GB" dirty="0" err="1"/>
              <a:t>ComBat</a:t>
            </a:r>
            <a:r>
              <a:rPr lang="en-GB" dirty="0"/>
              <a:t> clusters all had bootstrap ARI around 0.9. Panel B shows that identity collapsed: </a:t>
            </a:r>
            <a:r>
              <a:rPr lang="en-GB" dirty="0" err="1"/>
              <a:t>residualized</a:t>
            </a:r>
            <a:r>
              <a:rPr lang="en-GB" dirty="0"/>
              <a:t> and </a:t>
            </a:r>
            <a:r>
              <a:rPr lang="en-GB" dirty="0" err="1"/>
              <a:t>ComBat</a:t>
            </a:r>
            <a:r>
              <a:rPr lang="en-GB" dirty="0"/>
              <a:t> labels had ARI around 0.06 versus the raw labels. In plain language: the clusters remained reproducible, but the patients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“Here the alluvial plot shows where patients moved after harmonization. The raw two-cluster solution on the left is not preserved after correction on the right. Many patients are reassigned. ARI around 0.06 is close to random agreement. So harmonization did not simply clean the original phenotype. It replaced it with a different stable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7F2C9-0C1F-94C1-7D4B-D7E2EF016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B5743-86E3-FE60-B86A-2C6D6E24199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7455DD43-DE96-EFF0-01E8-133FAF66C870}"/>
              </a:ext>
            </a:extLst>
          </p:cNvPr>
          <p:cNvSpPr>
            <a:spLocks noGrp="1"/>
          </p:cNvSpPr>
          <p:nvPr>
            <p:ph type="body" idx="1"/>
          </p:nvPr>
        </p:nvSpPr>
        <p:spPr/>
        <p:txBody>
          <a:bodyPr/>
          <a:lstStyle/>
          <a:p>
            <a:r>
              <a:rPr lang="en-GB" dirty="0"/>
              <a:t>“Here the alluvial plot shows where patients moved after harmonization. The raw two-cluster solution on the left is not preserved after correction on the right. Many patients are reassigned. ARI around 0.06 is close to random agreement. So harmonization did not simply clean the original phenotype. It replaced it with a different stable structure.”</a:t>
            </a:r>
            <a:endParaRPr lang="en-US" dirty="0"/>
          </a:p>
        </p:txBody>
      </p:sp>
      <p:sp>
        <p:nvSpPr>
          <p:cNvPr id="4" name="Slide Number Placeholder 3">
            <a:extLst>
              <a:ext uri="{FF2B5EF4-FFF2-40B4-BE49-F238E27FC236}">
                <a16:creationId xmlns:a16="http://schemas.microsoft.com/office/drawing/2014/main" id="{D2D15D8B-D086-EDCB-74C3-CE8B4CD102F6}"/>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607096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Walk through the forest plot.
"Unadjusted HR 4.76 with confidence interval crossing well above 1."
"Once we adjust for manufacturer, the cluster HR drops to 2.48 and the CI now includes 1."
"Manufacturer itself, in the same model, is also non-significant but co-correlated."
Conclude: "Do not say the signal is false. Say it is not robust enough to support a biomarker claim.“</a:t>
            </a:r>
          </a:p>
          <a:p>
            <a:endParaRPr lang="en-US" dirty="0"/>
          </a:p>
          <a:p>
            <a:r>
              <a:rPr lang="en-GB" dirty="0"/>
              <a:t>“The survival signal also weakens after adjustment. The unadjusted Cox model gave HR = 4.76 and p = 0.020. After adjusting for manufacturer, the cluster hazard ratio dropped to 2.48 and became non-significant, with p = 0.291. The confidence interval becomes very wide and includes 1, meaning we cannot conclude a reliable effect. I would not say the signal is false. I would say it is not robust enough to support a biomarker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Three quick points. 30 seconds each.
Land on: "vendor-decoupled and size-linked is not the same as biologically validated.“</a:t>
            </a:r>
          </a:p>
          <a:p>
            <a:endParaRPr lang="en-US" dirty="0"/>
          </a:p>
          <a:p>
            <a:r>
              <a:rPr lang="en-GB" dirty="0"/>
              <a:t>“After correction, the new structure is cleaner with respect to vendor. Manufacturer association is removed. But cleaner does not mean biological. The strongest remaining association is </a:t>
            </a:r>
            <a:r>
              <a:rPr lang="en-GB" dirty="0" err="1"/>
              <a:t>tumor</a:t>
            </a:r>
            <a:r>
              <a:rPr lang="en-GB" dirty="0"/>
              <a:t> bounding-box volume, with p around 10 to the minus 26. In simple terms, after removing scanner effects, the cluster seems more related to </a:t>
            </a:r>
            <a:r>
              <a:rPr lang="en-GB" dirty="0" err="1"/>
              <a:t>tumor</a:t>
            </a:r>
            <a:r>
              <a:rPr lang="en-GB" dirty="0"/>
              <a:t> size than recurrence or subtype. That may be real structure, but it is not validated as a biological phenotype.”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Slow down. State the headline. Pause for at least 2 seconds.
Make sure the audience understands: this is the contribution of the work. The negative result is the result.</a:t>
            </a:r>
          </a:p>
          <a:p>
            <a:endParaRPr lang="en-US" dirty="0"/>
          </a:p>
          <a:p>
            <a:r>
              <a:rPr lang="en-GB" dirty="0"/>
              <a:t>“The negative result is the result. The raw phenotype looked stable, interpretable, and apparently prognostic. But falsification showed that it failed biological identity. The contribution of this work is not a new radiomic subtype. The contribution is identifying a failure mode: a stable technical artifact can masquerade as a biological phenotype.”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Four-point summary of the proposed minimum standard. Read each card briefly.
Close on: "Stability should START validation, not end it.“</a:t>
            </a:r>
          </a:p>
          <a:p>
            <a:endParaRPr lang="en-US" dirty="0"/>
          </a:p>
          <a:p>
            <a:r>
              <a:rPr lang="en-GB" dirty="0"/>
              <a:t>Before calling an unsupervised cluster a phenotype, we should stress-test it. Repeat discovery across raw, </a:t>
            </a:r>
            <a:r>
              <a:rPr lang="en-GB" dirty="0" err="1"/>
              <a:t>residualized</a:t>
            </a:r>
            <a:r>
              <a:rPr lang="en-GB" dirty="0"/>
              <a:t>, </a:t>
            </a:r>
            <a:r>
              <a:rPr lang="en-GB" dirty="0" err="1"/>
              <a:t>ComBat</a:t>
            </a:r>
            <a:r>
              <a:rPr lang="en-GB" dirty="0"/>
              <a:t>, and vendor-restricted conditions. Repeat the clinical test after harmonization and manufacturer adjustment. Report identity metrics such as ARI or NMI against the raw labels. And perform within-vendor sanity checks. Stability should start validation, not end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State limitations cleanly without minimizing them.
Then deliver the 3 conclusions slowly — read each one.
Conclusion 3 is the methodological pitch: acquisition-aware falsification as a minimum standard.</a:t>
            </a:r>
          </a:p>
          <a:p>
            <a:endParaRPr lang="en-US" dirty="0"/>
          </a:p>
          <a:p>
            <a:r>
              <a:rPr lang="en-GB" dirty="0"/>
              <a:t>“The limitations matter. The HR+/HER2+ subgroup had only 10 events, so survival estimates are unstable. </a:t>
            </a:r>
          </a:p>
          <a:p>
            <a:r>
              <a:rPr lang="en-GB" dirty="0"/>
              <a:t>Manufacturer is only a proxy; TR, TE, matrix, field strength, geometry, coils, and reconstruction co-vary. </a:t>
            </a:r>
          </a:p>
          <a:p>
            <a:r>
              <a:rPr lang="en-GB" dirty="0"/>
              <a:t>We only had feature-domain correction, not image-domain harmonization. </a:t>
            </a:r>
          </a:p>
          <a:p>
            <a:r>
              <a:rPr lang="en-GB" dirty="0"/>
              <a:t>K-means in PCA space is transparent but not exhaustive. </a:t>
            </a:r>
          </a:p>
          <a:p>
            <a:r>
              <a:rPr lang="en-GB" dirty="0"/>
              <a:t>And harmonization is not ground truth. The conclusion is that stable radiomic clusters can be technically induced, and acquisition-aware falsification should become a minimum standard.”</a:t>
            </a:r>
          </a:p>
          <a:p>
            <a:endParaRPr lang="en-GB" dirty="0"/>
          </a:p>
          <a:p>
            <a:r>
              <a:rPr lang="en-GB" dirty="0"/>
              <a:t>“Just because a signal disappears or changes after harmonization does not automatically prove the original signal was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Hold this slide. Invite questions. End calmly.</a:t>
            </a:r>
          </a:p>
          <a:p>
            <a:endParaRPr lang="en-US" dirty="0"/>
          </a:p>
          <a:p>
            <a:r>
              <a:rPr lang="en-GB" dirty="0"/>
              <a:t>“Thank you. The main takeaway is that stability should be treated as the beginning of validation, not the end.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US" dirty="0"/>
              <a:t>Backup section.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table shows the analysis matrix construction. We started with 922 patients and 529 imaging features. No variables were removed by the missingness or low-variance filters. Remaining missing values were median-imputed, and all features were z-score standardized before PCA, clustering, harmonization, and survival </a:t>
            </a:r>
            <a:r>
              <a:rPr lang="en-GB" dirty="0" err="1"/>
              <a:t>modeling</a:t>
            </a:r>
            <a:r>
              <a:rPr lang="en-GB"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“These are the top raw cluster-separating features. Most are SER, PE, and enhancement-texture descriptors. They explain why the cluster looked vascularity-like. But the main talk shows why this feature story is not enough: acquisition sensitivity must be ruled out before using biological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table supports the claim that the raw cluster was not meaningfully subtype-defined or recurrence-defined in the whole cohort. Molecular subtype and recurrence distributions do not show the same overwhelming separation that manufacturer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is the numerical version of the central result. Raw bootstrap ARI was 0.893. </a:t>
            </a:r>
            <a:r>
              <a:rPr lang="en-GB" dirty="0" err="1"/>
              <a:t>Residualized</a:t>
            </a:r>
            <a:r>
              <a:rPr lang="en-GB" dirty="0"/>
              <a:t> and </a:t>
            </a:r>
            <a:r>
              <a:rPr lang="en-GB" dirty="0" err="1"/>
              <a:t>ComBat</a:t>
            </a:r>
            <a:r>
              <a:rPr lang="en-GB" dirty="0"/>
              <a:t> clusters were also stable, with ARI around 0.919 and 0.903. But their ARI against the raw labels was only about 0.056 and 0.065. Stability stayed high; identity collapsed.”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is the manufacturer-adjusted Cox model in the HR+/HER2+ subgroup. The raw cluster effect drops and becomes non-significant. Manufacturer is also non-significant, but the model is underpowered because there are only 10 events and two correlated predictors. So this model should be read as a robustness failure, not as a definitive causal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This table gives the full adjudication. Endpoint association was not robust. Incremental predictive value was not shown. Within-vendor consistency was not sufficient. Therefore, the residual structure fails the biomarker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F5B"/>
        </a:solidFill>
        <a:effectLst/>
      </p:bgPr>
    </p:bg>
    <p:spTree>
      <p:nvGrpSpPr>
        <p:cNvPr id="1" name=""/>
        <p:cNvGrpSpPr/>
        <p:nvPr/>
      </p:nvGrpSpPr>
      <p:grpSpPr>
        <a:xfrm>
          <a:off x="0" y="0"/>
          <a:ext cx="0" cy="0"/>
          <a:chOff x="0" y="0"/>
          <a:chExt cx="0" cy="0"/>
        </a:xfrm>
      </p:grpSpPr>
      <p:sp>
        <p:nvSpPr>
          <p:cNvPr id="2" name="Shape 0"/>
          <p:cNvSpPr/>
          <p:nvPr/>
        </p:nvSpPr>
        <p:spPr>
          <a:xfrm>
            <a:off x="0" y="365760"/>
            <a:ext cx="12191695" cy="13716"/>
          </a:xfrm>
          <a:prstGeom prst="rect">
            <a:avLst/>
          </a:prstGeom>
          <a:solidFill>
            <a:srgbClr val="FFFFFF">
              <a:alpha val="8000"/>
            </a:srgbClr>
          </a:solidFill>
          <a:ln/>
        </p:spPr>
        <p:txBody>
          <a:bodyPr/>
          <a:lstStyle/>
          <a:p>
            <a:endParaRPr lang="en-GB"/>
          </a:p>
        </p:txBody>
      </p:sp>
      <p:sp>
        <p:nvSpPr>
          <p:cNvPr id="3" name="Shape 1"/>
          <p:cNvSpPr/>
          <p:nvPr/>
        </p:nvSpPr>
        <p:spPr>
          <a:xfrm>
            <a:off x="0" y="1143000"/>
            <a:ext cx="12191695" cy="13716"/>
          </a:xfrm>
          <a:prstGeom prst="rect">
            <a:avLst/>
          </a:prstGeom>
          <a:solidFill>
            <a:srgbClr val="FFFFFF">
              <a:alpha val="8000"/>
            </a:srgbClr>
          </a:solidFill>
          <a:ln/>
        </p:spPr>
        <p:txBody>
          <a:bodyPr/>
          <a:lstStyle/>
          <a:p>
            <a:endParaRPr lang="en-GB"/>
          </a:p>
        </p:txBody>
      </p:sp>
      <p:sp>
        <p:nvSpPr>
          <p:cNvPr id="4" name="Shape 2"/>
          <p:cNvSpPr/>
          <p:nvPr/>
        </p:nvSpPr>
        <p:spPr>
          <a:xfrm>
            <a:off x="0" y="1920240"/>
            <a:ext cx="12191695" cy="13716"/>
          </a:xfrm>
          <a:prstGeom prst="rect">
            <a:avLst/>
          </a:prstGeom>
          <a:solidFill>
            <a:srgbClr val="FFFFFF">
              <a:alpha val="8000"/>
            </a:srgbClr>
          </a:solidFill>
          <a:ln/>
        </p:spPr>
        <p:txBody>
          <a:bodyPr/>
          <a:lstStyle/>
          <a:p>
            <a:endParaRPr lang="en-GB"/>
          </a:p>
        </p:txBody>
      </p:sp>
      <p:sp>
        <p:nvSpPr>
          <p:cNvPr id="5" name="Shape 3"/>
          <p:cNvSpPr/>
          <p:nvPr/>
        </p:nvSpPr>
        <p:spPr>
          <a:xfrm>
            <a:off x="0" y="2697480"/>
            <a:ext cx="12191695" cy="13716"/>
          </a:xfrm>
          <a:prstGeom prst="rect">
            <a:avLst/>
          </a:prstGeom>
          <a:solidFill>
            <a:srgbClr val="FFFFFF">
              <a:alpha val="8000"/>
            </a:srgbClr>
          </a:solidFill>
          <a:ln/>
        </p:spPr>
        <p:txBody>
          <a:bodyPr/>
          <a:lstStyle/>
          <a:p>
            <a:endParaRPr lang="en-GB"/>
          </a:p>
        </p:txBody>
      </p:sp>
      <p:sp>
        <p:nvSpPr>
          <p:cNvPr id="6" name="Shape 4"/>
          <p:cNvSpPr/>
          <p:nvPr/>
        </p:nvSpPr>
        <p:spPr>
          <a:xfrm>
            <a:off x="0" y="3474720"/>
            <a:ext cx="12191695" cy="13716"/>
          </a:xfrm>
          <a:prstGeom prst="rect">
            <a:avLst/>
          </a:prstGeom>
          <a:solidFill>
            <a:srgbClr val="FFFFFF">
              <a:alpha val="8000"/>
            </a:srgbClr>
          </a:solidFill>
          <a:ln/>
        </p:spPr>
        <p:txBody>
          <a:bodyPr/>
          <a:lstStyle/>
          <a:p>
            <a:endParaRPr lang="en-GB"/>
          </a:p>
        </p:txBody>
      </p:sp>
      <p:sp>
        <p:nvSpPr>
          <p:cNvPr id="7" name="Shape 5"/>
          <p:cNvSpPr/>
          <p:nvPr/>
        </p:nvSpPr>
        <p:spPr>
          <a:xfrm>
            <a:off x="0" y="4251960"/>
            <a:ext cx="12191695" cy="13716"/>
          </a:xfrm>
          <a:prstGeom prst="rect">
            <a:avLst/>
          </a:prstGeom>
          <a:solidFill>
            <a:srgbClr val="FFFFFF">
              <a:alpha val="8000"/>
            </a:srgbClr>
          </a:solidFill>
          <a:ln/>
        </p:spPr>
        <p:txBody>
          <a:bodyPr/>
          <a:lstStyle/>
          <a:p>
            <a:endParaRPr lang="en-GB"/>
          </a:p>
        </p:txBody>
      </p:sp>
      <p:sp>
        <p:nvSpPr>
          <p:cNvPr id="8" name="Shape 6"/>
          <p:cNvSpPr/>
          <p:nvPr/>
        </p:nvSpPr>
        <p:spPr>
          <a:xfrm>
            <a:off x="0" y="5029200"/>
            <a:ext cx="12191695" cy="13716"/>
          </a:xfrm>
          <a:prstGeom prst="rect">
            <a:avLst/>
          </a:prstGeom>
          <a:solidFill>
            <a:srgbClr val="FFFFFF">
              <a:alpha val="8000"/>
            </a:srgbClr>
          </a:solidFill>
          <a:ln/>
        </p:spPr>
        <p:txBody>
          <a:bodyPr/>
          <a:lstStyle/>
          <a:p>
            <a:endParaRPr lang="en-GB"/>
          </a:p>
        </p:txBody>
      </p:sp>
      <p:sp>
        <p:nvSpPr>
          <p:cNvPr id="9" name="Shape 7"/>
          <p:cNvSpPr/>
          <p:nvPr/>
        </p:nvSpPr>
        <p:spPr>
          <a:xfrm>
            <a:off x="0" y="5806440"/>
            <a:ext cx="12191695" cy="13716"/>
          </a:xfrm>
          <a:prstGeom prst="rect">
            <a:avLst/>
          </a:prstGeom>
          <a:solidFill>
            <a:srgbClr val="FFFFFF">
              <a:alpha val="8000"/>
            </a:srgbClr>
          </a:solidFill>
          <a:ln/>
        </p:spPr>
        <p:txBody>
          <a:bodyPr/>
          <a:lstStyle/>
          <a:p>
            <a:endParaRPr lang="en-GB"/>
          </a:p>
        </p:txBody>
      </p:sp>
      <p:sp>
        <p:nvSpPr>
          <p:cNvPr id="10" name="Text 8"/>
          <p:cNvSpPr/>
          <p:nvPr/>
        </p:nvSpPr>
        <p:spPr>
          <a:xfrm>
            <a:off x="640080" y="822960"/>
            <a:ext cx="10972800" cy="365760"/>
          </a:xfrm>
          <a:prstGeom prst="rect">
            <a:avLst/>
          </a:prstGeom>
          <a:noFill/>
          <a:ln/>
        </p:spPr>
        <p:txBody>
          <a:bodyPr wrap="square" lIns="0" tIns="0" rIns="0" bIns="0" rtlCol="0" anchor="ctr"/>
          <a:lstStyle/>
          <a:p>
            <a:pPr marL="0" indent="0">
              <a:buNone/>
            </a:pPr>
            <a:r>
              <a:rPr lang="en-US" sz="1100" b="1" kern="0" spc="600" dirty="0">
                <a:solidFill>
                  <a:srgbClr val="9DB3CC"/>
                </a:solidFill>
                <a:latin typeface="Aptos" pitchFamily="34" charset="0"/>
                <a:ea typeface="Aptos" pitchFamily="34" charset="-122"/>
                <a:cs typeface="Aptos" pitchFamily="34" charset="-120"/>
              </a:rPr>
              <a:t>DEPARTMENT OF MATHEMATICS ·  PROJECT</a:t>
            </a:r>
            <a:endParaRPr lang="en-US" sz="1100" dirty="0"/>
          </a:p>
        </p:txBody>
      </p:sp>
      <p:sp>
        <p:nvSpPr>
          <p:cNvPr id="11" name="Shape 9"/>
          <p:cNvSpPr/>
          <p:nvPr/>
        </p:nvSpPr>
        <p:spPr>
          <a:xfrm>
            <a:off x="658368" y="1371600"/>
            <a:ext cx="457200" cy="45720"/>
          </a:xfrm>
          <a:prstGeom prst="rect">
            <a:avLst/>
          </a:prstGeom>
          <a:solidFill>
            <a:srgbClr val="9DB3CC"/>
          </a:solidFill>
          <a:ln/>
        </p:spPr>
        <p:txBody>
          <a:bodyPr/>
          <a:lstStyle/>
          <a:p>
            <a:endParaRPr lang="en-GB"/>
          </a:p>
        </p:txBody>
      </p:sp>
      <p:sp>
        <p:nvSpPr>
          <p:cNvPr id="12" name="Text 10"/>
          <p:cNvSpPr/>
          <p:nvPr/>
        </p:nvSpPr>
        <p:spPr>
          <a:xfrm>
            <a:off x="640080" y="1691640"/>
            <a:ext cx="10972800" cy="1280160"/>
          </a:xfrm>
          <a:prstGeom prst="rect">
            <a:avLst/>
          </a:prstGeom>
          <a:noFill/>
          <a:ln/>
        </p:spPr>
        <p:txBody>
          <a:bodyPr wrap="square" lIns="0" tIns="0" rIns="0" bIns="0" rtlCol="0" anchor="ctr"/>
          <a:lstStyle/>
          <a:p>
            <a:pPr marL="0" indent="0">
              <a:buNone/>
            </a:pPr>
            <a:r>
              <a:rPr lang="en-US" sz="6000" b="1" dirty="0">
                <a:solidFill>
                  <a:srgbClr val="FFFFFF"/>
                </a:solidFill>
                <a:latin typeface="Aptos Display" pitchFamily="34" charset="0"/>
                <a:ea typeface="Aptos Display" pitchFamily="34" charset="-122"/>
                <a:cs typeface="Aptos Display" pitchFamily="34" charset="-120"/>
              </a:rPr>
              <a:t>Trapped by Stability</a:t>
            </a:r>
            <a:endParaRPr lang="en-US" sz="6000" dirty="0"/>
          </a:p>
        </p:txBody>
      </p:sp>
      <p:sp>
        <p:nvSpPr>
          <p:cNvPr id="13" name="Text 11"/>
          <p:cNvSpPr/>
          <p:nvPr/>
        </p:nvSpPr>
        <p:spPr>
          <a:xfrm>
            <a:off x="640080" y="3063240"/>
            <a:ext cx="10972800" cy="640080"/>
          </a:xfrm>
          <a:prstGeom prst="rect">
            <a:avLst/>
          </a:prstGeom>
          <a:noFill/>
          <a:ln/>
        </p:spPr>
        <p:txBody>
          <a:bodyPr wrap="square" lIns="0" tIns="0" rIns="0" bIns="0" rtlCol="0" anchor="ctr"/>
          <a:lstStyle/>
          <a:p>
            <a:pPr marL="0" indent="0">
              <a:buNone/>
            </a:pPr>
            <a:r>
              <a:rPr lang="en-US" sz="2200" i="1" dirty="0">
                <a:solidFill>
                  <a:srgbClr val="CDD9EA"/>
                </a:solidFill>
                <a:latin typeface="Aptos Display" pitchFamily="34" charset="0"/>
                <a:ea typeface="Aptos Display" pitchFamily="34" charset="-122"/>
                <a:cs typeface="Aptos Display" pitchFamily="34" charset="-120"/>
              </a:rPr>
              <a:t>A Falsification Framework for Acquisition-Driven Radiomic Phenotypes</a:t>
            </a:r>
            <a:endParaRPr lang="en-US" sz="2200" dirty="0"/>
          </a:p>
        </p:txBody>
      </p:sp>
      <p:sp>
        <p:nvSpPr>
          <p:cNvPr id="14" name="Text 12"/>
          <p:cNvSpPr/>
          <p:nvPr/>
        </p:nvSpPr>
        <p:spPr>
          <a:xfrm>
            <a:off x="640080" y="3703320"/>
            <a:ext cx="10972800" cy="457200"/>
          </a:xfrm>
          <a:prstGeom prst="rect">
            <a:avLst/>
          </a:prstGeom>
          <a:noFill/>
          <a:ln/>
        </p:spPr>
        <p:txBody>
          <a:bodyPr wrap="square" lIns="0" tIns="0" rIns="0" bIns="0" rtlCol="0" anchor="ctr"/>
          <a:lstStyle/>
          <a:p>
            <a:pPr marL="0" indent="0">
              <a:buNone/>
            </a:pPr>
            <a:r>
              <a:rPr lang="en-US" sz="1600" dirty="0">
                <a:solidFill>
                  <a:srgbClr val="9DB3CC"/>
                </a:solidFill>
                <a:latin typeface="Aptos" pitchFamily="34" charset="0"/>
                <a:ea typeface="Aptos" pitchFamily="34" charset="-122"/>
                <a:cs typeface="Aptos" pitchFamily="34" charset="-120"/>
              </a:rPr>
              <a:t>Multi-vendor breast MRI reanalysis in 922 patients</a:t>
            </a:r>
            <a:endParaRPr lang="en-US" sz="1600" dirty="0"/>
          </a:p>
        </p:txBody>
      </p:sp>
      <p:sp>
        <p:nvSpPr>
          <p:cNvPr id="15" name="Shape 13"/>
          <p:cNvSpPr/>
          <p:nvPr/>
        </p:nvSpPr>
        <p:spPr>
          <a:xfrm>
            <a:off x="658368" y="4572000"/>
            <a:ext cx="1097280" cy="18288"/>
          </a:xfrm>
          <a:prstGeom prst="rect">
            <a:avLst/>
          </a:prstGeom>
          <a:solidFill>
            <a:srgbClr val="4E78A0"/>
          </a:solidFill>
          <a:ln/>
        </p:spPr>
        <p:txBody>
          <a:bodyPr/>
          <a:lstStyle/>
          <a:p>
            <a:endParaRPr lang="en-GB"/>
          </a:p>
        </p:txBody>
      </p:sp>
      <p:sp>
        <p:nvSpPr>
          <p:cNvPr id="16" name="Text 14"/>
          <p:cNvSpPr/>
          <p:nvPr/>
        </p:nvSpPr>
        <p:spPr>
          <a:xfrm>
            <a:off x="658368" y="4568549"/>
            <a:ext cx="6858000" cy="1645920"/>
          </a:xfrm>
          <a:prstGeom prst="rect">
            <a:avLst/>
          </a:prstGeom>
          <a:noFill/>
          <a:ln/>
        </p:spPr>
        <p:txBody>
          <a:bodyPr wrap="square" lIns="0" tIns="0" rIns="0" bIns="0" rtlCol="0" anchor="ctr"/>
          <a:lstStyle/>
          <a:p>
            <a:pPr marL="0" indent="0">
              <a:spcAft>
                <a:spcPts val="200"/>
              </a:spcAft>
              <a:buNone/>
            </a:pPr>
            <a:r>
              <a:rPr lang="en-US" sz="1100" kern="0" spc="300" dirty="0">
                <a:solidFill>
                  <a:srgbClr val="9DB3CC"/>
                </a:solidFill>
                <a:latin typeface="Aptos" pitchFamily="34" charset="0"/>
                <a:ea typeface="Aptos" pitchFamily="34" charset="-122"/>
                <a:cs typeface="Aptos" pitchFamily="34" charset="-120"/>
              </a:rPr>
              <a:t>Presented by  </a:t>
            </a:r>
            <a:r>
              <a:rPr lang="en-US" sz="1400" b="1" kern="0" spc="300" dirty="0">
                <a:solidFill>
                  <a:srgbClr val="FFFFFF"/>
                </a:solidFill>
                <a:latin typeface="Aptos" pitchFamily="34" charset="0"/>
                <a:ea typeface="Aptos" pitchFamily="34" charset="-122"/>
                <a:cs typeface="Aptos" pitchFamily="34" charset="-120"/>
              </a:rPr>
              <a:t>Malek M. Itani</a:t>
            </a:r>
            <a:endParaRPr lang="en-US" sz="1100" b="1" dirty="0"/>
          </a:p>
          <a:p>
            <a:pPr marL="0" indent="0">
              <a:spcAft>
                <a:spcPts val="200"/>
              </a:spcAft>
              <a:buNone/>
            </a:pPr>
            <a:r>
              <a:rPr lang="en-US" sz="1100" kern="0" spc="300" dirty="0">
                <a:solidFill>
                  <a:srgbClr val="9DB3CC"/>
                </a:solidFill>
                <a:latin typeface="Aptos" pitchFamily="34" charset="0"/>
                <a:ea typeface="Aptos" pitchFamily="34" charset="-122"/>
                <a:cs typeface="Aptos" pitchFamily="34" charset="-120"/>
              </a:rPr>
              <a:t>Supervisor  </a:t>
            </a:r>
            <a:r>
              <a:rPr lang="en-US" sz="1200" dirty="0">
                <a:solidFill>
                  <a:srgbClr val="FFFFFF"/>
                </a:solidFill>
                <a:latin typeface="Aptos" pitchFamily="34" charset="0"/>
                <a:ea typeface="Aptos" pitchFamily="34" charset="-122"/>
                <a:cs typeface="Aptos" pitchFamily="34" charset="-120"/>
              </a:rPr>
              <a:t>Dr. Lama Affara</a:t>
            </a:r>
            <a:endParaRPr lang="en-US" sz="1100" dirty="0"/>
          </a:p>
        </p:txBody>
      </p:sp>
      <p:sp>
        <p:nvSpPr>
          <p:cNvPr id="17" name="Text 15"/>
          <p:cNvSpPr/>
          <p:nvPr/>
        </p:nvSpPr>
        <p:spPr>
          <a:xfrm>
            <a:off x="9326880" y="4898898"/>
            <a:ext cx="2286000" cy="914400"/>
          </a:xfrm>
          <a:prstGeom prst="rect">
            <a:avLst/>
          </a:prstGeom>
          <a:noFill/>
          <a:ln/>
        </p:spPr>
        <p:txBody>
          <a:bodyPr wrap="square" lIns="0" tIns="0" rIns="0" bIns="0" rtlCol="0" anchor="ctr"/>
          <a:lstStyle/>
          <a:p>
            <a:pPr marL="0" indent="0" algn="r">
              <a:buNone/>
            </a:pPr>
            <a:r>
              <a:rPr lang="en-US" sz="1000" b="1" kern="0" spc="400" dirty="0">
                <a:solidFill>
                  <a:srgbClr val="9DB3CC"/>
                </a:solidFill>
                <a:latin typeface="Aptos" pitchFamily="34" charset="0"/>
                <a:ea typeface="Aptos" pitchFamily="34" charset="-122"/>
                <a:cs typeface="Aptos" pitchFamily="34" charset="-120"/>
              </a:rPr>
              <a:t>DATE</a:t>
            </a:r>
            <a:endParaRPr lang="en-US" sz="1000" dirty="0"/>
          </a:p>
          <a:p>
            <a:pPr marL="0" indent="0" algn="r">
              <a:buNone/>
            </a:pPr>
            <a:r>
              <a:rPr lang="en-US" sz="1400" b="1" dirty="0">
                <a:solidFill>
                  <a:srgbClr val="FFFFFF"/>
                </a:solidFill>
                <a:latin typeface="Aptos" pitchFamily="34" charset="0"/>
                <a:ea typeface="Aptos" pitchFamily="34" charset="-122"/>
                <a:cs typeface="Aptos" pitchFamily="34" charset="-120"/>
              </a:rPr>
              <a:t>20 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01  ·  MOTIVATION</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marL="0" indent="0" algn="r">
              <a:buNone/>
            </a:pP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THE PROMISE — AND THE RISK</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Radiomics promises biology from imaging alone.</a:t>
            </a:r>
            <a:endParaRPr lang="en-US" sz="2800" dirty="0"/>
          </a:p>
        </p:txBody>
      </p:sp>
      <p:sp>
        <p:nvSpPr>
          <p:cNvPr id="9" name="Shape 7"/>
          <p:cNvSpPr/>
          <p:nvPr/>
        </p:nvSpPr>
        <p:spPr>
          <a:xfrm>
            <a:off x="548640" y="2103120"/>
            <a:ext cx="5486400" cy="3474720"/>
          </a:xfrm>
          <a:prstGeom prst="rect">
            <a:avLst/>
          </a:prstGeom>
          <a:solidFill>
            <a:srgbClr val="F4F6FA"/>
          </a:solidFill>
          <a:ln/>
        </p:spPr>
        <p:txBody>
          <a:bodyPr/>
          <a:lstStyle/>
          <a:p>
            <a:endParaRPr lang="en-GB"/>
          </a:p>
        </p:txBody>
      </p:sp>
      <p:sp>
        <p:nvSpPr>
          <p:cNvPr id="10" name="Shape 8"/>
          <p:cNvSpPr/>
          <p:nvPr/>
        </p:nvSpPr>
        <p:spPr>
          <a:xfrm>
            <a:off x="548640" y="2103120"/>
            <a:ext cx="73152" cy="3474720"/>
          </a:xfrm>
          <a:prstGeom prst="rect">
            <a:avLst/>
          </a:prstGeom>
          <a:solidFill>
            <a:srgbClr val="0B4F94"/>
          </a:solidFill>
          <a:ln/>
        </p:spPr>
        <p:txBody>
          <a:bodyPr/>
          <a:lstStyle/>
          <a:p>
            <a:endParaRPr lang="en-GB"/>
          </a:p>
        </p:txBody>
      </p:sp>
      <p:sp>
        <p:nvSpPr>
          <p:cNvPr id="11" name="Text 9"/>
          <p:cNvSpPr/>
          <p:nvPr/>
        </p:nvSpPr>
        <p:spPr>
          <a:xfrm>
            <a:off x="868680" y="2331720"/>
            <a:ext cx="4572000" cy="274320"/>
          </a:xfrm>
          <a:prstGeom prst="rect">
            <a:avLst/>
          </a:prstGeom>
          <a:noFill/>
          <a:ln/>
        </p:spPr>
        <p:txBody>
          <a:bodyPr wrap="square" lIns="0" tIns="0" rIns="0" bIns="0" rtlCol="0" anchor="ctr"/>
          <a:lstStyle/>
          <a:p>
            <a:pPr marL="0" indent="0">
              <a:buNone/>
            </a:pPr>
            <a:r>
              <a:rPr lang="en-US" sz="1000" b="1" kern="0" spc="400" dirty="0">
                <a:solidFill>
                  <a:srgbClr val="0B4F94"/>
                </a:solidFill>
                <a:latin typeface="Aptos" pitchFamily="34" charset="0"/>
                <a:ea typeface="Aptos" pitchFamily="34" charset="-122"/>
                <a:cs typeface="Aptos" pitchFamily="34" charset="-120"/>
              </a:rPr>
              <a:t>THE PROMISE</a:t>
            </a:r>
            <a:endParaRPr lang="en-US" sz="1000" dirty="0"/>
          </a:p>
        </p:txBody>
      </p:sp>
      <p:sp>
        <p:nvSpPr>
          <p:cNvPr id="12" name="Text 10"/>
          <p:cNvSpPr/>
          <p:nvPr/>
        </p:nvSpPr>
        <p:spPr>
          <a:xfrm>
            <a:off x="868680" y="2697480"/>
            <a:ext cx="4937760" cy="1554480"/>
          </a:xfrm>
          <a:prstGeom prst="rect">
            <a:avLst/>
          </a:prstGeom>
          <a:noFill/>
          <a:ln/>
        </p:spPr>
        <p:txBody>
          <a:bodyPr wrap="square" lIns="0" tIns="0" rIns="0" bIns="0" rtlCol="0" anchor="ctr"/>
          <a:lstStyle/>
          <a:p>
            <a:pPr marL="0" indent="0">
              <a:spcAft>
                <a:spcPts val="600"/>
              </a:spcAft>
              <a:buNone/>
            </a:pPr>
            <a:r>
              <a:rPr lang="en-US" sz="1400" dirty="0">
                <a:solidFill>
                  <a:srgbClr val="1A2330"/>
                </a:solidFill>
                <a:latin typeface="Aptos" pitchFamily="34" charset="0"/>
                <a:ea typeface="Aptos" pitchFamily="34" charset="-122"/>
                <a:cs typeface="Aptos" pitchFamily="34" charset="-120"/>
              </a:rPr>
              <a:t>Quantitative descriptors of vascularity, morphology, cellularity, and heterogeneity can reveal latent imaging phenotypes that visual reading and receptor labels cannot.</a:t>
            </a:r>
            <a:endParaRPr lang="en-US" sz="1400" dirty="0"/>
          </a:p>
        </p:txBody>
      </p:sp>
      <p:sp>
        <p:nvSpPr>
          <p:cNvPr id="13" name="Text 11"/>
          <p:cNvSpPr/>
          <p:nvPr/>
        </p:nvSpPr>
        <p:spPr>
          <a:xfrm>
            <a:off x="868680" y="4251960"/>
            <a:ext cx="4937760" cy="1097280"/>
          </a:xfrm>
          <a:prstGeom prst="rect">
            <a:avLst/>
          </a:prstGeom>
          <a:noFill/>
          <a:ln/>
        </p:spPr>
        <p:txBody>
          <a:bodyPr wrap="square" lIns="0" tIns="0" rIns="0" bIns="0" rtlCol="0" anchor="ctr"/>
          <a:lstStyle/>
          <a:p>
            <a:pPr marL="0" indent="0">
              <a:buNone/>
            </a:pPr>
            <a:r>
              <a:rPr lang="en-US" sz="1300" i="1" dirty="0">
                <a:solidFill>
                  <a:srgbClr val="5C6B7E"/>
                </a:solidFill>
                <a:latin typeface="Aptos" pitchFamily="34" charset="0"/>
                <a:ea typeface="Aptos" pitchFamily="34" charset="-122"/>
                <a:cs typeface="Aptos" pitchFamily="34" charset="-120"/>
              </a:rPr>
              <a:t>Breast DCE-MRI offers a particularly rich substrate — enhancement kinetics, texture, washout.</a:t>
            </a:r>
            <a:endParaRPr lang="en-US" sz="1300" dirty="0"/>
          </a:p>
        </p:txBody>
      </p:sp>
      <p:sp>
        <p:nvSpPr>
          <p:cNvPr id="14" name="Shape 12"/>
          <p:cNvSpPr/>
          <p:nvPr/>
        </p:nvSpPr>
        <p:spPr>
          <a:xfrm>
            <a:off x="6309360" y="2103120"/>
            <a:ext cx="5486400" cy="3474720"/>
          </a:xfrm>
          <a:prstGeom prst="rect">
            <a:avLst/>
          </a:prstGeom>
          <a:solidFill>
            <a:srgbClr val="F4F6FA"/>
          </a:solidFill>
          <a:ln/>
        </p:spPr>
        <p:txBody>
          <a:bodyPr/>
          <a:lstStyle/>
          <a:p>
            <a:endParaRPr lang="en-GB"/>
          </a:p>
        </p:txBody>
      </p:sp>
      <p:sp>
        <p:nvSpPr>
          <p:cNvPr id="15" name="Shape 13"/>
          <p:cNvSpPr/>
          <p:nvPr/>
        </p:nvSpPr>
        <p:spPr>
          <a:xfrm>
            <a:off x="6309360" y="2103120"/>
            <a:ext cx="73152" cy="3474720"/>
          </a:xfrm>
          <a:prstGeom prst="rect">
            <a:avLst/>
          </a:prstGeom>
          <a:solidFill>
            <a:srgbClr val="B33C3C"/>
          </a:solidFill>
          <a:ln/>
        </p:spPr>
        <p:txBody>
          <a:bodyPr/>
          <a:lstStyle/>
          <a:p>
            <a:endParaRPr lang="en-GB"/>
          </a:p>
        </p:txBody>
      </p:sp>
      <p:sp>
        <p:nvSpPr>
          <p:cNvPr id="16" name="Text 14"/>
          <p:cNvSpPr/>
          <p:nvPr/>
        </p:nvSpPr>
        <p:spPr>
          <a:xfrm>
            <a:off x="6629400" y="2331720"/>
            <a:ext cx="4572000" cy="274320"/>
          </a:xfrm>
          <a:prstGeom prst="rect">
            <a:avLst/>
          </a:prstGeom>
          <a:noFill/>
          <a:ln/>
        </p:spPr>
        <p:txBody>
          <a:bodyPr wrap="square" lIns="0" tIns="0" rIns="0" bIns="0" rtlCol="0" anchor="ctr"/>
          <a:lstStyle/>
          <a:p>
            <a:pPr marL="0" indent="0">
              <a:buNone/>
            </a:pPr>
            <a:r>
              <a:rPr lang="en-US" sz="1000" b="1" kern="0" spc="400" dirty="0">
                <a:solidFill>
                  <a:srgbClr val="B33C3C"/>
                </a:solidFill>
                <a:latin typeface="Aptos" pitchFamily="34" charset="0"/>
                <a:ea typeface="Aptos" pitchFamily="34" charset="-122"/>
                <a:cs typeface="Aptos" pitchFamily="34" charset="-120"/>
              </a:rPr>
              <a:t>THE RISK</a:t>
            </a:r>
            <a:endParaRPr lang="en-US" sz="1000" dirty="0"/>
          </a:p>
        </p:txBody>
      </p:sp>
      <p:sp>
        <p:nvSpPr>
          <p:cNvPr id="17" name="Text 15"/>
          <p:cNvSpPr/>
          <p:nvPr/>
        </p:nvSpPr>
        <p:spPr>
          <a:xfrm>
            <a:off x="6629400" y="2697480"/>
            <a:ext cx="4937760" cy="1554480"/>
          </a:xfrm>
          <a:prstGeom prst="rect">
            <a:avLst/>
          </a:prstGeom>
          <a:noFill/>
          <a:ln/>
        </p:spPr>
        <p:txBody>
          <a:bodyPr wrap="square" lIns="0" tIns="0" rIns="0" bIns="0" rtlCol="0" anchor="ctr"/>
          <a:lstStyle/>
          <a:p>
            <a:pPr marL="0" indent="0">
              <a:buNone/>
            </a:pPr>
            <a:r>
              <a:rPr lang="en-US" sz="1400" dirty="0">
                <a:solidFill>
                  <a:srgbClr val="1A2330"/>
                </a:solidFill>
                <a:latin typeface="Aptos" pitchFamily="34" charset="0"/>
                <a:ea typeface="Aptos" pitchFamily="34" charset="-122"/>
                <a:cs typeface="Aptos" pitchFamily="34" charset="-120"/>
              </a:rPr>
              <a:t>MRI signal is also shaped by scanner vendor, pulse-sequence, field strength, matrix, TR / TE, voxel geometry, reconstruction, and timing.</a:t>
            </a:r>
            <a:endParaRPr lang="en-US" sz="1400" dirty="0"/>
          </a:p>
        </p:txBody>
      </p:sp>
      <p:sp>
        <p:nvSpPr>
          <p:cNvPr id="18" name="Text 16"/>
          <p:cNvSpPr/>
          <p:nvPr/>
        </p:nvSpPr>
        <p:spPr>
          <a:xfrm>
            <a:off x="6629400" y="4251960"/>
            <a:ext cx="4937760" cy="1097280"/>
          </a:xfrm>
          <a:prstGeom prst="rect">
            <a:avLst/>
          </a:prstGeom>
          <a:noFill/>
          <a:ln/>
        </p:spPr>
        <p:txBody>
          <a:bodyPr wrap="square" lIns="0" tIns="0" rIns="0" bIns="0" rtlCol="0" anchor="ctr"/>
          <a:lstStyle/>
          <a:p>
            <a:pPr marL="0" indent="0">
              <a:buNone/>
            </a:pPr>
            <a:r>
              <a:rPr lang="en-US" sz="1300" i="1" dirty="0">
                <a:solidFill>
                  <a:srgbClr val="5C6B7E"/>
                </a:solidFill>
                <a:latin typeface="Aptos" pitchFamily="34" charset="0"/>
                <a:ea typeface="Aptos" pitchFamily="34" charset="-122"/>
                <a:cs typeface="Aptos" pitchFamily="34" charset="-120"/>
              </a:rPr>
              <a:t>These technical sources of variance can be stable, reproducible, and dominant in the feature space.</a:t>
            </a:r>
            <a:endParaRPr lang="en-US" sz="1300" dirty="0"/>
          </a:p>
        </p:txBody>
      </p:sp>
      <p:sp>
        <p:nvSpPr>
          <p:cNvPr id="19" name="Text 17"/>
          <p:cNvSpPr/>
          <p:nvPr/>
        </p:nvSpPr>
        <p:spPr>
          <a:xfrm>
            <a:off x="548640" y="5806440"/>
            <a:ext cx="11064240" cy="548640"/>
          </a:xfrm>
          <a:prstGeom prst="rect">
            <a:avLst/>
          </a:prstGeom>
          <a:noFill/>
          <a:ln/>
        </p:spPr>
        <p:txBody>
          <a:bodyPr wrap="square" lIns="0" tIns="0" rIns="0" bIns="0" rtlCol="0" anchor="ctr"/>
          <a:lstStyle/>
          <a:p>
            <a:pPr marL="0" indent="0">
              <a:buNone/>
            </a:pPr>
            <a:r>
              <a:rPr lang="en-US" sz="2000" b="1" i="1" dirty="0">
                <a:solidFill>
                  <a:srgbClr val="082F5B"/>
                </a:solidFill>
                <a:latin typeface="Aptos Display" pitchFamily="34" charset="0"/>
                <a:ea typeface="Aptos Display" pitchFamily="34" charset="-122"/>
                <a:cs typeface="Aptos Display" pitchFamily="34" charset="-120"/>
              </a:rPr>
              <a:t>What if a stable phenotype is only a stable technical artifact?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02  ·  CORE THESIS</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marL="0" indent="0" algn="r">
              <a:buNone/>
            </a:pP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CENTRAL CLAIM</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Stability is not biological validity.</a:t>
            </a:r>
            <a:endParaRPr lang="en-US" sz="2800" dirty="0"/>
          </a:p>
        </p:txBody>
      </p:sp>
      <p:sp>
        <p:nvSpPr>
          <p:cNvPr id="9" name="Text 7"/>
          <p:cNvSpPr/>
          <p:nvPr/>
        </p:nvSpPr>
        <p:spPr>
          <a:xfrm>
            <a:off x="365760" y="2560320"/>
            <a:ext cx="11475720" cy="1188720"/>
          </a:xfrm>
          <a:prstGeom prst="rect">
            <a:avLst/>
          </a:prstGeom>
          <a:noFill/>
          <a:ln/>
        </p:spPr>
        <p:txBody>
          <a:bodyPr wrap="square" lIns="0" tIns="0" rIns="0" bIns="0" rtlCol="0" anchor="ctr"/>
          <a:lstStyle/>
          <a:p>
            <a:pPr marL="0" indent="0" algn="ctr">
              <a:buNone/>
            </a:pPr>
            <a:r>
              <a:rPr lang="en-US" sz="4800" b="1" dirty="0">
                <a:solidFill>
                  <a:srgbClr val="082F5B"/>
                </a:solidFill>
                <a:latin typeface="Aptos Display" pitchFamily="34" charset="0"/>
                <a:ea typeface="Aptos Display" pitchFamily="34" charset="-122"/>
                <a:cs typeface="Aptos Display" pitchFamily="34" charset="-120"/>
              </a:rPr>
              <a:t>Stability</a:t>
            </a:r>
            <a:r>
              <a:rPr lang="en-US" sz="4800" b="1" dirty="0">
                <a:solidFill>
                  <a:srgbClr val="B33C3C"/>
                </a:solidFill>
                <a:latin typeface="Aptos Display" pitchFamily="34" charset="0"/>
                <a:ea typeface="Aptos Display" pitchFamily="34" charset="-122"/>
                <a:cs typeface="Aptos Display" pitchFamily="34" charset="-120"/>
              </a:rPr>
              <a:t>   ≠   </a:t>
            </a:r>
            <a:r>
              <a:rPr lang="en-US" sz="4800" b="1" dirty="0">
                <a:solidFill>
                  <a:srgbClr val="082F5B"/>
                </a:solidFill>
                <a:latin typeface="Aptos Display" pitchFamily="34" charset="0"/>
                <a:ea typeface="Aptos Display" pitchFamily="34" charset="-122"/>
                <a:cs typeface="Aptos Display" pitchFamily="34" charset="-120"/>
              </a:rPr>
              <a:t>Biological Validity</a:t>
            </a:r>
            <a:endParaRPr lang="en-US" sz="4800" dirty="0"/>
          </a:p>
        </p:txBody>
      </p:sp>
      <p:sp>
        <p:nvSpPr>
          <p:cNvPr id="10" name="Text 8"/>
          <p:cNvSpPr/>
          <p:nvPr/>
        </p:nvSpPr>
        <p:spPr>
          <a:xfrm>
            <a:off x="1188720" y="4114800"/>
            <a:ext cx="4572000" cy="146304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WHAT STABILITY TESTS</a:t>
            </a:r>
            <a:endParaRPr lang="en-US" sz="1000" dirty="0"/>
          </a:p>
          <a:p>
            <a:pPr marL="0" indent="0">
              <a:buNone/>
            </a:pPr>
            <a:r>
              <a:rPr lang="en-US" sz="400" dirty="0">
                <a:solidFill>
                  <a:srgbClr val="000000"/>
                </a:solidFill>
                <a:latin typeface="Aptos" pitchFamily="34" charset="0"/>
                <a:ea typeface="Aptos" pitchFamily="34" charset="-122"/>
                <a:cs typeface="Aptos" pitchFamily="34" charset="-120"/>
              </a:rPr>
              <a:t> </a:t>
            </a:r>
            <a:endParaRPr lang="en-US" sz="1000" dirty="0"/>
          </a:p>
          <a:p>
            <a:pPr marL="0" indent="0">
              <a:buNone/>
            </a:pPr>
            <a:r>
              <a:rPr lang="en-US" sz="1300" dirty="0">
                <a:solidFill>
                  <a:srgbClr val="1A2330"/>
                </a:solidFill>
                <a:latin typeface="Aptos" pitchFamily="34" charset="0"/>
                <a:ea typeface="Aptos" pitchFamily="34" charset="-122"/>
                <a:cs typeface="Aptos" pitchFamily="34" charset="-120"/>
              </a:rPr>
              <a:t>Silhouette, Calinski-Harabasz, and bootstrap ARI assess whether a partition is reproducible under resampling.</a:t>
            </a:r>
            <a:endParaRPr lang="en-US" sz="1000" dirty="0"/>
          </a:p>
        </p:txBody>
      </p:sp>
      <p:sp>
        <p:nvSpPr>
          <p:cNvPr id="11" name="Text 9"/>
          <p:cNvSpPr/>
          <p:nvPr/>
        </p:nvSpPr>
        <p:spPr>
          <a:xfrm>
            <a:off x="6400800" y="4114800"/>
            <a:ext cx="4572000" cy="1463040"/>
          </a:xfrm>
          <a:prstGeom prst="rect">
            <a:avLst/>
          </a:prstGeom>
          <a:noFill/>
          <a:ln/>
        </p:spPr>
        <p:txBody>
          <a:bodyPr wrap="square" lIns="0" tIns="0" rIns="0" bIns="0" rtlCol="0" anchor="ctr"/>
          <a:lstStyle/>
          <a:p>
            <a:pPr marL="0" indent="0">
              <a:buNone/>
            </a:pPr>
            <a:r>
              <a:rPr lang="en-US" sz="1000" b="1" kern="0" spc="400" dirty="0">
                <a:solidFill>
                  <a:srgbClr val="B33C3C"/>
                </a:solidFill>
                <a:latin typeface="Aptos" pitchFamily="34" charset="0"/>
                <a:ea typeface="Aptos" pitchFamily="34" charset="-122"/>
                <a:cs typeface="Aptos" pitchFamily="34" charset="-120"/>
              </a:rPr>
              <a:t>WHAT IT DOES NOT TEST</a:t>
            </a:r>
            <a:endParaRPr lang="en-US" sz="1000" dirty="0"/>
          </a:p>
          <a:p>
            <a:pPr marL="0" indent="0">
              <a:buNone/>
            </a:pPr>
            <a:r>
              <a:rPr lang="en-US" sz="400" dirty="0">
                <a:solidFill>
                  <a:srgbClr val="000000"/>
                </a:solidFill>
                <a:latin typeface="Aptos" pitchFamily="34" charset="0"/>
                <a:ea typeface="Aptos" pitchFamily="34" charset="-122"/>
                <a:cs typeface="Aptos" pitchFamily="34" charset="-120"/>
              </a:rPr>
              <a:t> </a:t>
            </a:r>
            <a:endParaRPr lang="en-US" sz="1000" dirty="0"/>
          </a:p>
          <a:p>
            <a:pPr marL="0" indent="0">
              <a:buNone/>
            </a:pPr>
            <a:r>
              <a:rPr lang="en-US" sz="1300" dirty="0">
                <a:solidFill>
                  <a:srgbClr val="1A2330"/>
                </a:solidFill>
                <a:latin typeface="Aptos" pitchFamily="34" charset="0"/>
                <a:ea typeface="Aptos" pitchFamily="34" charset="-122"/>
                <a:cs typeface="Aptos" pitchFamily="34" charset="-120"/>
              </a:rPr>
              <a:t>Whether the partition is biological. Reproducibility says nothing about identity, meaning, or mechanism.</a:t>
            </a:r>
            <a:endParaRPr lang="en-US" sz="1000" dirty="0"/>
          </a:p>
        </p:txBody>
      </p:sp>
      <p:sp>
        <p:nvSpPr>
          <p:cNvPr id="12" name="Shape 10"/>
          <p:cNvSpPr/>
          <p:nvPr/>
        </p:nvSpPr>
        <p:spPr>
          <a:xfrm>
            <a:off x="6089904" y="4114800"/>
            <a:ext cx="10973" cy="1280160"/>
          </a:xfrm>
          <a:prstGeom prst="rect">
            <a:avLst/>
          </a:prstGeom>
          <a:solidFill>
            <a:srgbClr val="C9D2DC"/>
          </a:solidFill>
          <a:ln/>
        </p:spPr>
        <p:txBody>
          <a:bodyPr/>
          <a:lstStyle/>
          <a:p>
            <a:endParaRPr lang="en-GB"/>
          </a:p>
        </p:txBody>
      </p:sp>
      <p:sp>
        <p:nvSpPr>
          <p:cNvPr id="13" name="Text 11"/>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A reproducible cluster can still be a reproducible artifact.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03  ·  DATA</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marL="0" indent="0" algn="r">
              <a:buNone/>
            </a:pP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COHORT</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922 patients, 529 radiomic features, two vendors.</a:t>
            </a:r>
            <a:endParaRPr lang="en-US" sz="2800" dirty="0"/>
          </a:p>
        </p:txBody>
      </p:sp>
      <p:sp>
        <p:nvSpPr>
          <p:cNvPr id="9" name="Shape 7"/>
          <p:cNvSpPr/>
          <p:nvPr/>
        </p:nvSpPr>
        <p:spPr>
          <a:xfrm>
            <a:off x="548640" y="2011680"/>
            <a:ext cx="2697480" cy="1417320"/>
          </a:xfrm>
          <a:prstGeom prst="rect">
            <a:avLst/>
          </a:prstGeom>
          <a:solidFill>
            <a:srgbClr val="F4F6FA"/>
          </a:solidFill>
          <a:ln/>
        </p:spPr>
        <p:txBody>
          <a:bodyPr/>
          <a:lstStyle/>
          <a:p>
            <a:endParaRPr lang="en-GB"/>
          </a:p>
        </p:txBody>
      </p:sp>
      <p:sp>
        <p:nvSpPr>
          <p:cNvPr id="10" name="Text 8"/>
          <p:cNvSpPr/>
          <p:nvPr/>
        </p:nvSpPr>
        <p:spPr>
          <a:xfrm>
            <a:off x="731520" y="2103120"/>
            <a:ext cx="2331720" cy="777240"/>
          </a:xfrm>
          <a:prstGeom prst="rect">
            <a:avLst/>
          </a:prstGeom>
          <a:noFill/>
          <a:ln/>
        </p:spPr>
        <p:txBody>
          <a:bodyPr wrap="square" lIns="0" tIns="0" rIns="0" bIns="0" rtlCol="0" anchor="ctr"/>
          <a:lstStyle/>
          <a:p>
            <a:pPr marL="0" indent="0">
              <a:buNone/>
            </a:pPr>
            <a:r>
              <a:rPr lang="en-US" sz="3200" b="1" dirty="0">
                <a:solidFill>
                  <a:srgbClr val="082F5B"/>
                </a:solidFill>
                <a:latin typeface="Aptos Display" pitchFamily="34" charset="0"/>
                <a:ea typeface="Aptos Display" pitchFamily="34" charset="-122"/>
                <a:cs typeface="Aptos Display" pitchFamily="34" charset="-120"/>
              </a:rPr>
              <a:t>922</a:t>
            </a:r>
            <a:endParaRPr lang="en-US" sz="3200" dirty="0"/>
          </a:p>
        </p:txBody>
      </p:sp>
      <p:sp>
        <p:nvSpPr>
          <p:cNvPr id="11" name="Text 9"/>
          <p:cNvSpPr/>
          <p:nvPr/>
        </p:nvSpPr>
        <p:spPr>
          <a:xfrm>
            <a:off x="731520" y="2880360"/>
            <a:ext cx="2331720" cy="457200"/>
          </a:xfrm>
          <a:prstGeom prst="rect">
            <a:avLst/>
          </a:prstGeom>
          <a:noFill/>
          <a:ln/>
        </p:spPr>
        <p:txBody>
          <a:bodyPr wrap="square" lIns="0" tIns="0" rIns="0" bIns="0" rtlCol="0" anchor="ctr"/>
          <a:lstStyle/>
          <a:p>
            <a:pPr marL="0" indent="0">
              <a:buNone/>
            </a:pPr>
            <a:r>
              <a:rPr lang="en-US" sz="1100" dirty="0">
                <a:solidFill>
                  <a:srgbClr val="5C6B7E"/>
                </a:solidFill>
                <a:latin typeface="Aptos" pitchFamily="34" charset="0"/>
                <a:ea typeface="Aptos" pitchFamily="34" charset="-122"/>
                <a:cs typeface="Aptos" pitchFamily="34" charset="-120"/>
              </a:rPr>
              <a:t>Patients (breast MRI)</a:t>
            </a:r>
            <a:endParaRPr lang="en-US" sz="1100" dirty="0"/>
          </a:p>
        </p:txBody>
      </p:sp>
      <p:sp>
        <p:nvSpPr>
          <p:cNvPr id="12" name="Shape 10"/>
          <p:cNvSpPr/>
          <p:nvPr/>
        </p:nvSpPr>
        <p:spPr>
          <a:xfrm>
            <a:off x="3364992" y="2011680"/>
            <a:ext cx="2697480" cy="1417320"/>
          </a:xfrm>
          <a:prstGeom prst="rect">
            <a:avLst/>
          </a:prstGeom>
          <a:solidFill>
            <a:srgbClr val="F4F6FA"/>
          </a:solidFill>
          <a:ln/>
        </p:spPr>
        <p:txBody>
          <a:bodyPr/>
          <a:lstStyle/>
          <a:p>
            <a:endParaRPr lang="en-GB"/>
          </a:p>
        </p:txBody>
      </p:sp>
      <p:sp>
        <p:nvSpPr>
          <p:cNvPr id="13" name="Text 11"/>
          <p:cNvSpPr/>
          <p:nvPr/>
        </p:nvSpPr>
        <p:spPr>
          <a:xfrm>
            <a:off x="3547872" y="2103120"/>
            <a:ext cx="2331720" cy="777240"/>
          </a:xfrm>
          <a:prstGeom prst="rect">
            <a:avLst/>
          </a:prstGeom>
          <a:noFill/>
          <a:ln/>
        </p:spPr>
        <p:txBody>
          <a:bodyPr wrap="square" lIns="0" tIns="0" rIns="0" bIns="0" rtlCol="0" anchor="ctr"/>
          <a:lstStyle/>
          <a:p>
            <a:pPr marL="0" indent="0">
              <a:buNone/>
            </a:pPr>
            <a:r>
              <a:rPr lang="en-US" sz="3200" b="1" dirty="0">
                <a:solidFill>
                  <a:srgbClr val="082F5B"/>
                </a:solidFill>
                <a:latin typeface="Aptos Display" pitchFamily="34" charset="0"/>
                <a:ea typeface="Aptos Display" pitchFamily="34" charset="-122"/>
                <a:cs typeface="Aptos Display" pitchFamily="34" charset="-120"/>
              </a:rPr>
              <a:t>529</a:t>
            </a:r>
            <a:endParaRPr lang="en-US" sz="3200" dirty="0"/>
          </a:p>
        </p:txBody>
      </p:sp>
      <p:sp>
        <p:nvSpPr>
          <p:cNvPr id="14" name="Text 12"/>
          <p:cNvSpPr/>
          <p:nvPr/>
        </p:nvSpPr>
        <p:spPr>
          <a:xfrm>
            <a:off x="3547872" y="2880360"/>
            <a:ext cx="2331720" cy="457200"/>
          </a:xfrm>
          <a:prstGeom prst="rect">
            <a:avLst/>
          </a:prstGeom>
          <a:noFill/>
          <a:ln/>
        </p:spPr>
        <p:txBody>
          <a:bodyPr wrap="square" lIns="0" tIns="0" rIns="0" bIns="0" rtlCol="0" anchor="ctr"/>
          <a:lstStyle/>
          <a:p>
            <a:pPr marL="0" indent="0">
              <a:buNone/>
            </a:pPr>
            <a:r>
              <a:rPr lang="en-US" sz="1100" dirty="0">
                <a:solidFill>
                  <a:srgbClr val="5C6B7E"/>
                </a:solidFill>
                <a:latin typeface="Aptos" pitchFamily="34" charset="0"/>
                <a:ea typeface="Aptos" pitchFamily="34" charset="-122"/>
                <a:cs typeface="Aptos" pitchFamily="34" charset="-120"/>
              </a:rPr>
              <a:t>Quantitative MRI features</a:t>
            </a:r>
            <a:endParaRPr lang="en-US" sz="1100" dirty="0"/>
          </a:p>
        </p:txBody>
      </p:sp>
      <p:sp>
        <p:nvSpPr>
          <p:cNvPr id="15" name="Shape 13"/>
          <p:cNvSpPr/>
          <p:nvPr/>
        </p:nvSpPr>
        <p:spPr>
          <a:xfrm>
            <a:off x="6181344" y="2011680"/>
            <a:ext cx="2697480" cy="1417320"/>
          </a:xfrm>
          <a:prstGeom prst="rect">
            <a:avLst/>
          </a:prstGeom>
          <a:solidFill>
            <a:srgbClr val="F4F6FA"/>
          </a:solidFill>
          <a:ln/>
        </p:spPr>
        <p:txBody>
          <a:bodyPr/>
          <a:lstStyle/>
          <a:p>
            <a:endParaRPr lang="en-GB"/>
          </a:p>
        </p:txBody>
      </p:sp>
      <p:sp>
        <p:nvSpPr>
          <p:cNvPr id="16" name="Text 14"/>
          <p:cNvSpPr/>
          <p:nvPr/>
        </p:nvSpPr>
        <p:spPr>
          <a:xfrm>
            <a:off x="6364224" y="2103120"/>
            <a:ext cx="2331720" cy="777240"/>
          </a:xfrm>
          <a:prstGeom prst="rect">
            <a:avLst/>
          </a:prstGeom>
          <a:noFill/>
          <a:ln/>
        </p:spPr>
        <p:txBody>
          <a:bodyPr wrap="square" lIns="0" tIns="0" rIns="0" bIns="0" rtlCol="0" anchor="ctr"/>
          <a:lstStyle/>
          <a:p>
            <a:pPr marL="0" indent="0">
              <a:buNone/>
            </a:pPr>
            <a:r>
              <a:rPr lang="en-US" sz="3200" b="1" dirty="0">
                <a:solidFill>
                  <a:srgbClr val="082F5B"/>
                </a:solidFill>
                <a:latin typeface="Aptos Display" pitchFamily="34" charset="0"/>
                <a:ea typeface="Aptos Display" pitchFamily="34" charset="-122"/>
                <a:cs typeface="Aptos Display" pitchFamily="34" charset="-120"/>
              </a:rPr>
              <a:t>628 / 294</a:t>
            </a:r>
            <a:endParaRPr lang="en-US" sz="3200" dirty="0"/>
          </a:p>
        </p:txBody>
      </p:sp>
      <p:sp>
        <p:nvSpPr>
          <p:cNvPr id="17" name="Text 15"/>
          <p:cNvSpPr/>
          <p:nvPr/>
        </p:nvSpPr>
        <p:spPr>
          <a:xfrm>
            <a:off x="6364224" y="2880360"/>
            <a:ext cx="2331720" cy="457200"/>
          </a:xfrm>
          <a:prstGeom prst="rect">
            <a:avLst/>
          </a:prstGeom>
          <a:noFill/>
          <a:ln/>
        </p:spPr>
        <p:txBody>
          <a:bodyPr wrap="square" lIns="0" tIns="0" rIns="0" bIns="0" rtlCol="0" anchor="ctr"/>
          <a:lstStyle/>
          <a:p>
            <a:pPr marL="0" indent="0">
              <a:buNone/>
            </a:pPr>
            <a:r>
              <a:rPr lang="en-US" sz="1100" dirty="0">
                <a:solidFill>
                  <a:srgbClr val="5C6B7E"/>
                </a:solidFill>
                <a:latin typeface="Aptos" pitchFamily="34" charset="0"/>
                <a:ea typeface="Aptos" pitchFamily="34" charset="-122"/>
                <a:cs typeface="Aptos" pitchFamily="34" charset="-120"/>
              </a:rPr>
              <a:t>GE  /  Siemens exams</a:t>
            </a:r>
            <a:endParaRPr lang="en-US" sz="1100" dirty="0"/>
          </a:p>
        </p:txBody>
      </p:sp>
      <p:sp>
        <p:nvSpPr>
          <p:cNvPr id="18" name="Shape 16"/>
          <p:cNvSpPr/>
          <p:nvPr/>
        </p:nvSpPr>
        <p:spPr>
          <a:xfrm>
            <a:off x="8997696" y="2011680"/>
            <a:ext cx="2697480" cy="1417320"/>
          </a:xfrm>
          <a:prstGeom prst="rect">
            <a:avLst/>
          </a:prstGeom>
          <a:solidFill>
            <a:srgbClr val="F4F6FA"/>
          </a:solidFill>
          <a:ln/>
        </p:spPr>
        <p:txBody>
          <a:bodyPr/>
          <a:lstStyle/>
          <a:p>
            <a:endParaRPr lang="en-GB"/>
          </a:p>
        </p:txBody>
      </p:sp>
      <p:sp>
        <p:nvSpPr>
          <p:cNvPr id="19" name="Text 17"/>
          <p:cNvSpPr/>
          <p:nvPr/>
        </p:nvSpPr>
        <p:spPr>
          <a:xfrm>
            <a:off x="9180576" y="2103120"/>
            <a:ext cx="2331720" cy="777240"/>
          </a:xfrm>
          <a:prstGeom prst="rect">
            <a:avLst/>
          </a:prstGeom>
          <a:noFill/>
          <a:ln/>
        </p:spPr>
        <p:txBody>
          <a:bodyPr wrap="square" lIns="0" tIns="0" rIns="0" bIns="0" rtlCol="0" anchor="ctr"/>
          <a:lstStyle/>
          <a:p>
            <a:pPr marL="0" indent="0">
              <a:buNone/>
            </a:pPr>
            <a:r>
              <a:rPr lang="en-US" sz="3200" b="1" dirty="0">
                <a:solidFill>
                  <a:srgbClr val="082F5B"/>
                </a:solidFill>
                <a:latin typeface="Aptos Display" pitchFamily="34" charset="0"/>
                <a:ea typeface="Aptos Display" pitchFamily="34" charset="-122"/>
                <a:cs typeface="Aptos Display" pitchFamily="34" charset="-120"/>
              </a:rPr>
              <a:t>87</a:t>
            </a:r>
            <a:endParaRPr lang="en-US" sz="3200" dirty="0"/>
          </a:p>
        </p:txBody>
      </p:sp>
      <p:sp>
        <p:nvSpPr>
          <p:cNvPr id="20" name="Text 18"/>
          <p:cNvSpPr/>
          <p:nvPr/>
        </p:nvSpPr>
        <p:spPr>
          <a:xfrm>
            <a:off x="9180576" y="2880360"/>
            <a:ext cx="2331720" cy="457200"/>
          </a:xfrm>
          <a:prstGeom prst="rect">
            <a:avLst/>
          </a:prstGeom>
          <a:noFill/>
          <a:ln/>
        </p:spPr>
        <p:txBody>
          <a:bodyPr wrap="square" lIns="0" tIns="0" rIns="0" bIns="0" rtlCol="0" anchor="ctr"/>
          <a:lstStyle/>
          <a:p>
            <a:pPr marL="0" indent="0">
              <a:buNone/>
            </a:pPr>
            <a:r>
              <a:rPr lang="en-US" sz="1100" dirty="0">
                <a:solidFill>
                  <a:srgbClr val="5C6B7E"/>
                </a:solidFill>
                <a:latin typeface="Aptos" pitchFamily="34" charset="0"/>
                <a:ea typeface="Aptos" pitchFamily="34" charset="-122"/>
                <a:cs typeface="Aptos" pitchFamily="34" charset="-120"/>
              </a:rPr>
              <a:t>Recurrence events</a:t>
            </a:r>
            <a:endParaRPr lang="en-US" sz="1100" dirty="0"/>
          </a:p>
        </p:txBody>
      </p:sp>
      <p:sp>
        <p:nvSpPr>
          <p:cNvPr id="21" name="Text 19"/>
          <p:cNvSpPr/>
          <p:nvPr/>
        </p:nvSpPr>
        <p:spPr>
          <a:xfrm>
            <a:off x="548640" y="3703320"/>
            <a:ext cx="73152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MOLECULAR SUBTYPE COMPOSITION</a:t>
            </a:r>
            <a:endParaRPr lang="en-US" sz="900" dirty="0"/>
          </a:p>
        </p:txBody>
      </p:sp>
      <p:graphicFrame>
        <p:nvGraphicFramePr>
          <p:cNvPr id="22" name="Chart 0"/>
          <p:cNvGraphicFramePr/>
          <p:nvPr/>
        </p:nvGraphicFramePr>
        <p:xfrm>
          <a:off x="548640" y="3977640"/>
          <a:ext cx="731520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8138160" y="3703320"/>
            <a:ext cx="3657600" cy="2148840"/>
          </a:xfrm>
          <a:prstGeom prst="rect">
            <a:avLst/>
          </a:prstGeom>
          <a:solidFill>
            <a:srgbClr val="F4F6FA"/>
          </a:solidFill>
          <a:ln/>
        </p:spPr>
        <p:txBody>
          <a:bodyPr/>
          <a:lstStyle/>
          <a:p>
            <a:endParaRPr lang="en-GB"/>
          </a:p>
        </p:txBody>
      </p:sp>
      <p:sp>
        <p:nvSpPr>
          <p:cNvPr id="24" name="Text 21"/>
          <p:cNvSpPr/>
          <p:nvPr/>
        </p:nvSpPr>
        <p:spPr>
          <a:xfrm>
            <a:off x="8321040" y="3840480"/>
            <a:ext cx="329184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PREPROCESSING</a:t>
            </a:r>
            <a:endParaRPr lang="en-US" sz="900" dirty="0"/>
          </a:p>
        </p:txBody>
      </p:sp>
      <p:sp>
        <p:nvSpPr>
          <p:cNvPr id="25" name="Text 22"/>
          <p:cNvSpPr/>
          <p:nvPr/>
        </p:nvSpPr>
        <p:spPr>
          <a:xfrm>
            <a:off x="8321040" y="4160520"/>
            <a:ext cx="329184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1A2330"/>
                </a:solidFill>
                <a:latin typeface="Aptos" pitchFamily="34" charset="0"/>
                <a:ea typeface="Aptos" pitchFamily="34" charset="-122"/>
                <a:cs typeface="Aptos" pitchFamily="34" charset="-120"/>
              </a:rPr>
              <a:t>&lt; 5% missingness filter</a:t>
            </a:r>
            <a:endParaRPr lang="en-US" sz="1100" dirty="0"/>
          </a:p>
          <a:p>
            <a:pPr marL="342900" indent="-342900">
              <a:spcAft>
                <a:spcPts val="400"/>
              </a:spcAft>
              <a:buSzPct val="100000"/>
              <a:buChar char="•"/>
            </a:pPr>
            <a:r>
              <a:rPr lang="en-US" sz="1100" dirty="0">
                <a:solidFill>
                  <a:srgbClr val="1A2330"/>
                </a:solidFill>
                <a:latin typeface="Aptos" pitchFamily="34" charset="0"/>
                <a:ea typeface="Aptos" pitchFamily="34" charset="-122"/>
                <a:cs typeface="Aptos" pitchFamily="34" charset="-120"/>
              </a:rPr>
              <a:t>Low-variance filter (≥ 2 unique)</a:t>
            </a:r>
            <a:endParaRPr lang="en-US" sz="1100" dirty="0"/>
          </a:p>
          <a:p>
            <a:pPr marL="342900" indent="-342900">
              <a:spcAft>
                <a:spcPts val="400"/>
              </a:spcAft>
              <a:buSzPct val="100000"/>
              <a:buChar char="•"/>
            </a:pPr>
            <a:r>
              <a:rPr lang="en-US" sz="1100" dirty="0">
                <a:solidFill>
                  <a:srgbClr val="1A2330"/>
                </a:solidFill>
                <a:latin typeface="Aptos" pitchFamily="34" charset="0"/>
                <a:ea typeface="Aptos" pitchFamily="34" charset="-122"/>
                <a:cs typeface="Aptos" pitchFamily="34" charset="-120"/>
              </a:rPr>
              <a:t>Median imputation</a:t>
            </a:r>
            <a:endParaRPr lang="en-US" sz="1100" dirty="0"/>
          </a:p>
          <a:p>
            <a:pPr marL="342900" indent="-342900">
              <a:spcAft>
                <a:spcPts val="400"/>
              </a:spcAft>
              <a:buSzPct val="100000"/>
              <a:buChar char="•"/>
            </a:pPr>
            <a:r>
              <a:rPr lang="en-US" sz="1100" dirty="0">
                <a:solidFill>
                  <a:srgbClr val="1A2330"/>
                </a:solidFill>
                <a:latin typeface="Aptos" pitchFamily="34" charset="0"/>
                <a:ea typeface="Aptos" pitchFamily="34" charset="-122"/>
                <a:cs typeface="Aptos" pitchFamily="34" charset="-120"/>
              </a:rPr>
              <a:t>Z-score standardization</a:t>
            </a:r>
            <a:endParaRPr lang="en-US" sz="1100" dirty="0"/>
          </a:p>
          <a:p>
            <a:pPr marL="342900" indent="-342900">
              <a:spcAft>
                <a:spcPts val="400"/>
              </a:spcAft>
              <a:buSzPct val="100000"/>
              <a:buChar char="•"/>
            </a:pPr>
            <a:r>
              <a:rPr lang="en-US" sz="1100" dirty="0">
                <a:solidFill>
                  <a:srgbClr val="1A2330"/>
                </a:solidFill>
                <a:latin typeface="Aptos" pitchFamily="34" charset="0"/>
                <a:ea typeface="Aptos" pitchFamily="34" charset="-122"/>
                <a:cs typeface="Aptos" pitchFamily="34" charset="-120"/>
              </a:rPr>
              <a:t>No variables removed by QC</a:t>
            </a:r>
            <a:endParaRPr lang="en-US" sz="1100" dirty="0"/>
          </a:p>
        </p:txBody>
      </p:sp>
      <p:sp>
        <p:nvSpPr>
          <p:cNvPr id="26" name="Text 23"/>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A standard analysis matrix — 922 × 529, two vendors, intentionally conventional pipeline.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04  ·  THE APPARENT DISCOVERY</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BY STANDARD VALIDATION</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This looks compelling.</a:t>
            </a:r>
            <a:endParaRPr lang="en-US" sz="2800" dirty="0"/>
          </a:p>
        </p:txBody>
      </p:sp>
      <p:sp>
        <p:nvSpPr>
          <p:cNvPr id="9" name="Shape 7"/>
          <p:cNvSpPr/>
          <p:nvPr/>
        </p:nvSpPr>
        <p:spPr>
          <a:xfrm>
            <a:off x="548640" y="2011680"/>
            <a:ext cx="2697480" cy="1691640"/>
          </a:xfrm>
          <a:prstGeom prst="rect">
            <a:avLst/>
          </a:prstGeom>
          <a:solidFill>
            <a:srgbClr val="FFFFFF"/>
          </a:solidFill>
          <a:ln w="9525">
            <a:solidFill>
              <a:srgbClr val="C9D2DC"/>
            </a:solidFill>
            <a:prstDash val="solid"/>
          </a:ln>
        </p:spPr>
        <p:txBody>
          <a:bodyPr/>
          <a:lstStyle/>
          <a:p>
            <a:endParaRPr lang="en-GB"/>
          </a:p>
        </p:txBody>
      </p:sp>
      <p:sp>
        <p:nvSpPr>
          <p:cNvPr id="10" name="Shape 8"/>
          <p:cNvSpPr/>
          <p:nvPr/>
        </p:nvSpPr>
        <p:spPr>
          <a:xfrm>
            <a:off x="548640" y="2011680"/>
            <a:ext cx="2697480" cy="54864"/>
          </a:xfrm>
          <a:prstGeom prst="rect">
            <a:avLst/>
          </a:prstGeom>
          <a:solidFill>
            <a:srgbClr val="0B4F94"/>
          </a:solidFill>
          <a:ln/>
        </p:spPr>
        <p:txBody>
          <a:bodyPr/>
          <a:lstStyle/>
          <a:p>
            <a:endParaRPr lang="en-GB"/>
          </a:p>
        </p:txBody>
      </p:sp>
      <p:sp>
        <p:nvSpPr>
          <p:cNvPr id="11" name="Text 9"/>
          <p:cNvSpPr/>
          <p:nvPr/>
        </p:nvSpPr>
        <p:spPr>
          <a:xfrm>
            <a:off x="731520" y="2103120"/>
            <a:ext cx="23317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OPTIMAL k</a:t>
            </a:r>
            <a:endParaRPr lang="en-US" sz="900" dirty="0"/>
          </a:p>
        </p:txBody>
      </p:sp>
      <p:sp>
        <p:nvSpPr>
          <p:cNvPr id="12" name="Text 10"/>
          <p:cNvSpPr/>
          <p:nvPr/>
        </p:nvSpPr>
        <p:spPr>
          <a:xfrm>
            <a:off x="731520" y="2377440"/>
            <a:ext cx="2331720" cy="822960"/>
          </a:xfrm>
          <a:prstGeom prst="rect">
            <a:avLst/>
          </a:prstGeom>
          <a:noFill/>
          <a:ln/>
        </p:spPr>
        <p:txBody>
          <a:bodyPr wrap="square" lIns="0" tIns="0" rIns="0" bIns="0" rtlCol="0" anchor="ctr"/>
          <a:lstStyle/>
          <a:p>
            <a:pPr marL="0" indent="0">
              <a:buNone/>
            </a:pPr>
            <a:r>
              <a:rPr lang="en-US" sz="3600" b="1" dirty="0">
                <a:solidFill>
                  <a:srgbClr val="082F5B"/>
                </a:solidFill>
                <a:latin typeface="Aptos Display" pitchFamily="34" charset="0"/>
                <a:ea typeface="Aptos Display" pitchFamily="34" charset="-122"/>
                <a:cs typeface="Aptos Display" pitchFamily="34" charset="-120"/>
              </a:rPr>
              <a:t>2</a:t>
            </a:r>
            <a:endParaRPr lang="en-US" sz="3600" dirty="0"/>
          </a:p>
        </p:txBody>
      </p:sp>
      <p:sp>
        <p:nvSpPr>
          <p:cNvPr id="13" name="Text 11"/>
          <p:cNvSpPr/>
          <p:nvPr/>
        </p:nvSpPr>
        <p:spPr>
          <a:xfrm>
            <a:off x="731520" y="3200400"/>
            <a:ext cx="2331720" cy="411480"/>
          </a:xfrm>
          <a:prstGeom prst="rect">
            <a:avLst/>
          </a:prstGeom>
          <a:noFill/>
          <a:ln/>
        </p:spPr>
        <p:txBody>
          <a:bodyPr wrap="square" lIns="0" tIns="0" rIns="0" bIns="0" rtlCol="0" anchor="ctr"/>
          <a:lstStyle/>
          <a:p>
            <a:pPr marL="0" indent="0">
              <a:buNone/>
            </a:pPr>
            <a:r>
              <a:rPr lang="en-US" sz="1000" i="1" dirty="0">
                <a:solidFill>
                  <a:srgbClr val="5C6B7E"/>
                </a:solidFill>
                <a:latin typeface="Aptos" pitchFamily="34" charset="0"/>
                <a:ea typeface="Aptos" pitchFamily="34" charset="-122"/>
                <a:cs typeface="Aptos" pitchFamily="34" charset="-120"/>
              </a:rPr>
              <a:t>selected by internal validity</a:t>
            </a:r>
            <a:endParaRPr lang="en-US" sz="1000" dirty="0"/>
          </a:p>
        </p:txBody>
      </p:sp>
      <p:sp>
        <p:nvSpPr>
          <p:cNvPr id="14" name="Shape 12"/>
          <p:cNvSpPr/>
          <p:nvPr/>
        </p:nvSpPr>
        <p:spPr>
          <a:xfrm>
            <a:off x="3364992" y="2011680"/>
            <a:ext cx="2697480" cy="1691640"/>
          </a:xfrm>
          <a:prstGeom prst="rect">
            <a:avLst/>
          </a:prstGeom>
          <a:solidFill>
            <a:srgbClr val="FFFFFF"/>
          </a:solidFill>
          <a:ln w="9525">
            <a:solidFill>
              <a:srgbClr val="C9D2DC"/>
            </a:solidFill>
            <a:prstDash val="solid"/>
          </a:ln>
        </p:spPr>
        <p:txBody>
          <a:bodyPr/>
          <a:lstStyle/>
          <a:p>
            <a:endParaRPr lang="en-GB"/>
          </a:p>
        </p:txBody>
      </p:sp>
      <p:sp>
        <p:nvSpPr>
          <p:cNvPr id="15" name="Shape 13"/>
          <p:cNvSpPr/>
          <p:nvPr/>
        </p:nvSpPr>
        <p:spPr>
          <a:xfrm>
            <a:off x="3364992" y="2011680"/>
            <a:ext cx="2697480" cy="54864"/>
          </a:xfrm>
          <a:prstGeom prst="rect">
            <a:avLst/>
          </a:prstGeom>
          <a:solidFill>
            <a:srgbClr val="0B4F94"/>
          </a:solidFill>
          <a:ln/>
        </p:spPr>
        <p:txBody>
          <a:bodyPr/>
          <a:lstStyle/>
          <a:p>
            <a:endParaRPr lang="en-GB"/>
          </a:p>
        </p:txBody>
      </p:sp>
      <p:sp>
        <p:nvSpPr>
          <p:cNvPr id="16" name="Text 14"/>
          <p:cNvSpPr/>
          <p:nvPr/>
        </p:nvSpPr>
        <p:spPr>
          <a:xfrm>
            <a:off x="3547872" y="2103120"/>
            <a:ext cx="23317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SILHOUETTE</a:t>
            </a:r>
            <a:endParaRPr lang="en-US" sz="900" dirty="0"/>
          </a:p>
        </p:txBody>
      </p:sp>
      <p:sp>
        <p:nvSpPr>
          <p:cNvPr id="17" name="Text 15"/>
          <p:cNvSpPr/>
          <p:nvPr/>
        </p:nvSpPr>
        <p:spPr>
          <a:xfrm>
            <a:off x="3547872" y="2377440"/>
            <a:ext cx="2331720" cy="822960"/>
          </a:xfrm>
          <a:prstGeom prst="rect">
            <a:avLst/>
          </a:prstGeom>
          <a:noFill/>
          <a:ln/>
        </p:spPr>
        <p:txBody>
          <a:bodyPr wrap="square" lIns="0" tIns="0" rIns="0" bIns="0" rtlCol="0" anchor="ctr"/>
          <a:lstStyle/>
          <a:p>
            <a:pPr marL="0" indent="0">
              <a:buNone/>
            </a:pPr>
            <a:r>
              <a:rPr lang="en-US" sz="3600" b="1" dirty="0">
                <a:solidFill>
                  <a:srgbClr val="082F5B"/>
                </a:solidFill>
                <a:latin typeface="Aptos Display" pitchFamily="34" charset="0"/>
                <a:ea typeface="Aptos Display" pitchFamily="34" charset="-122"/>
                <a:cs typeface="Aptos Display" pitchFamily="34" charset="-120"/>
              </a:rPr>
              <a:t>0.196</a:t>
            </a:r>
            <a:endParaRPr lang="en-US" sz="3600" dirty="0"/>
          </a:p>
        </p:txBody>
      </p:sp>
      <p:sp>
        <p:nvSpPr>
          <p:cNvPr id="18" name="Text 16"/>
          <p:cNvSpPr/>
          <p:nvPr/>
        </p:nvSpPr>
        <p:spPr>
          <a:xfrm>
            <a:off x="3547872" y="3200400"/>
            <a:ext cx="2331720" cy="411480"/>
          </a:xfrm>
          <a:prstGeom prst="rect">
            <a:avLst/>
          </a:prstGeom>
          <a:noFill/>
          <a:ln/>
        </p:spPr>
        <p:txBody>
          <a:bodyPr wrap="square" lIns="0" tIns="0" rIns="0" bIns="0" rtlCol="0" anchor="ctr"/>
          <a:lstStyle/>
          <a:p>
            <a:pPr marL="0" indent="0">
              <a:buNone/>
            </a:pPr>
            <a:r>
              <a:rPr lang="en-US" sz="1000" i="1" dirty="0">
                <a:solidFill>
                  <a:srgbClr val="5C6B7E"/>
                </a:solidFill>
                <a:latin typeface="Aptos" pitchFamily="34" charset="0"/>
                <a:ea typeface="Aptos" pitchFamily="34" charset="-122"/>
                <a:cs typeface="Aptos" pitchFamily="34" charset="-120"/>
              </a:rPr>
              <a:t>highest across candidate k</a:t>
            </a:r>
            <a:endParaRPr lang="en-US" sz="1000" dirty="0"/>
          </a:p>
        </p:txBody>
      </p:sp>
      <p:sp>
        <p:nvSpPr>
          <p:cNvPr id="19" name="Shape 17"/>
          <p:cNvSpPr/>
          <p:nvPr/>
        </p:nvSpPr>
        <p:spPr>
          <a:xfrm>
            <a:off x="6181344" y="2011680"/>
            <a:ext cx="2697480" cy="1691640"/>
          </a:xfrm>
          <a:prstGeom prst="rect">
            <a:avLst/>
          </a:prstGeom>
          <a:solidFill>
            <a:srgbClr val="FFFFFF"/>
          </a:solidFill>
          <a:ln w="9525">
            <a:solidFill>
              <a:srgbClr val="C9D2DC"/>
            </a:solidFill>
            <a:prstDash val="solid"/>
          </a:ln>
        </p:spPr>
        <p:txBody>
          <a:bodyPr/>
          <a:lstStyle/>
          <a:p>
            <a:endParaRPr lang="en-GB"/>
          </a:p>
        </p:txBody>
      </p:sp>
      <p:sp>
        <p:nvSpPr>
          <p:cNvPr id="20" name="Shape 18"/>
          <p:cNvSpPr/>
          <p:nvPr/>
        </p:nvSpPr>
        <p:spPr>
          <a:xfrm>
            <a:off x="6181344" y="2011680"/>
            <a:ext cx="2697480" cy="54864"/>
          </a:xfrm>
          <a:prstGeom prst="rect">
            <a:avLst/>
          </a:prstGeom>
          <a:solidFill>
            <a:srgbClr val="0B4F94"/>
          </a:solidFill>
          <a:ln/>
        </p:spPr>
        <p:txBody>
          <a:bodyPr/>
          <a:lstStyle/>
          <a:p>
            <a:endParaRPr lang="en-GB"/>
          </a:p>
        </p:txBody>
      </p:sp>
      <p:sp>
        <p:nvSpPr>
          <p:cNvPr id="21" name="Text 19"/>
          <p:cNvSpPr/>
          <p:nvPr/>
        </p:nvSpPr>
        <p:spPr>
          <a:xfrm>
            <a:off x="6364224" y="2103120"/>
            <a:ext cx="23317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CALINSKI-HARABASZ</a:t>
            </a:r>
            <a:endParaRPr lang="en-US" sz="900" dirty="0"/>
          </a:p>
        </p:txBody>
      </p:sp>
      <p:sp>
        <p:nvSpPr>
          <p:cNvPr id="22" name="Text 20"/>
          <p:cNvSpPr/>
          <p:nvPr/>
        </p:nvSpPr>
        <p:spPr>
          <a:xfrm>
            <a:off x="6364224" y="2377440"/>
            <a:ext cx="2331720" cy="822960"/>
          </a:xfrm>
          <a:prstGeom prst="rect">
            <a:avLst/>
          </a:prstGeom>
          <a:noFill/>
          <a:ln/>
        </p:spPr>
        <p:txBody>
          <a:bodyPr wrap="square" lIns="0" tIns="0" rIns="0" bIns="0" rtlCol="0" anchor="ctr"/>
          <a:lstStyle/>
          <a:p>
            <a:pPr marL="0" indent="0">
              <a:buNone/>
            </a:pPr>
            <a:r>
              <a:rPr lang="en-US" sz="3600" b="1" dirty="0">
                <a:solidFill>
                  <a:srgbClr val="082F5B"/>
                </a:solidFill>
                <a:latin typeface="Aptos Display" pitchFamily="34" charset="0"/>
                <a:ea typeface="Aptos Display" pitchFamily="34" charset="-122"/>
                <a:cs typeface="Aptos Display" pitchFamily="34" charset="-120"/>
              </a:rPr>
              <a:t>200.93</a:t>
            </a:r>
            <a:endParaRPr lang="en-US" sz="3600" dirty="0"/>
          </a:p>
        </p:txBody>
      </p:sp>
      <p:sp>
        <p:nvSpPr>
          <p:cNvPr id="23" name="Text 21"/>
          <p:cNvSpPr/>
          <p:nvPr/>
        </p:nvSpPr>
        <p:spPr>
          <a:xfrm>
            <a:off x="6364224" y="3200400"/>
            <a:ext cx="2331720" cy="411480"/>
          </a:xfrm>
          <a:prstGeom prst="rect">
            <a:avLst/>
          </a:prstGeom>
          <a:noFill/>
          <a:ln/>
        </p:spPr>
        <p:txBody>
          <a:bodyPr wrap="square" lIns="0" tIns="0" rIns="0" bIns="0" rtlCol="0" anchor="ctr"/>
          <a:lstStyle/>
          <a:p>
            <a:pPr marL="0" indent="0">
              <a:buNone/>
            </a:pPr>
            <a:r>
              <a:rPr lang="en-US" sz="1000" i="1" dirty="0">
                <a:solidFill>
                  <a:srgbClr val="5C6B7E"/>
                </a:solidFill>
                <a:latin typeface="Aptos" pitchFamily="34" charset="0"/>
                <a:ea typeface="Aptos" pitchFamily="34" charset="-122"/>
                <a:cs typeface="Aptos" pitchFamily="34" charset="-120"/>
              </a:rPr>
              <a:t>decreases monotonically as k grows</a:t>
            </a:r>
            <a:endParaRPr lang="en-US" sz="1000" dirty="0"/>
          </a:p>
        </p:txBody>
      </p:sp>
      <p:sp>
        <p:nvSpPr>
          <p:cNvPr id="24" name="Shape 22"/>
          <p:cNvSpPr/>
          <p:nvPr/>
        </p:nvSpPr>
        <p:spPr>
          <a:xfrm>
            <a:off x="8997696" y="2011680"/>
            <a:ext cx="2697480" cy="1691640"/>
          </a:xfrm>
          <a:prstGeom prst="rect">
            <a:avLst/>
          </a:prstGeom>
          <a:solidFill>
            <a:srgbClr val="FFFFFF"/>
          </a:solidFill>
          <a:ln w="9525">
            <a:solidFill>
              <a:srgbClr val="C9D2DC"/>
            </a:solidFill>
            <a:prstDash val="solid"/>
          </a:ln>
        </p:spPr>
        <p:txBody>
          <a:bodyPr/>
          <a:lstStyle/>
          <a:p>
            <a:endParaRPr lang="en-GB"/>
          </a:p>
        </p:txBody>
      </p:sp>
      <p:sp>
        <p:nvSpPr>
          <p:cNvPr id="25" name="Shape 23"/>
          <p:cNvSpPr/>
          <p:nvPr/>
        </p:nvSpPr>
        <p:spPr>
          <a:xfrm>
            <a:off x="8997696" y="2011680"/>
            <a:ext cx="2697480" cy="54864"/>
          </a:xfrm>
          <a:prstGeom prst="rect">
            <a:avLst/>
          </a:prstGeom>
          <a:solidFill>
            <a:srgbClr val="0B4F94"/>
          </a:solidFill>
          <a:ln/>
        </p:spPr>
        <p:txBody>
          <a:bodyPr/>
          <a:lstStyle/>
          <a:p>
            <a:endParaRPr lang="en-GB"/>
          </a:p>
        </p:txBody>
      </p:sp>
      <p:sp>
        <p:nvSpPr>
          <p:cNvPr id="26" name="Text 24"/>
          <p:cNvSpPr/>
          <p:nvPr/>
        </p:nvSpPr>
        <p:spPr>
          <a:xfrm>
            <a:off x="9180576" y="2103120"/>
            <a:ext cx="23317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BOOTSTRAP ARI</a:t>
            </a:r>
            <a:endParaRPr lang="en-US" sz="900" dirty="0"/>
          </a:p>
        </p:txBody>
      </p:sp>
      <p:sp>
        <p:nvSpPr>
          <p:cNvPr id="27" name="Text 25"/>
          <p:cNvSpPr/>
          <p:nvPr/>
        </p:nvSpPr>
        <p:spPr>
          <a:xfrm>
            <a:off x="9180576" y="2377440"/>
            <a:ext cx="2331720" cy="822960"/>
          </a:xfrm>
          <a:prstGeom prst="rect">
            <a:avLst/>
          </a:prstGeom>
          <a:noFill/>
          <a:ln/>
        </p:spPr>
        <p:txBody>
          <a:bodyPr wrap="square" lIns="0" tIns="0" rIns="0" bIns="0" rtlCol="0" anchor="ctr"/>
          <a:lstStyle/>
          <a:p>
            <a:pPr marL="0" indent="0">
              <a:buNone/>
            </a:pPr>
            <a:r>
              <a:rPr lang="en-US" sz="3600" b="1" dirty="0">
                <a:solidFill>
                  <a:srgbClr val="082F5B"/>
                </a:solidFill>
                <a:latin typeface="Aptos Display" pitchFamily="34" charset="0"/>
                <a:ea typeface="Aptos Display" pitchFamily="34" charset="-122"/>
                <a:cs typeface="Aptos Display" pitchFamily="34" charset="-120"/>
              </a:rPr>
              <a:t>0.893</a:t>
            </a:r>
            <a:endParaRPr lang="en-US" sz="3600" dirty="0"/>
          </a:p>
        </p:txBody>
      </p:sp>
      <p:sp>
        <p:nvSpPr>
          <p:cNvPr id="28" name="Text 26"/>
          <p:cNvSpPr/>
          <p:nvPr/>
        </p:nvSpPr>
        <p:spPr>
          <a:xfrm>
            <a:off x="9180576" y="3200400"/>
            <a:ext cx="2331720" cy="411480"/>
          </a:xfrm>
          <a:prstGeom prst="rect">
            <a:avLst/>
          </a:prstGeom>
          <a:noFill/>
          <a:ln/>
        </p:spPr>
        <p:txBody>
          <a:bodyPr wrap="square" lIns="0" tIns="0" rIns="0" bIns="0" rtlCol="0" anchor="ctr"/>
          <a:lstStyle/>
          <a:p>
            <a:pPr marL="0" indent="0">
              <a:buNone/>
            </a:pPr>
            <a:r>
              <a:rPr lang="en-US" sz="1000" i="1" dirty="0">
                <a:solidFill>
                  <a:srgbClr val="5C6B7E"/>
                </a:solidFill>
                <a:latin typeface="Aptos" pitchFamily="34" charset="0"/>
                <a:ea typeface="Aptos" pitchFamily="34" charset="-122"/>
                <a:cs typeface="Aptos" pitchFamily="34" charset="-120"/>
              </a:rPr>
              <a:t>SD 0.084  ·  20× 80% subsampling</a:t>
            </a:r>
            <a:endParaRPr lang="en-US" sz="1000" dirty="0"/>
          </a:p>
        </p:txBody>
      </p:sp>
      <p:sp>
        <p:nvSpPr>
          <p:cNvPr id="29" name="Text 27"/>
          <p:cNvSpPr/>
          <p:nvPr/>
        </p:nvSpPr>
        <p:spPr>
          <a:xfrm>
            <a:off x="548640" y="4069080"/>
            <a:ext cx="59436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VARIANCE EXPLAINED  ·  TOP 10 PCs ≈ 58%</a:t>
            </a:r>
            <a:endParaRPr lang="en-US" sz="900" dirty="0"/>
          </a:p>
        </p:txBody>
      </p:sp>
      <p:graphicFrame>
        <p:nvGraphicFramePr>
          <p:cNvPr id="30" name="Chart 0"/>
          <p:cNvGraphicFramePr/>
          <p:nvPr/>
        </p:nvGraphicFramePr>
        <p:xfrm>
          <a:off x="548640" y="4343400"/>
          <a:ext cx="5943600" cy="1828800"/>
        </p:xfrm>
        <a:graphic>
          <a:graphicData uri="http://schemas.openxmlformats.org/drawingml/2006/chart">
            <c:chart xmlns:c="http://schemas.openxmlformats.org/drawingml/2006/chart" xmlns:r="http://schemas.openxmlformats.org/officeDocument/2006/relationships" r:id="rId3"/>
          </a:graphicData>
        </a:graphic>
      </p:graphicFrame>
      <p:sp>
        <p:nvSpPr>
          <p:cNvPr id="31" name="Shape 28"/>
          <p:cNvSpPr/>
          <p:nvPr/>
        </p:nvSpPr>
        <p:spPr>
          <a:xfrm>
            <a:off x="6675120" y="4114800"/>
            <a:ext cx="5120640" cy="2194560"/>
          </a:xfrm>
          <a:prstGeom prst="rect">
            <a:avLst/>
          </a:prstGeom>
          <a:solidFill>
            <a:srgbClr val="F4F6FA"/>
          </a:solidFill>
          <a:ln/>
        </p:spPr>
        <p:txBody>
          <a:bodyPr/>
          <a:lstStyle/>
          <a:p>
            <a:endParaRPr lang="en-GB"/>
          </a:p>
        </p:txBody>
      </p:sp>
      <p:sp>
        <p:nvSpPr>
          <p:cNvPr id="32" name="Text 29"/>
          <p:cNvSpPr/>
          <p:nvPr/>
        </p:nvSpPr>
        <p:spPr>
          <a:xfrm>
            <a:off x="6858000" y="4297680"/>
            <a:ext cx="4754880" cy="274320"/>
          </a:xfrm>
          <a:prstGeom prst="rect">
            <a:avLst/>
          </a:prstGeom>
          <a:noFill/>
          <a:ln/>
        </p:spPr>
        <p:txBody>
          <a:bodyPr wrap="square" lIns="0" tIns="0" rIns="0" bIns="0" rtlCol="0" anchor="ctr"/>
          <a:lstStyle/>
          <a:p>
            <a:pPr marL="0" indent="0">
              <a:buNone/>
            </a:pPr>
            <a:r>
              <a:rPr lang="en-US" sz="900" b="1" kern="0" spc="400" dirty="0">
                <a:solidFill>
                  <a:srgbClr val="B33C3C"/>
                </a:solidFill>
                <a:latin typeface="Aptos" pitchFamily="34" charset="0"/>
                <a:ea typeface="Aptos" pitchFamily="34" charset="-122"/>
                <a:cs typeface="Aptos" pitchFamily="34" charset="-120"/>
              </a:rPr>
              <a:t>IMPORTANT NUANCE</a:t>
            </a:r>
            <a:endParaRPr lang="en-US" sz="900" dirty="0"/>
          </a:p>
        </p:txBody>
      </p:sp>
      <p:sp>
        <p:nvSpPr>
          <p:cNvPr id="33" name="Text 30"/>
          <p:cNvSpPr/>
          <p:nvPr/>
        </p:nvSpPr>
        <p:spPr>
          <a:xfrm>
            <a:off x="6858000" y="4572000"/>
            <a:ext cx="4754880" cy="822960"/>
          </a:xfrm>
          <a:prstGeom prst="rect">
            <a:avLst/>
          </a:prstGeom>
          <a:noFill/>
          <a:ln/>
        </p:spPr>
        <p:txBody>
          <a:bodyPr wrap="square" lIns="0" tIns="0" rIns="0" bIns="0" rtlCol="0" anchor="ctr"/>
          <a:lstStyle/>
          <a:p>
            <a:pPr marL="0" indent="0">
              <a:buNone/>
            </a:pPr>
            <a:r>
              <a:rPr lang="en-US" sz="1600" b="1" dirty="0">
                <a:solidFill>
                  <a:srgbClr val="082F5B"/>
                </a:solidFill>
                <a:latin typeface="Aptos Display" pitchFamily="34" charset="0"/>
                <a:ea typeface="Aptos Display" pitchFamily="34" charset="-122"/>
                <a:cs typeface="Aptos Display" pitchFamily="34" charset="-120"/>
              </a:rPr>
              <a:t>PC1 – PC2 forms a continuous cloud, not a sharply separated set of natural groups.</a:t>
            </a:r>
            <a:endParaRPr lang="en-US" sz="1600" dirty="0"/>
          </a:p>
        </p:txBody>
      </p:sp>
      <p:sp>
        <p:nvSpPr>
          <p:cNvPr id="34" name="Text 31"/>
          <p:cNvSpPr/>
          <p:nvPr/>
        </p:nvSpPr>
        <p:spPr>
          <a:xfrm>
            <a:off x="6858000" y="5394960"/>
            <a:ext cx="4754880" cy="91440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Any two-cluster solution is imposed on a gradient. Internal validity favours k = 2, but the geometry is not a clean binary.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587FF35-9096-249A-A732-678CDA0425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9784B1-0312-6BB5-4219-84FDAEC8B569}"/>
              </a:ext>
            </a:extLst>
          </p:cNvPr>
          <p:cNvSpPr/>
          <p:nvPr/>
        </p:nvSpPr>
        <p:spPr>
          <a:xfrm>
            <a:off x="0" y="0"/>
            <a:ext cx="12191695" cy="64008"/>
          </a:xfrm>
          <a:prstGeom prst="rect">
            <a:avLst/>
          </a:prstGeom>
          <a:solidFill>
            <a:srgbClr val="082F5B"/>
          </a:solidFill>
          <a:ln/>
        </p:spPr>
        <p:txBody>
          <a:bodyPr/>
          <a:lstStyle/>
          <a:p>
            <a:endParaRPr lang="en-GB"/>
          </a:p>
        </p:txBody>
      </p:sp>
      <p:sp>
        <p:nvSpPr>
          <p:cNvPr id="3" name="Shape 1">
            <a:extLst>
              <a:ext uri="{FF2B5EF4-FFF2-40B4-BE49-F238E27FC236}">
                <a16:creationId xmlns:a16="http://schemas.microsoft.com/office/drawing/2014/main" id="{33AD4E55-4965-0312-AE6D-10548D93A680}"/>
              </a:ext>
            </a:extLst>
          </p:cNvPr>
          <p:cNvSpPr/>
          <p:nvPr/>
        </p:nvSpPr>
        <p:spPr>
          <a:xfrm>
            <a:off x="548640" y="6473952"/>
            <a:ext cx="11094415" cy="10973"/>
          </a:xfrm>
          <a:prstGeom prst="rect">
            <a:avLst/>
          </a:prstGeom>
          <a:solidFill>
            <a:srgbClr val="C9D2DC"/>
          </a:solidFill>
          <a:ln/>
        </p:spPr>
        <p:txBody>
          <a:bodyPr/>
          <a:lstStyle/>
          <a:p>
            <a:endParaRPr lang="en-GB"/>
          </a:p>
        </p:txBody>
      </p:sp>
      <p:sp>
        <p:nvSpPr>
          <p:cNvPr id="4" name="Text 2">
            <a:extLst>
              <a:ext uri="{FF2B5EF4-FFF2-40B4-BE49-F238E27FC236}">
                <a16:creationId xmlns:a16="http://schemas.microsoft.com/office/drawing/2014/main" id="{775AA5C3-1B23-E452-4F98-734EB299A29A}"/>
              </a:ext>
            </a:extLst>
          </p:cNvPr>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04  ·  THE APPARENT DISCOVERY</a:t>
            </a:r>
            <a:endParaRPr lang="en-US" sz="900" dirty="0"/>
          </a:p>
        </p:txBody>
      </p:sp>
      <p:sp>
        <p:nvSpPr>
          <p:cNvPr id="5" name="Text 3">
            <a:extLst>
              <a:ext uri="{FF2B5EF4-FFF2-40B4-BE49-F238E27FC236}">
                <a16:creationId xmlns:a16="http://schemas.microsoft.com/office/drawing/2014/main" id="{4B4FE46F-F40B-4D34-5322-82F3337FFC10}"/>
              </a:ext>
            </a:extLst>
          </p:cNvPr>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a:extLst>
              <a:ext uri="{FF2B5EF4-FFF2-40B4-BE49-F238E27FC236}">
                <a16:creationId xmlns:a16="http://schemas.microsoft.com/office/drawing/2014/main" id="{86DCB735-0E09-7044-45C6-E8486FC8FDC3}"/>
              </a:ext>
            </a:extLst>
          </p:cNvPr>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BY STANDARD VALIDATION</a:t>
            </a:r>
            <a:endParaRPr lang="en-US" sz="1000" dirty="0"/>
          </a:p>
        </p:txBody>
      </p:sp>
      <p:sp>
        <p:nvSpPr>
          <p:cNvPr id="7" name="Shape 5">
            <a:extLst>
              <a:ext uri="{FF2B5EF4-FFF2-40B4-BE49-F238E27FC236}">
                <a16:creationId xmlns:a16="http://schemas.microsoft.com/office/drawing/2014/main" id="{100F7894-E5B7-D93B-4A59-0181CFD544E9}"/>
              </a:ext>
            </a:extLst>
          </p:cNvPr>
          <p:cNvSpPr/>
          <p:nvPr/>
        </p:nvSpPr>
        <p:spPr>
          <a:xfrm>
            <a:off x="548640" y="713232"/>
            <a:ext cx="502920" cy="36576"/>
          </a:xfrm>
          <a:prstGeom prst="rect">
            <a:avLst/>
          </a:prstGeom>
          <a:solidFill>
            <a:srgbClr val="0B4F94"/>
          </a:solidFill>
          <a:ln/>
        </p:spPr>
        <p:txBody>
          <a:bodyPr/>
          <a:lstStyle/>
          <a:p>
            <a:endParaRPr lang="en-GB"/>
          </a:p>
        </p:txBody>
      </p:sp>
      <p:sp>
        <p:nvSpPr>
          <p:cNvPr id="8" name="Text 6">
            <a:extLst>
              <a:ext uri="{FF2B5EF4-FFF2-40B4-BE49-F238E27FC236}">
                <a16:creationId xmlns:a16="http://schemas.microsoft.com/office/drawing/2014/main" id="{C987B3F1-A0DA-0E98-66F5-04D4D1719069}"/>
              </a:ext>
            </a:extLst>
          </p:cNvPr>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This looks compelling.</a:t>
            </a:r>
            <a:endParaRPr lang="en-US" sz="2800" dirty="0"/>
          </a:p>
        </p:txBody>
      </p:sp>
      <p:sp>
        <p:nvSpPr>
          <p:cNvPr id="32" name="Text 29">
            <a:extLst>
              <a:ext uri="{FF2B5EF4-FFF2-40B4-BE49-F238E27FC236}">
                <a16:creationId xmlns:a16="http://schemas.microsoft.com/office/drawing/2014/main" id="{4871175F-2405-0524-F4ED-A16FEAC9D30D}"/>
              </a:ext>
            </a:extLst>
          </p:cNvPr>
          <p:cNvSpPr/>
          <p:nvPr/>
        </p:nvSpPr>
        <p:spPr>
          <a:xfrm>
            <a:off x="7038975" y="1503045"/>
            <a:ext cx="4754880" cy="274320"/>
          </a:xfrm>
          <a:prstGeom prst="rect">
            <a:avLst/>
          </a:prstGeom>
          <a:noFill/>
          <a:ln/>
        </p:spPr>
        <p:txBody>
          <a:bodyPr wrap="square" lIns="0" tIns="0" rIns="0" bIns="0" rtlCol="0" anchor="ctr"/>
          <a:lstStyle/>
          <a:p>
            <a:pPr marL="0" indent="0">
              <a:buNone/>
            </a:pPr>
            <a:r>
              <a:rPr lang="en-US" sz="900" b="1" kern="0" spc="400" dirty="0">
                <a:solidFill>
                  <a:srgbClr val="B33C3C"/>
                </a:solidFill>
                <a:latin typeface="Aptos" pitchFamily="34" charset="0"/>
                <a:ea typeface="Aptos" pitchFamily="34" charset="-122"/>
                <a:cs typeface="Aptos" pitchFamily="34" charset="-120"/>
              </a:rPr>
              <a:t>IMPORTANT NUANCE</a:t>
            </a:r>
            <a:endParaRPr lang="en-US" sz="900" dirty="0"/>
          </a:p>
        </p:txBody>
      </p:sp>
      <p:sp>
        <p:nvSpPr>
          <p:cNvPr id="33" name="Text 30">
            <a:extLst>
              <a:ext uri="{FF2B5EF4-FFF2-40B4-BE49-F238E27FC236}">
                <a16:creationId xmlns:a16="http://schemas.microsoft.com/office/drawing/2014/main" id="{1EF74113-CAD1-E1C0-B9DE-2E0EEA1DC8B4}"/>
              </a:ext>
            </a:extLst>
          </p:cNvPr>
          <p:cNvSpPr/>
          <p:nvPr/>
        </p:nvSpPr>
        <p:spPr>
          <a:xfrm>
            <a:off x="6858000" y="2039112"/>
            <a:ext cx="4754880" cy="822960"/>
          </a:xfrm>
          <a:prstGeom prst="rect">
            <a:avLst/>
          </a:prstGeom>
          <a:noFill/>
          <a:ln/>
        </p:spPr>
        <p:txBody>
          <a:bodyPr wrap="square" lIns="0" tIns="0" rIns="0" bIns="0" rtlCol="0" anchor="ctr"/>
          <a:lstStyle/>
          <a:p>
            <a:pPr marL="0" indent="0">
              <a:buNone/>
            </a:pPr>
            <a:r>
              <a:rPr lang="en-US" sz="1600" b="1" dirty="0">
                <a:solidFill>
                  <a:srgbClr val="082F5B"/>
                </a:solidFill>
                <a:latin typeface="Aptos Display" pitchFamily="34" charset="0"/>
                <a:ea typeface="Aptos Display" pitchFamily="34" charset="-122"/>
                <a:cs typeface="Aptos Display" pitchFamily="34" charset="-120"/>
              </a:rPr>
              <a:t>PC1 – PC2 forms a continuous cloud, not a sharply separated set of natural groups.</a:t>
            </a:r>
            <a:endParaRPr lang="en-US" sz="1600" dirty="0"/>
          </a:p>
        </p:txBody>
      </p:sp>
      <p:sp>
        <p:nvSpPr>
          <p:cNvPr id="34" name="Text 31">
            <a:extLst>
              <a:ext uri="{FF2B5EF4-FFF2-40B4-BE49-F238E27FC236}">
                <a16:creationId xmlns:a16="http://schemas.microsoft.com/office/drawing/2014/main" id="{503EB3E3-086C-E162-C2C3-735FD786397D}"/>
              </a:ext>
            </a:extLst>
          </p:cNvPr>
          <p:cNvSpPr/>
          <p:nvPr/>
        </p:nvSpPr>
        <p:spPr>
          <a:xfrm>
            <a:off x="6949440" y="3026664"/>
            <a:ext cx="4754880" cy="91440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Any two-cluster solution is imposed on a gradient. Internal validity favours k = 2, but the geometry is not a clean binary.</a:t>
            </a:r>
            <a:endParaRPr lang="en-US" sz="1200" dirty="0"/>
          </a:p>
        </p:txBody>
      </p:sp>
      <p:pic>
        <p:nvPicPr>
          <p:cNvPr id="35" name="Picture 34">
            <a:extLst>
              <a:ext uri="{FF2B5EF4-FFF2-40B4-BE49-F238E27FC236}">
                <a16:creationId xmlns:a16="http://schemas.microsoft.com/office/drawing/2014/main" id="{F2D966BB-2FF6-C80D-3A10-85932D50BBB6}"/>
              </a:ext>
            </a:extLst>
          </p:cNvPr>
          <p:cNvPicPr>
            <a:picLocks noChangeAspect="1"/>
          </p:cNvPicPr>
          <p:nvPr/>
        </p:nvPicPr>
        <p:blipFill>
          <a:blip r:embed="rId3"/>
          <a:stretch>
            <a:fillRect/>
          </a:stretch>
        </p:blipFill>
        <p:spPr>
          <a:xfrm>
            <a:off x="548640" y="1719072"/>
            <a:ext cx="5822757" cy="4513473"/>
          </a:xfrm>
          <a:prstGeom prst="rect">
            <a:avLst/>
          </a:prstGeom>
        </p:spPr>
      </p:pic>
    </p:spTree>
    <p:extLst>
      <p:ext uri="{BB962C8B-B14F-4D97-AF65-F5344CB8AC3E}">
        <p14:creationId xmlns:p14="http://schemas.microsoft.com/office/powerpoint/2010/main" val="4117713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04  ·  THE APPARENT DISCOVERY</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TOP SEPARATING FEATURES</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A biologically plausible feature story.</a:t>
            </a:r>
            <a:endParaRPr lang="en-US" sz="2800" dirty="0"/>
          </a:p>
        </p:txBody>
      </p:sp>
      <p:graphicFrame>
        <p:nvGraphicFramePr>
          <p:cNvPr id="9" name="Chart 0"/>
          <p:cNvGraphicFramePr/>
          <p:nvPr/>
        </p:nvGraphicFramePr>
        <p:xfrm>
          <a:off x="548640" y="1965960"/>
          <a:ext cx="70408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818120" y="1965960"/>
            <a:ext cx="3977640" cy="3657600"/>
          </a:xfrm>
          <a:prstGeom prst="rect">
            <a:avLst/>
          </a:prstGeom>
          <a:solidFill>
            <a:srgbClr val="F4F6FA"/>
          </a:solidFill>
          <a:ln/>
        </p:spPr>
        <p:txBody>
          <a:bodyPr/>
          <a:lstStyle/>
          <a:p>
            <a:endParaRPr lang="en-GB"/>
          </a:p>
        </p:txBody>
      </p:sp>
      <p:sp>
        <p:nvSpPr>
          <p:cNvPr id="11" name="Text 8"/>
          <p:cNvSpPr/>
          <p:nvPr/>
        </p:nvSpPr>
        <p:spPr>
          <a:xfrm>
            <a:off x="8001000" y="2148840"/>
            <a:ext cx="36576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FEATURE STORY</a:t>
            </a:r>
            <a:endParaRPr lang="en-US" sz="900" dirty="0"/>
          </a:p>
        </p:txBody>
      </p:sp>
      <p:sp>
        <p:nvSpPr>
          <p:cNvPr id="12" name="Text 9"/>
          <p:cNvSpPr/>
          <p:nvPr/>
        </p:nvSpPr>
        <p:spPr>
          <a:xfrm>
            <a:off x="8001000" y="2468880"/>
            <a:ext cx="3611880" cy="128016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Top separators are dominated by signal-enhancement-ratio (SER) and peak-enhancement (PE) descriptors — entropy, homogeneity, dispersion.</a:t>
            </a:r>
            <a:endParaRPr lang="en-US" sz="1200" dirty="0"/>
          </a:p>
        </p:txBody>
      </p:sp>
      <p:sp>
        <p:nvSpPr>
          <p:cNvPr id="13" name="Text 10"/>
          <p:cNvSpPr/>
          <p:nvPr/>
        </p:nvSpPr>
        <p:spPr>
          <a:xfrm>
            <a:off x="8001000" y="3749040"/>
            <a:ext cx="3611880" cy="731520"/>
          </a:xfrm>
          <a:prstGeom prst="rect">
            <a:avLst/>
          </a:prstGeom>
          <a:noFill/>
          <a:ln/>
        </p:spPr>
        <p:txBody>
          <a:bodyPr wrap="square" lIns="0" tIns="0" rIns="0" bIns="0" rtlCol="0" anchor="ctr"/>
          <a:lstStyle/>
          <a:p>
            <a:pPr marL="0" indent="0">
              <a:buNone/>
            </a:pPr>
            <a:r>
              <a:rPr lang="en-US" sz="1200" b="1" dirty="0">
                <a:solidFill>
                  <a:srgbClr val="1A2330"/>
                </a:solidFill>
                <a:latin typeface="Aptos" pitchFamily="34" charset="0"/>
                <a:ea typeface="Aptos" pitchFamily="34" charset="-122"/>
                <a:cs typeface="Aptos" pitchFamily="34" charset="-120"/>
              </a:rPr>
              <a:t>Cohen d &gt; 2.2 for top features;</a:t>
            </a:r>
            <a:endParaRPr lang="en-US" sz="1200" dirty="0"/>
          </a:p>
          <a:p>
            <a:pPr marL="0" indent="0">
              <a:buNone/>
            </a:pPr>
            <a:r>
              <a:rPr lang="en-US" sz="1200" b="1" dirty="0">
                <a:solidFill>
                  <a:srgbClr val="1A2330"/>
                </a:solidFill>
                <a:latin typeface="Aptos" pitchFamily="34" charset="0"/>
                <a:ea typeface="Aptos" pitchFamily="34" charset="-122"/>
                <a:cs typeface="Aptos" pitchFamily="34" charset="-120"/>
              </a:rPr>
              <a:t>q-values down to ~1e-164.</a:t>
            </a:r>
            <a:endParaRPr lang="en-US" sz="1200" dirty="0"/>
          </a:p>
        </p:txBody>
      </p:sp>
      <p:sp>
        <p:nvSpPr>
          <p:cNvPr id="14" name="Text 11"/>
          <p:cNvSpPr/>
          <p:nvPr/>
        </p:nvSpPr>
        <p:spPr>
          <a:xfrm>
            <a:off x="8001000" y="4526280"/>
            <a:ext cx="3611880" cy="914400"/>
          </a:xfrm>
          <a:prstGeom prst="rect">
            <a:avLst/>
          </a:prstGeom>
          <a:noFill/>
          <a:ln/>
        </p:spPr>
        <p:txBody>
          <a:bodyPr wrap="square" lIns="0" tIns="0" rIns="0" bIns="0" rtlCol="0" anchor="ctr"/>
          <a:lstStyle/>
          <a:p>
            <a:pPr marL="0" indent="0">
              <a:buNone/>
            </a:pPr>
            <a:r>
              <a:rPr lang="en-US" sz="1100" i="1" dirty="0">
                <a:solidFill>
                  <a:srgbClr val="5C6B7E"/>
                </a:solidFill>
                <a:latin typeface="Aptos" pitchFamily="34" charset="0"/>
                <a:ea typeface="Aptos" pitchFamily="34" charset="-122"/>
                <a:cs typeface="Aptos" pitchFamily="34" charset="-120"/>
              </a:rPr>
              <a:t>Reads naturally as a vascularity-like appearance — heterogeneous vs. homogeneous enhancement.</a:t>
            </a:r>
            <a:endParaRPr lang="en-US" sz="1100" dirty="0"/>
          </a:p>
        </p:txBody>
      </p:sp>
      <p:sp>
        <p:nvSpPr>
          <p:cNvPr id="15" name="Text 12"/>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Biological plausibility makes the result attractive. It is not evidence by itself.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04  ·  THE APPARENT DISCOVERY</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SUBGROUP SURVIVAL ANALYSIS</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An apparent HR+/HER2+ survival signal.</a:t>
            </a:r>
            <a:endParaRPr lang="en-US" sz="2800" dirty="0"/>
          </a:p>
        </p:txBody>
      </p:sp>
      <p:sp>
        <p:nvSpPr>
          <p:cNvPr id="9" name="Text 7"/>
          <p:cNvSpPr/>
          <p:nvPr/>
        </p:nvSpPr>
        <p:spPr>
          <a:xfrm>
            <a:off x="548640" y="1965960"/>
            <a:ext cx="68580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EVENT RATE  ·  HR+/HER2+ SUBGROUP  (n = 101)</a:t>
            </a:r>
            <a:endParaRPr lang="en-US" sz="900" dirty="0"/>
          </a:p>
        </p:txBody>
      </p:sp>
      <p:graphicFrame>
        <p:nvGraphicFramePr>
          <p:cNvPr id="10" name="Chart 0"/>
          <p:cNvGraphicFramePr/>
          <p:nvPr/>
        </p:nvGraphicFramePr>
        <p:xfrm>
          <a:off x="548640" y="2286000"/>
          <a:ext cx="68580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8"/>
          <p:cNvSpPr/>
          <p:nvPr/>
        </p:nvSpPr>
        <p:spPr>
          <a:xfrm>
            <a:off x="7680960" y="1965960"/>
            <a:ext cx="4114800" cy="3429000"/>
          </a:xfrm>
          <a:prstGeom prst="rect">
            <a:avLst/>
          </a:prstGeom>
          <a:solidFill>
            <a:srgbClr val="F4F6FA"/>
          </a:solidFill>
          <a:ln/>
        </p:spPr>
        <p:txBody>
          <a:bodyPr/>
          <a:lstStyle/>
          <a:p>
            <a:endParaRPr lang="en-GB"/>
          </a:p>
        </p:txBody>
      </p:sp>
      <p:sp>
        <p:nvSpPr>
          <p:cNvPr id="12" name="Text 9"/>
          <p:cNvSpPr/>
          <p:nvPr/>
        </p:nvSpPr>
        <p:spPr>
          <a:xfrm>
            <a:off x="7863840" y="2148840"/>
            <a:ext cx="374904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STATISTICAL SUMMARY</a:t>
            </a:r>
            <a:endParaRPr lang="en-US" sz="900" dirty="0"/>
          </a:p>
        </p:txBody>
      </p:sp>
      <p:sp>
        <p:nvSpPr>
          <p:cNvPr id="13" name="Text 10"/>
          <p:cNvSpPr/>
          <p:nvPr/>
        </p:nvSpPr>
        <p:spPr>
          <a:xfrm>
            <a:off x="7863840" y="2514600"/>
            <a:ext cx="2194560" cy="365760"/>
          </a:xfrm>
          <a:prstGeom prst="rect">
            <a:avLst/>
          </a:prstGeom>
          <a:noFill/>
          <a:ln/>
        </p:spPr>
        <p:txBody>
          <a:bodyPr wrap="square" lIns="0" tIns="0" rIns="0" bIns="0" rtlCol="0" anchor="ctr"/>
          <a:lstStyle/>
          <a:p>
            <a:pPr marL="0" indent="0">
              <a:buNone/>
            </a:pPr>
            <a:r>
              <a:rPr lang="en-US" sz="1200" dirty="0">
                <a:solidFill>
                  <a:srgbClr val="5C6B7E"/>
                </a:solidFill>
                <a:latin typeface="Aptos" pitchFamily="34" charset="0"/>
                <a:ea typeface="Aptos" pitchFamily="34" charset="-122"/>
                <a:cs typeface="Aptos" pitchFamily="34" charset="-120"/>
              </a:rPr>
              <a:t>Log-rank p</a:t>
            </a:r>
            <a:endParaRPr lang="en-US" sz="1200" dirty="0"/>
          </a:p>
        </p:txBody>
      </p:sp>
      <p:sp>
        <p:nvSpPr>
          <p:cNvPr id="14" name="Text 11"/>
          <p:cNvSpPr/>
          <p:nvPr/>
        </p:nvSpPr>
        <p:spPr>
          <a:xfrm>
            <a:off x="10058400" y="2514600"/>
            <a:ext cx="1554480" cy="365760"/>
          </a:xfrm>
          <a:prstGeom prst="rect">
            <a:avLst/>
          </a:prstGeom>
          <a:noFill/>
          <a:ln/>
        </p:spPr>
        <p:txBody>
          <a:bodyPr wrap="square" lIns="0" tIns="0" rIns="0" bIns="0" rtlCol="0" anchor="ctr"/>
          <a:lstStyle/>
          <a:p>
            <a:pPr marL="0" indent="0" algn="r">
              <a:buNone/>
            </a:pPr>
            <a:r>
              <a:rPr lang="en-US" sz="1600" b="1" dirty="0">
                <a:solidFill>
                  <a:srgbClr val="082F5B"/>
                </a:solidFill>
                <a:latin typeface="Aptos Display" pitchFamily="34" charset="0"/>
                <a:ea typeface="Aptos Display" pitchFamily="34" charset="-122"/>
                <a:cs typeface="Aptos Display" pitchFamily="34" charset="-120"/>
              </a:rPr>
              <a:t>0.010</a:t>
            </a:r>
            <a:endParaRPr lang="en-US" sz="1600" dirty="0"/>
          </a:p>
        </p:txBody>
      </p:sp>
      <p:sp>
        <p:nvSpPr>
          <p:cNvPr id="15" name="Shape 12"/>
          <p:cNvSpPr/>
          <p:nvPr/>
        </p:nvSpPr>
        <p:spPr>
          <a:xfrm>
            <a:off x="7863840" y="2926080"/>
            <a:ext cx="3749040" cy="5486"/>
          </a:xfrm>
          <a:prstGeom prst="rect">
            <a:avLst/>
          </a:prstGeom>
          <a:solidFill>
            <a:srgbClr val="C9D2DC"/>
          </a:solidFill>
          <a:ln/>
        </p:spPr>
        <p:txBody>
          <a:bodyPr/>
          <a:lstStyle/>
          <a:p>
            <a:endParaRPr lang="en-GB"/>
          </a:p>
        </p:txBody>
      </p:sp>
      <p:sp>
        <p:nvSpPr>
          <p:cNvPr id="16" name="Text 13"/>
          <p:cNvSpPr/>
          <p:nvPr/>
        </p:nvSpPr>
        <p:spPr>
          <a:xfrm>
            <a:off x="7863840" y="3017520"/>
            <a:ext cx="2194560" cy="365760"/>
          </a:xfrm>
          <a:prstGeom prst="rect">
            <a:avLst/>
          </a:prstGeom>
          <a:noFill/>
          <a:ln/>
        </p:spPr>
        <p:txBody>
          <a:bodyPr wrap="square" lIns="0" tIns="0" rIns="0" bIns="0" rtlCol="0" anchor="ctr"/>
          <a:lstStyle/>
          <a:p>
            <a:pPr marL="0" indent="0">
              <a:buNone/>
            </a:pPr>
            <a:r>
              <a:rPr lang="en-US" sz="1200" dirty="0">
                <a:solidFill>
                  <a:srgbClr val="5C6B7E"/>
                </a:solidFill>
                <a:latin typeface="Aptos" pitchFamily="34" charset="0"/>
                <a:ea typeface="Aptos" pitchFamily="34" charset="-122"/>
                <a:cs typeface="Aptos" pitchFamily="34" charset="-120"/>
              </a:rPr>
              <a:t>Unadjusted Cox HR</a:t>
            </a:r>
            <a:endParaRPr lang="en-US" sz="1200" dirty="0"/>
          </a:p>
        </p:txBody>
      </p:sp>
      <p:sp>
        <p:nvSpPr>
          <p:cNvPr id="17" name="Text 14"/>
          <p:cNvSpPr/>
          <p:nvPr/>
        </p:nvSpPr>
        <p:spPr>
          <a:xfrm>
            <a:off x="10058400" y="3017520"/>
            <a:ext cx="1554480" cy="365760"/>
          </a:xfrm>
          <a:prstGeom prst="rect">
            <a:avLst/>
          </a:prstGeom>
          <a:noFill/>
          <a:ln/>
        </p:spPr>
        <p:txBody>
          <a:bodyPr wrap="square" lIns="0" tIns="0" rIns="0" bIns="0" rtlCol="0" anchor="ctr"/>
          <a:lstStyle/>
          <a:p>
            <a:pPr marL="0" indent="0" algn="r">
              <a:buNone/>
            </a:pPr>
            <a:r>
              <a:rPr lang="en-US" sz="1600" b="1" dirty="0">
                <a:solidFill>
                  <a:srgbClr val="082F5B"/>
                </a:solidFill>
                <a:latin typeface="Aptos Display" pitchFamily="34" charset="0"/>
                <a:ea typeface="Aptos Display" pitchFamily="34" charset="-122"/>
                <a:cs typeface="Aptos Display" pitchFamily="34" charset="-120"/>
              </a:rPr>
              <a:t>4.76</a:t>
            </a:r>
            <a:endParaRPr lang="en-US" sz="1600" dirty="0"/>
          </a:p>
        </p:txBody>
      </p:sp>
      <p:sp>
        <p:nvSpPr>
          <p:cNvPr id="18" name="Shape 15"/>
          <p:cNvSpPr/>
          <p:nvPr/>
        </p:nvSpPr>
        <p:spPr>
          <a:xfrm>
            <a:off x="7863840" y="3429000"/>
            <a:ext cx="3749040" cy="5486"/>
          </a:xfrm>
          <a:prstGeom prst="rect">
            <a:avLst/>
          </a:prstGeom>
          <a:solidFill>
            <a:srgbClr val="C9D2DC"/>
          </a:solidFill>
          <a:ln/>
        </p:spPr>
        <p:txBody>
          <a:bodyPr/>
          <a:lstStyle/>
          <a:p>
            <a:endParaRPr lang="en-GB"/>
          </a:p>
        </p:txBody>
      </p:sp>
      <p:sp>
        <p:nvSpPr>
          <p:cNvPr id="19" name="Text 16"/>
          <p:cNvSpPr/>
          <p:nvPr/>
        </p:nvSpPr>
        <p:spPr>
          <a:xfrm>
            <a:off x="7863840" y="3520440"/>
            <a:ext cx="2194560" cy="365760"/>
          </a:xfrm>
          <a:prstGeom prst="rect">
            <a:avLst/>
          </a:prstGeom>
          <a:noFill/>
          <a:ln/>
        </p:spPr>
        <p:txBody>
          <a:bodyPr wrap="square" lIns="0" tIns="0" rIns="0" bIns="0" rtlCol="0" anchor="ctr"/>
          <a:lstStyle/>
          <a:p>
            <a:pPr marL="0" indent="0">
              <a:buNone/>
            </a:pPr>
            <a:r>
              <a:rPr lang="en-US" sz="1200" dirty="0">
                <a:solidFill>
                  <a:srgbClr val="5C6B7E"/>
                </a:solidFill>
                <a:latin typeface="Aptos" pitchFamily="34" charset="0"/>
                <a:ea typeface="Aptos" pitchFamily="34" charset="-122"/>
                <a:cs typeface="Aptos" pitchFamily="34" charset="-120"/>
              </a:rPr>
              <a:t>95% CI</a:t>
            </a:r>
            <a:endParaRPr lang="en-US" sz="1200" dirty="0"/>
          </a:p>
        </p:txBody>
      </p:sp>
      <p:sp>
        <p:nvSpPr>
          <p:cNvPr id="20" name="Text 17"/>
          <p:cNvSpPr/>
          <p:nvPr/>
        </p:nvSpPr>
        <p:spPr>
          <a:xfrm>
            <a:off x="10058400" y="3520440"/>
            <a:ext cx="1554480" cy="365760"/>
          </a:xfrm>
          <a:prstGeom prst="rect">
            <a:avLst/>
          </a:prstGeom>
          <a:noFill/>
          <a:ln/>
        </p:spPr>
        <p:txBody>
          <a:bodyPr wrap="square" lIns="0" tIns="0" rIns="0" bIns="0" rtlCol="0" anchor="ctr"/>
          <a:lstStyle/>
          <a:p>
            <a:pPr marL="0" indent="0" algn="r">
              <a:buNone/>
            </a:pPr>
            <a:r>
              <a:rPr lang="en-US" sz="1600" b="1" dirty="0">
                <a:solidFill>
                  <a:srgbClr val="082F5B"/>
                </a:solidFill>
                <a:latin typeface="Aptos Display" pitchFamily="34" charset="0"/>
                <a:ea typeface="Aptos Display" pitchFamily="34" charset="-122"/>
                <a:cs typeface="Aptos Display" pitchFamily="34" charset="-120"/>
              </a:rPr>
              <a:t>1.22 – 18.61</a:t>
            </a:r>
            <a:endParaRPr lang="en-US" sz="1600" dirty="0"/>
          </a:p>
        </p:txBody>
      </p:sp>
      <p:sp>
        <p:nvSpPr>
          <p:cNvPr id="21" name="Shape 18"/>
          <p:cNvSpPr/>
          <p:nvPr/>
        </p:nvSpPr>
        <p:spPr>
          <a:xfrm>
            <a:off x="7863840" y="3931920"/>
            <a:ext cx="3749040" cy="5486"/>
          </a:xfrm>
          <a:prstGeom prst="rect">
            <a:avLst/>
          </a:prstGeom>
          <a:solidFill>
            <a:srgbClr val="C9D2DC"/>
          </a:solidFill>
          <a:ln/>
        </p:spPr>
        <p:txBody>
          <a:bodyPr/>
          <a:lstStyle/>
          <a:p>
            <a:endParaRPr lang="en-GB"/>
          </a:p>
        </p:txBody>
      </p:sp>
      <p:sp>
        <p:nvSpPr>
          <p:cNvPr id="22" name="Text 19"/>
          <p:cNvSpPr/>
          <p:nvPr/>
        </p:nvSpPr>
        <p:spPr>
          <a:xfrm>
            <a:off x="7863840" y="4023360"/>
            <a:ext cx="2194560" cy="365760"/>
          </a:xfrm>
          <a:prstGeom prst="rect">
            <a:avLst/>
          </a:prstGeom>
          <a:noFill/>
          <a:ln/>
        </p:spPr>
        <p:txBody>
          <a:bodyPr wrap="square" lIns="0" tIns="0" rIns="0" bIns="0" rtlCol="0" anchor="ctr"/>
          <a:lstStyle/>
          <a:p>
            <a:pPr marL="0" indent="0">
              <a:buNone/>
            </a:pPr>
            <a:r>
              <a:rPr lang="en-US" sz="1200" dirty="0">
                <a:solidFill>
                  <a:srgbClr val="5C6B7E"/>
                </a:solidFill>
                <a:latin typeface="Aptos" pitchFamily="34" charset="0"/>
                <a:ea typeface="Aptos" pitchFamily="34" charset="-122"/>
                <a:cs typeface="Aptos" pitchFamily="34" charset="-120"/>
              </a:rPr>
              <a:t>Cox p</a:t>
            </a:r>
            <a:endParaRPr lang="en-US" sz="1200" dirty="0"/>
          </a:p>
        </p:txBody>
      </p:sp>
      <p:sp>
        <p:nvSpPr>
          <p:cNvPr id="23" name="Text 20"/>
          <p:cNvSpPr/>
          <p:nvPr/>
        </p:nvSpPr>
        <p:spPr>
          <a:xfrm>
            <a:off x="10058400" y="4023360"/>
            <a:ext cx="1554480" cy="365760"/>
          </a:xfrm>
          <a:prstGeom prst="rect">
            <a:avLst/>
          </a:prstGeom>
          <a:noFill/>
          <a:ln/>
        </p:spPr>
        <p:txBody>
          <a:bodyPr wrap="square" lIns="0" tIns="0" rIns="0" bIns="0" rtlCol="0" anchor="ctr"/>
          <a:lstStyle/>
          <a:p>
            <a:pPr marL="0" indent="0" algn="r">
              <a:buNone/>
            </a:pPr>
            <a:r>
              <a:rPr lang="en-US" sz="1600" b="1" dirty="0">
                <a:solidFill>
                  <a:srgbClr val="082F5B"/>
                </a:solidFill>
                <a:latin typeface="Aptos Display" pitchFamily="34" charset="0"/>
                <a:ea typeface="Aptos Display" pitchFamily="34" charset="-122"/>
                <a:cs typeface="Aptos Display" pitchFamily="34" charset="-120"/>
              </a:rPr>
              <a:t>0.02</a:t>
            </a:r>
            <a:endParaRPr lang="en-US" sz="1600" dirty="0"/>
          </a:p>
        </p:txBody>
      </p:sp>
      <p:sp>
        <p:nvSpPr>
          <p:cNvPr id="24" name="Shape 21"/>
          <p:cNvSpPr/>
          <p:nvPr/>
        </p:nvSpPr>
        <p:spPr>
          <a:xfrm>
            <a:off x="548640" y="5532120"/>
            <a:ext cx="11247120" cy="411480"/>
          </a:xfrm>
          <a:prstGeom prst="rect">
            <a:avLst/>
          </a:prstGeom>
          <a:solidFill>
            <a:srgbClr val="FBEEEE"/>
          </a:solidFill>
          <a:ln/>
        </p:spPr>
        <p:txBody>
          <a:bodyPr/>
          <a:lstStyle/>
          <a:p>
            <a:endParaRPr lang="en-GB"/>
          </a:p>
        </p:txBody>
      </p:sp>
      <p:sp>
        <p:nvSpPr>
          <p:cNvPr id="25" name="Shape 22"/>
          <p:cNvSpPr/>
          <p:nvPr/>
        </p:nvSpPr>
        <p:spPr>
          <a:xfrm>
            <a:off x="548640" y="5532120"/>
            <a:ext cx="73152" cy="411480"/>
          </a:xfrm>
          <a:prstGeom prst="rect">
            <a:avLst/>
          </a:prstGeom>
          <a:solidFill>
            <a:srgbClr val="B33C3C"/>
          </a:solidFill>
          <a:ln/>
        </p:spPr>
        <p:txBody>
          <a:bodyPr/>
          <a:lstStyle/>
          <a:p>
            <a:endParaRPr lang="en-GB"/>
          </a:p>
        </p:txBody>
      </p:sp>
      <p:sp>
        <p:nvSpPr>
          <p:cNvPr id="26" name="Text 23"/>
          <p:cNvSpPr/>
          <p:nvPr/>
        </p:nvSpPr>
        <p:spPr>
          <a:xfrm>
            <a:off x="777240" y="5532120"/>
            <a:ext cx="10972800" cy="411480"/>
          </a:xfrm>
          <a:prstGeom prst="rect">
            <a:avLst/>
          </a:prstGeom>
          <a:noFill/>
          <a:ln/>
        </p:spPr>
        <p:txBody>
          <a:bodyPr wrap="square" lIns="0" tIns="0" rIns="0" bIns="0" rtlCol="0" anchor="ctr"/>
          <a:lstStyle/>
          <a:p>
            <a:pPr marL="0" indent="0">
              <a:buNone/>
            </a:pPr>
            <a:r>
              <a:rPr lang="en-US" sz="1200" i="1" dirty="0">
                <a:solidFill>
                  <a:srgbClr val="B33C3C"/>
                </a:solidFill>
                <a:latin typeface="Aptos" pitchFamily="34" charset="0"/>
                <a:ea typeface="Aptos" pitchFamily="34" charset="-122"/>
                <a:cs typeface="Aptos" pitchFamily="34" charset="-120"/>
              </a:rPr>
              <a:t>Only 10 recurrence events  ·  the unadjusted estimate is large but imprecise — this becomes the counterexample for the falsification chain.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F21C0B-8A72-9262-A30B-08C24B65612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697D153-CBED-ED74-651B-F420F2DF2335}"/>
              </a:ext>
            </a:extLst>
          </p:cNvPr>
          <p:cNvSpPr/>
          <p:nvPr/>
        </p:nvSpPr>
        <p:spPr>
          <a:xfrm>
            <a:off x="0" y="0"/>
            <a:ext cx="12191695" cy="64008"/>
          </a:xfrm>
          <a:prstGeom prst="rect">
            <a:avLst/>
          </a:prstGeom>
          <a:solidFill>
            <a:srgbClr val="082F5B"/>
          </a:solidFill>
          <a:ln/>
        </p:spPr>
        <p:txBody>
          <a:bodyPr/>
          <a:lstStyle/>
          <a:p>
            <a:endParaRPr lang="en-GB"/>
          </a:p>
        </p:txBody>
      </p:sp>
      <p:sp>
        <p:nvSpPr>
          <p:cNvPr id="3" name="Shape 1">
            <a:extLst>
              <a:ext uri="{FF2B5EF4-FFF2-40B4-BE49-F238E27FC236}">
                <a16:creationId xmlns:a16="http://schemas.microsoft.com/office/drawing/2014/main" id="{874A054A-7EEE-5029-6025-14062B94AA19}"/>
              </a:ext>
            </a:extLst>
          </p:cNvPr>
          <p:cNvSpPr/>
          <p:nvPr/>
        </p:nvSpPr>
        <p:spPr>
          <a:xfrm>
            <a:off x="548640" y="6473952"/>
            <a:ext cx="11094415" cy="10973"/>
          </a:xfrm>
          <a:prstGeom prst="rect">
            <a:avLst/>
          </a:prstGeom>
          <a:solidFill>
            <a:srgbClr val="C9D2DC"/>
          </a:solidFill>
          <a:ln/>
        </p:spPr>
        <p:txBody>
          <a:bodyPr/>
          <a:lstStyle/>
          <a:p>
            <a:endParaRPr lang="en-GB"/>
          </a:p>
        </p:txBody>
      </p:sp>
      <p:sp>
        <p:nvSpPr>
          <p:cNvPr id="4" name="Text 2">
            <a:extLst>
              <a:ext uri="{FF2B5EF4-FFF2-40B4-BE49-F238E27FC236}">
                <a16:creationId xmlns:a16="http://schemas.microsoft.com/office/drawing/2014/main" id="{851D73C1-46CE-D95B-100B-55C6B3E4E206}"/>
              </a:ext>
            </a:extLst>
          </p:cNvPr>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04  ·  THE APPARENT DISCOVERY</a:t>
            </a:r>
            <a:endParaRPr lang="en-US" sz="900" dirty="0"/>
          </a:p>
        </p:txBody>
      </p:sp>
      <p:sp>
        <p:nvSpPr>
          <p:cNvPr id="5" name="Text 3">
            <a:extLst>
              <a:ext uri="{FF2B5EF4-FFF2-40B4-BE49-F238E27FC236}">
                <a16:creationId xmlns:a16="http://schemas.microsoft.com/office/drawing/2014/main" id="{4EA1931A-6309-2B15-11D7-D4AC3F58B1B3}"/>
              </a:ext>
            </a:extLst>
          </p:cNvPr>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a:extLst>
              <a:ext uri="{FF2B5EF4-FFF2-40B4-BE49-F238E27FC236}">
                <a16:creationId xmlns:a16="http://schemas.microsoft.com/office/drawing/2014/main" id="{58924E2A-D1C3-BB21-AEBB-DE8B6F0B016C}"/>
              </a:ext>
            </a:extLst>
          </p:cNvPr>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SUBGROUP SURVIVAL ANALYSIS</a:t>
            </a:r>
            <a:endParaRPr lang="en-US" sz="1000" dirty="0"/>
          </a:p>
        </p:txBody>
      </p:sp>
      <p:sp>
        <p:nvSpPr>
          <p:cNvPr id="7" name="Shape 5">
            <a:extLst>
              <a:ext uri="{FF2B5EF4-FFF2-40B4-BE49-F238E27FC236}">
                <a16:creationId xmlns:a16="http://schemas.microsoft.com/office/drawing/2014/main" id="{DD448574-5B29-6C5F-C57D-DD454C2A67A2}"/>
              </a:ext>
            </a:extLst>
          </p:cNvPr>
          <p:cNvSpPr/>
          <p:nvPr/>
        </p:nvSpPr>
        <p:spPr>
          <a:xfrm>
            <a:off x="548640" y="713232"/>
            <a:ext cx="502920" cy="36576"/>
          </a:xfrm>
          <a:prstGeom prst="rect">
            <a:avLst/>
          </a:prstGeom>
          <a:solidFill>
            <a:srgbClr val="0B4F94"/>
          </a:solidFill>
          <a:ln/>
        </p:spPr>
        <p:txBody>
          <a:bodyPr/>
          <a:lstStyle/>
          <a:p>
            <a:endParaRPr lang="en-GB"/>
          </a:p>
        </p:txBody>
      </p:sp>
      <p:sp>
        <p:nvSpPr>
          <p:cNvPr id="8" name="Text 6">
            <a:extLst>
              <a:ext uri="{FF2B5EF4-FFF2-40B4-BE49-F238E27FC236}">
                <a16:creationId xmlns:a16="http://schemas.microsoft.com/office/drawing/2014/main" id="{618A4052-5902-3D8E-F673-B4D6A55BD33F}"/>
              </a:ext>
            </a:extLst>
          </p:cNvPr>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An apparent HR+/HER2+ survival signal.</a:t>
            </a:r>
            <a:endParaRPr lang="en-US" sz="2800" dirty="0"/>
          </a:p>
        </p:txBody>
      </p:sp>
      <p:sp>
        <p:nvSpPr>
          <p:cNvPr id="11" name="Shape 8">
            <a:extLst>
              <a:ext uri="{FF2B5EF4-FFF2-40B4-BE49-F238E27FC236}">
                <a16:creationId xmlns:a16="http://schemas.microsoft.com/office/drawing/2014/main" id="{7B0863DE-364A-51D3-CF3A-E38BA62FF00A}"/>
              </a:ext>
            </a:extLst>
          </p:cNvPr>
          <p:cNvSpPr/>
          <p:nvPr/>
        </p:nvSpPr>
        <p:spPr>
          <a:xfrm>
            <a:off x="7680960" y="1965960"/>
            <a:ext cx="4114800" cy="3429000"/>
          </a:xfrm>
          <a:prstGeom prst="rect">
            <a:avLst/>
          </a:prstGeom>
          <a:solidFill>
            <a:srgbClr val="F4F6FA"/>
          </a:solidFill>
          <a:ln/>
        </p:spPr>
        <p:txBody>
          <a:bodyPr/>
          <a:lstStyle/>
          <a:p>
            <a:endParaRPr lang="en-GB"/>
          </a:p>
        </p:txBody>
      </p:sp>
      <p:sp>
        <p:nvSpPr>
          <p:cNvPr id="24" name="Shape 21">
            <a:extLst>
              <a:ext uri="{FF2B5EF4-FFF2-40B4-BE49-F238E27FC236}">
                <a16:creationId xmlns:a16="http://schemas.microsoft.com/office/drawing/2014/main" id="{D9400C58-F1F9-7456-3057-D2117D3E1309}"/>
              </a:ext>
            </a:extLst>
          </p:cNvPr>
          <p:cNvSpPr/>
          <p:nvPr/>
        </p:nvSpPr>
        <p:spPr>
          <a:xfrm>
            <a:off x="548640" y="5532120"/>
            <a:ext cx="11247120" cy="411480"/>
          </a:xfrm>
          <a:prstGeom prst="rect">
            <a:avLst/>
          </a:prstGeom>
          <a:solidFill>
            <a:srgbClr val="FBEEEE"/>
          </a:solidFill>
          <a:ln/>
        </p:spPr>
        <p:txBody>
          <a:bodyPr/>
          <a:lstStyle/>
          <a:p>
            <a:endParaRPr lang="en-GB"/>
          </a:p>
        </p:txBody>
      </p:sp>
      <p:sp>
        <p:nvSpPr>
          <p:cNvPr id="25" name="Shape 22">
            <a:extLst>
              <a:ext uri="{FF2B5EF4-FFF2-40B4-BE49-F238E27FC236}">
                <a16:creationId xmlns:a16="http://schemas.microsoft.com/office/drawing/2014/main" id="{486F22A1-3018-9259-81B2-3E8A0038CE2E}"/>
              </a:ext>
            </a:extLst>
          </p:cNvPr>
          <p:cNvSpPr/>
          <p:nvPr/>
        </p:nvSpPr>
        <p:spPr>
          <a:xfrm>
            <a:off x="548640" y="5532120"/>
            <a:ext cx="73152" cy="411480"/>
          </a:xfrm>
          <a:prstGeom prst="rect">
            <a:avLst/>
          </a:prstGeom>
          <a:solidFill>
            <a:srgbClr val="B33C3C"/>
          </a:solidFill>
          <a:ln/>
        </p:spPr>
        <p:txBody>
          <a:bodyPr/>
          <a:lstStyle/>
          <a:p>
            <a:endParaRPr lang="en-GB"/>
          </a:p>
        </p:txBody>
      </p:sp>
      <p:sp>
        <p:nvSpPr>
          <p:cNvPr id="26" name="Text 23">
            <a:extLst>
              <a:ext uri="{FF2B5EF4-FFF2-40B4-BE49-F238E27FC236}">
                <a16:creationId xmlns:a16="http://schemas.microsoft.com/office/drawing/2014/main" id="{9930733C-1042-84D6-B3EC-17B6BEE7F4FD}"/>
              </a:ext>
            </a:extLst>
          </p:cNvPr>
          <p:cNvSpPr/>
          <p:nvPr/>
        </p:nvSpPr>
        <p:spPr>
          <a:xfrm>
            <a:off x="777240" y="5532120"/>
            <a:ext cx="10972800" cy="411480"/>
          </a:xfrm>
          <a:prstGeom prst="rect">
            <a:avLst/>
          </a:prstGeom>
          <a:noFill/>
          <a:ln/>
        </p:spPr>
        <p:txBody>
          <a:bodyPr wrap="square" lIns="0" tIns="0" rIns="0" bIns="0" rtlCol="0" anchor="ctr"/>
          <a:lstStyle/>
          <a:p>
            <a:pPr marL="0" indent="0">
              <a:buNone/>
            </a:pPr>
            <a:r>
              <a:rPr lang="en-US" sz="1200" i="1" dirty="0">
                <a:solidFill>
                  <a:srgbClr val="B33C3C"/>
                </a:solidFill>
                <a:latin typeface="Aptos" pitchFamily="34" charset="0"/>
                <a:ea typeface="Aptos" pitchFamily="34" charset="-122"/>
                <a:cs typeface="Aptos" pitchFamily="34" charset="-120"/>
              </a:rPr>
              <a:t>Only 10 recurrence events  ·  the unadjusted estimate is large but imprecise — this becomes the counterexample for the falsification chain.</a:t>
            </a:r>
            <a:endParaRPr lang="en-US" sz="1200" dirty="0"/>
          </a:p>
        </p:txBody>
      </p:sp>
      <p:pic>
        <p:nvPicPr>
          <p:cNvPr id="27" name="Picture 26">
            <a:extLst>
              <a:ext uri="{FF2B5EF4-FFF2-40B4-BE49-F238E27FC236}">
                <a16:creationId xmlns:a16="http://schemas.microsoft.com/office/drawing/2014/main" id="{026265E9-A2B7-0FF6-AB0F-E437E3FB9111}"/>
              </a:ext>
            </a:extLst>
          </p:cNvPr>
          <p:cNvPicPr>
            <a:picLocks noChangeAspect="1"/>
          </p:cNvPicPr>
          <p:nvPr/>
        </p:nvPicPr>
        <p:blipFill>
          <a:blip r:embed="rId3"/>
          <a:stretch>
            <a:fillRect/>
          </a:stretch>
        </p:blipFill>
        <p:spPr>
          <a:xfrm>
            <a:off x="396240" y="1863547"/>
            <a:ext cx="11733276" cy="3259243"/>
          </a:xfrm>
          <a:prstGeom prst="rect">
            <a:avLst/>
          </a:prstGeom>
        </p:spPr>
      </p:pic>
    </p:spTree>
    <p:extLst>
      <p:ext uri="{BB962C8B-B14F-4D97-AF65-F5344CB8AC3E}">
        <p14:creationId xmlns:p14="http://schemas.microsoft.com/office/powerpoint/2010/main" val="3467683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04  ·  THE TURN</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PIVOT</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Now we ask whether this survives falsification.</a:t>
            </a:r>
            <a:endParaRPr lang="en-US" sz="2800" dirty="0"/>
          </a:p>
        </p:txBody>
      </p:sp>
      <p:sp>
        <p:nvSpPr>
          <p:cNvPr id="9" name="Text 7"/>
          <p:cNvSpPr/>
          <p:nvPr/>
        </p:nvSpPr>
        <p:spPr>
          <a:xfrm>
            <a:off x="548640" y="2286000"/>
            <a:ext cx="11064240" cy="640080"/>
          </a:xfrm>
          <a:prstGeom prst="rect">
            <a:avLst/>
          </a:prstGeom>
          <a:noFill/>
          <a:ln/>
        </p:spPr>
        <p:txBody>
          <a:bodyPr wrap="square" lIns="0" tIns="0" rIns="0" bIns="0" rtlCol="0" anchor="ctr"/>
          <a:lstStyle/>
          <a:p>
            <a:pPr marL="0" indent="0">
              <a:buNone/>
            </a:pPr>
            <a:r>
              <a:rPr lang="en-US" sz="2600" i="1" dirty="0">
                <a:solidFill>
                  <a:srgbClr val="5C6B7E"/>
                </a:solidFill>
                <a:latin typeface="Aptos Display" pitchFamily="34" charset="0"/>
                <a:ea typeface="Aptos Display" pitchFamily="34" charset="-122"/>
                <a:cs typeface="Aptos Display" pitchFamily="34" charset="-120"/>
              </a:rPr>
              <a:t>Not “does a stable cluster exist?”</a:t>
            </a:r>
            <a:endParaRPr lang="en-US" sz="2600" dirty="0"/>
          </a:p>
        </p:txBody>
      </p:sp>
      <p:sp>
        <p:nvSpPr>
          <p:cNvPr id="10" name="Text 8"/>
          <p:cNvSpPr/>
          <p:nvPr/>
        </p:nvSpPr>
        <p:spPr>
          <a:xfrm>
            <a:off x="548640" y="2880360"/>
            <a:ext cx="11064240" cy="640080"/>
          </a:xfrm>
          <a:prstGeom prst="rect">
            <a:avLst/>
          </a:prstGeom>
          <a:noFill/>
          <a:ln/>
        </p:spPr>
        <p:txBody>
          <a:bodyPr wrap="square" lIns="0" tIns="0" rIns="0" bIns="0" rtlCol="0" anchor="ctr"/>
          <a:lstStyle/>
          <a:p>
            <a:pPr marL="0" indent="0">
              <a:buNone/>
            </a:pPr>
            <a:r>
              <a:rPr lang="en-US" sz="2600" i="1" dirty="0">
                <a:solidFill>
                  <a:srgbClr val="5C6B7E"/>
                </a:solidFill>
                <a:latin typeface="Aptos Display" pitchFamily="34" charset="0"/>
                <a:ea typeface="Aptos Display" pitchFamily="34" charset="-122"/>
                <a:cs typeface="Aptos Display" pitchFamily="34" charset="-120"/>
              </a:rPr>
              <a:t>It does.</a:t>
            </a:r>
            <a:endParaRPr lang="en-US" sz="2600" dirty="0"/>
          </a:p>
        </p:txBody>
      </p:sp>
      <p:sp>
        <p:nvSpPr>
          <p:cNvPr id="11" name="Shape 9"/>
          <p:cNvSpPr/>
          <p:nvPr/>
        </p:nvSpPr>
        <p:spPr>
          <a:xfrm>
            <a:off x="548640" y="3703320"/>
            <a:ext cx="914400" cy="36576"/>
          </a:xfrm>
          <a:prstGeom prst="rect">
            <a:avLst/>
          </a:prstGeom>
          <a:solidFill>
            <a:srgbClr val="B33C3C"/>
          </a:solidFill>
          <a:ln/>
        </p:spPr>
        <p:txBody>
          <a:bodyPr/>
          <a:lstStyle/>
          <a:p>
            <a:endParaRPr lang="en-GB"/>
          </a:p>
        </p:txBody>
      </p:sp>
      <p:sp>
        <p:nvSpPr>
          <p:cNvPr id="12" name="Text 10"/>
          <p:cNvSpPr/>
          <p:nvPr/>
        </p:nvSpPr>
        <p:spPr>
          <a:xfrm>
            <a:off x="548640" y="3886200"/>
            <a:ext cx="11064240" cy="1280160"/>
          </a:xfrm>
          <a:prstGeom prst="rect">
            <a:avLst/>
          </a:prstGeom>
          <a:noFill/>
          <a:ln/>
        </p:spPr>
        <p:txBody>
          <a:bodyPr wrap="square" lIns="0" tIns="0" rIns="0" bIns="0" rtlCol="0" anchor="ctr"/>
          <a:lstStyle/>
          <a:p>
            <a:pPr marL="0" indent="0">
              <a:buNone/>
            </a:pPr>
            <a:r>
              <a:rPr lang="en-US" sz="2400" b="1" dirty="0">
                <a:solidFill>
                  <a:srgbClr val="082F5B"/>
                </a:solidFill>
                <a:latin typeface="Aptos Display" pitchFamily="34" charset="0"/>
                <a:ea typeface="Aptos Display" pitchFamily="34" charset="-122"/>
                <a:cs typeface="Aptos Display" pitchFamily="34" charset="-120"/>
              </a:rPr>
              <a:t>The real question is whether the same biological interpretation survives when technical structure is explicitly challenged.</a:t>
            </a:r>
            <a:endParaRPr lang="en-US" sz="2400" dirty="0"/>
          </a:p>
        </p:txBody>
      </p:sp>
      <p:sp>
        <p:nvSpPr>
          <p:cNvPr id="13" name="Text 11"/>
          <p:cNvSpPr/>
          <p:nvPr/>
        </p:nvSpPr>
        <p:spPr>
          <a:xfrm>
            <a:off x="548640" y="5440680"/>
            <a:ext cx="11064240" cy="548640"/>
          </a:xfrm>
          <a:prstGeom prst="rect">
            <a:avLst/>
          </a:prstGeom>
          <a:noFill/>
          <a:ln/>
        </p:spPr>
        <p:txBody>
          <a:bodyPr wrap="square" lIns="0" tIns="0" rIns="0" bIns="0" rtlCol="0" anchor="ctr"/>
          <a:lstStyle/>
          <a:p>
            <a:pPr marL="0" indent="0">
              <a:buNone/>
            </a:pPr>
            <a:r>
              <a:rPr lang="en-US" sz="1600" b="1" i="1" dirty="0">
                <a:solidFill>
                  <a:srgbClr val="0B4F94"/>
                </a:solidFill>
                <a:latin typeface="Aptos" pitchFamily="34" charset="0"/>
                <a:ea typeface="Aptos" pitchFamily="34" charset="-122"/>
                <a:cs typeface="Aptos" pitchFamily="34" charset="-120"/>
              </a:rPr>
              <a:t>If the phenotype is biological, technical correction should refine it — not replace it.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05  ·  FALSIFICATION FRAMEWORK</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METHOD</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An acquisition-aware falsification chain.</a:t>
            </a:r>
            <a:endParaRPr lang="en-US" sz="2800" dirty="0"/>
          </a:p>
        </p:txBody>
      </p:sp>
      <p:sp>
        <p:nvSpPr>
          <p:cNvPr id="9" name="Shape 7"/>
          <p:cNvSpPr/>
          <p:nvPr/>
        </p:nvSpPr>
        <p:spPr>
          <a:xfrm>
            <a:off x="548640" y="2148840"/>
            <a:ext cx="2148840" cy="1051560"/>
          </a:xfrm>
          <a:prstGeom prst="rect">
            <a:avLst/>
          </a:prstGeom>
          <a:solidFill>
            <a:srgbClr val="F4F6FA"/>
          </a:solidFill>
          <a:ln/>
        </p:spPr>
        <p:txBody>
          <a:bodyPr/>
          <a:lstStyle/>
          <a:p>
            <a:endParaRPr lang="en-GB"/>
          </a:p>
        </p:txBody>
      </p:sp>
      <p:sp>
        <p:nvSpPr>
          <p:cNvPr id="10" name="Shape 8"/>
          <p:cNvSpPr/>
          <p:nvPr/>
        </p:nvSpPr>
        <p:spPr>
          <a:xfrm>
            <a:off x="548640" y="2148840"/>
            <a:ext cx="2148840" cy="54864"/>
          </a:xfrm>
          <a:prstGeom prst="rect">
            <a:avLst/>
          </a:prstGeom>
          <a:solidFill>
            <a:srgbClr val="0B4F94"/>
          </a:solidFill>
          <a:ln/>
        </p:spPr>
        <p:txBody>
          <a:bodyPr/>
          <a:lstStyle/>
          <a:p>
            <a:endParaRPr lang="en-GB"/>
          </a:p>
        </p:txBody>
      </p:sp>
      <p:sp>
        <p:nvSpPr>
          <p:cNvPr id="11" name="Text 9"/>
          <p:cNvSpPr/>
          <p:nvPr/>
        </p:nvSpPr>
        <p:spPr>
          <a:xfrm>
            <a:off x="685800" y="2313432"/>
            <a:ext cx="731520" cy="274320"/>
          </a:xfrm>
          <a:prstGeom prst="rect">
            <a:avLst/>
          </a:prstGeom>
          <a:noFill/>
          <a:ln/>
        </p:spPr>
        <p:txBody>
          <a:bodyPr wrap="square" lIns="0" tIns="0" rIns="0" bIns="0" rtlCol="0" anchor="ctr"/>
          <a:lstStyle/>
          <a:p>
            <a:pPr marL="0" indent="0">
              <a:buNone/>
            </a:pPr>
            <a:r>
              <a:rPr lang="en-US" sz="900" b="1" kern="0" spc="300" dirty="0">
                <a:solidFill>
                  <a:srgbClr val="0B4F94"/>
                </a:solidFill>
                <a:latin typeface="Aptos" pitchFamily="34" charset="0"/>
                <a:ea typeface="Aptos" pitchFamily="34" charset="-122"/>
                <a:cs typeface="Aptos" pitchFamily="34" charset="-120"/>
              </a:rPr>
              <a:t>1</a:t>
            </a:r>
            <a:endParaRPr lang="en-US" sz="900" dirty="0"/>
          </a:p>
        </p:txBody>
      </p:sp>
      <p:sp>
        <p:nvSpPr>
          <p:cNvPr id="12" name="Text 10"/>
          <p:cNvSpPr/>
          <p:nvPr/>
        </p:nvSpPr>
        <p:spPr>
          <a:xfrm>
            <a:off x="685800" y="256032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Raw MRI features</a:t>
            </a:r>
            <a:endParaRPr lang="en-US" sz="1300" dirty="0"/>
          </a:p>
        </p:txBody>
      </p:sp>
      <p:sp>
        <p:nvSpPr>
          <p:cNvPr id="13" name="Shape 11"/>
          <p:cNvSpPr/>
          <p:nvPr/>
        </p:nvSpPr>
        <p:spPr>
          <a:xfrm>
            <a:off x="2715768" y="2601468"/>
            <a:ext cx="73152" cy="73152"/>
          </a:xfrm>
          <a:prstGeom prst="line">
            <a:avLst/>
          </a:prstGeom>
          <a:noFill/>
          <a:ln w="20320">
            <a:solidFill>
              <a:srgbClr val="4E78A0"/>
            </a:solidFill>
            <a:prstDash val="solid"/>
            <a:tailEnd type="triangle"/>
          </a:ln>
        </p:spPr>
        <p:txBody>
          <a:bodyPr/>
          <a:lstStyle/>
          <a:p>
            <a:endParaRPr lang="en-GB"/>
          </a:p>
        </p:txBody>
      </p:sp>
      <p:sp>
        <p:nvSpPr>
          <p:cNvPr id="14" name="Shape 12"/>
          <p:cNvSpPr/>
          <p:nvPr/>
        </p:nvSpPr>
        <p:spPr>
          <a:xfrm>
            <a:off x="2807208" y="2148840"/>
            <a:ext cx="2148840" cy="1051560"/>
          </a:xfrm>
          <a:prstGeom prst="rect">
            <a:avLst/>
          </a:prstGeom>
          <a:solidFill>
            <a:srgbClr val="F4F6FA"/>
          </a:solidFill>
          <a:ln/>
        </p:spPr>
        <p:txBody>
          <a:bodyPr/>
          <a:lstStyle/>
          <a:p>
            <a:endParaRPr lang="en-GB"/>
          </a:p>
        </p:txBody>
      </p:sp>
      <p:sp>
        <p:nvSpPr>
          <p:cNvPr id="15" name="Shape 13"/>
          <p:cNvSpPr/>
          <p:nvPr/>
        </p:nvSpPr>
        <p:spPr>
          <a:xfrm>
            <a:off x="2807208" y="2148840"/>
            <a:ext cx="2148840" cy="54864"/>
          </a:xfrm>
          <a:prstGeom prst="rect">
            <a:avLst/>
          </a:prstGeom>
          <a:solidFill>
            <a:srgbClr val="0B4F94"/>
          </a:solidFill>
          <a:ln/>
        </p:spPr>
        <p:txBody>
          <a:bodyPr/>
          <a:lstStyle/>
          <a:p>
            <a:endParaRPr lang="en-GB"/>
          </a:p>
        </p:txBody>
      </p:sp>
      <p:sp>
        <p:nvSpPr>
          <p:cNvPr id="16" name="Text 14"/>
          <p:cNvSpPr/>
          <p:nvPr/>
        </p:nvSpPr>
        <p:spPr>
          <a:xfrm>
            <a:off x="2944368" y="2313432"/>
            <a:ext cx="731520" cy="274320"/>
          </a:xfrm>
          <a:prstGeom prst="rect">
            <a:avLst/>
          </a:prstGeom>
          <a:noFill/>
          <a:ln/>
        </p:spPr>
        <p:txBody>
          <a:bodyPr wrap="square" lIns="0" tIns="0" rIns="0" bIns="0" rtlCol="0" anchor="ctr"/>
          <a:lstStyle/>
          <a:p>
            <a:pPr marL="0" indent="0">
              <a:buNone/>
            </a:pPr>
            <a:r>
              <a:rPr lang="en-US" sz="900" b="1" kern="0" spc="300" dirty="0">
                <a:solidFill>
                  <a:srgbClr val="0B4F94"/>
                </a:solidFill>
                <a:latin typeface="Aptos" pitchFamily="34" charset="0"/>
                <a:ea typeface="Aptos" pitchFamily="34" charset="-122"/>
                <a:cs typeface="Aptos" pitchFamily="34" charset="-120"/>
              </a:rPr>
              <a:t>2</a:t>
            </a:r>
            <a:endParaRPr lang="en-US" sz="900" dirty="0"/>
          </a:p>
        </p:txBody>
      </p:sp>
      <p:sp>
        <p:nvSpPr>
          <p:cNvPr id="17" name="Text 15"/>
          <p:cNvSpPr/>
          <p:nvPr/>
        </p:nvSpPr>
        <p:spPr>
          <a:xfrm>
            <a:off x="2944368" y="256032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Preprocessing &amp; z-score</a:t>
            </a:r>
            <a:endParaRPr lang="en-US" sz="1300" dirty="0"/>
          </a:p>
        </p:txBody>
      </p:sp>
      <p:sp>
        <p:nvSpPr>
          <p:cNvPr id="18" name="Shape 16"/>
          <p:cNvSpPr/>
          <p:nvPr/>
        </p:nvSpPr>
        <p:spPr>
          <a:xfrm>
            <a:off x="4974336" y="2601468"/>
            <a:ext cx="73152" cy="73152"/>
          </a:xfrm>
          <a:prstGeom prst="line">
            <a:avLst/>
          </a:prstGeom>
          <a:noFill/>
          <a:ln w="20320">
            <a:solidFill>
              <a:srgbClr val="4E78A0"/>
            </a:solidFill>
            <a:prstDash val="solid"/>
            <a:tailEnd type="triangle"/>
          </a:ln>
        </p:spPr>
        <p:txBody>
          <a:bodyPr/>
          <a:lstStyle/>
          <a:p>
            <a:endParaRPr lang="en-GB"/>
          </a:p>
        </p:txBody>
      </p:sp>
      <p:sp>
        <p:nvSpPr>
          <p:cNvPr id="19" name="Shape 17"/>
          <p:cNvSpPr/>
          <p:nvPr/>
        </p:nvSpPr>
        <p:spPr>
          <a:xfrm>
            <a:off x="5065776" y="2148840"/>
            <a:ext cx="2148840" cy="1051560"/>
          </a:xfrm>
          <a:prstGeom prst="rect">
            <a:avLst/>
          </a:prstGeom>
          <a:solidFill>
            <a:srgbClr val="F4F6FA"/>
          </a:solidFill>
          <a:ln/>
        </p:spPr>
        <p:txBody>
          <a:bodyPr/>
          <a:lstStyle/>
          <a:p>
            <a:endParaRPr lang="en-GB"/>
          </a:p>
        </p:txBody>
      </p:sp>
      <p:sp>
        <p:nvSpPr>
          <p:cNvPr id="20" name="Shape 18"/>
          <p:cNvSpPr/>
          <p:nvPr/>
        </p:nvSpPr>
        <p:spPr>
          <a:xfrm>
            <a:off x="5065776" y="2148840"/>
            <a:ext cx="2148840" cy="54864"/>
          </a:xfrm>
          <a:prstGeom prst="rect">
            <a:avLst/>
          </a:prstGeom>
          <a:solidFill>
            <a:srgbClr val="0B4F94"/>
          </a:solidFill>
          <a:ln/>
        </p:spPr>
        <p:txBody>
          <a:bodyPr/>
          <a:lstStyle/>
          <a:p>
            <a:endParaRPr lang="en-GB"/>
          </a:p>
        </p:txBody>
      </p:sp>
      <p:sp>
        <p:nvSpPr>
          <p:cNvPr id="21" name="Text 19"/>
          <p:cNvSpPr/>
          <p:nvPr/>
        </p:nvSpPr>
        <p:spPr>
          <a:xfrm>
            <a:off x="5202936" y="2313432"/>
            <a:ext cx="731520" cy="274320"/>
          </a:xfrm>
          <a:prstGeom prst="rect">
            <a:avLst/>
          </a:prstGeom>
          <a:noFill/>
          <a:ln/>
        </p:spPr>
        <p:txBody>
          <a:bodyPr wrap="square" lIns="0" tIns="0" rIns="0" bIns="0" rtlCol="0" anchor="ctr"/>
          <a:lstStyle/>
          <a:p>
            <a:pPr marL="0" indent="0">
              <a:buNone/>
            </a:pPr>
            <a:r>
              <a:rPr lang="en-US" sz="900" b="1" kern="0" spc="300" dirty="0">
                <a:solidFill>
                  <a:srgbClr val="0B4F94"/>
                </a:solidFill>
                <a:latin typeface="Aptos" pitchFamily="34" charset="0"/>
                <a:ea typeface="Aptos" pitchFamily="34" charset="-122"/>
                <a:cs typeface="Aptos" pitchFamily="34" charset="-120"/>
              </a:rPr>
              <a:t>3</a:t>
            </a:r>
            <a:endParaRPr lang="en-US" sz="900" dirty="0"/>
          </a:p>
        </p:txBody>
      </p:sp>
      <p:sp>
        <p:nvSpPr>
          <p:cNvPr id="22" name="Text 20"/>
          <p:cNvSpPr/>
          <p:nvPr/>
        </p:nvSpPr>
        <p:spPr>
          <a:xfrm>
            <a:off x="5202936" y="256032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PCA</a:t>
            </a:r>
            <a:endParaRPr lang="en-US" sz="1300" dirty="0"/>
          </a:p>
        </p:txBody>
      </p:sp>
      <p:sp>
        <p:nvSpPr>
          <p:cNvPr id="23" name="Shape 21"/>
          <p:cNvSpPr/>
          <p:nvPr/>
        </p:nvSpPr>
        <p:spPr>
          <a:xfrm>
            <a:off x="7232904" y="2601468"/>
            <a:ext cx="73152" cy="73152"/>
          </a:xfrm>
          <a:prstGeom prst="line">
            <a:avLst/>
          </a:prstGeom>
          <a:noFill/>
          <a:ln w="20320">
            <a:solidFill>
              <a:srgbClr val="4E78A0"/>
            </a:solidFill>
            <a:prstDash val="solid"/>
            <a:tailEnd type="triangle"/>
          </a:ln>
        </p:spPr>
        <p:txBody>
          <a:bodyPr/>
          <a:lstStyle/>
          <a:p>
            <a:endParaRPr lang="en-GB"/>
          </a:p>
        </p:txBody>
      </p:sp>
      <p:sp>
        <p:nvSpPr>
          <p:cNvPr id="24" name="Shape 22"/>
          <p:cNvSpPr/>
          <p:nvPr/>
        </p:nvSpPr>
        <p:spPr>
          <a:xfrm>
            <a:off x="7324344" y="2148840"/>
            <a:ext cx="2148840" cy="1051560"/>
          </a:xfrm>
          <a:prstGeom prst="rect">
            <a:avLst/>
          </a:prstGeom>
          <a:solidFill>
            <a:srgbClr val="F4F6FA"/>
          </a:solidFill>
          <a:ln/>
        </p:spPr>
        <p:txBody>
          <a:bodyPr/>
          <a:lstStyle/>
          <a:p>
            <a:endParaRPr lang="en-GB"/>
          </a:p>
        </p:txBody>
      </p:sp>
      <p:sp>
        <p:nvSpPr>
          <p:cNvPr id="25" name="Shape 23"/>
          <p:cNvSpPr/>
          <p:nvPr/>
        </p:nvSpPr>
        <p:spPr>
          <a:xfrm>
            <a:off x="7324344" y="2148840"/>
            <a:ext cx="2148840" cy="54864"/>
          </a:xfrm>
          <a:prstGeom prst="rect">
            <a:avLst/>
          </a:prstGeom>
          <a:solidFill>
            <a:srgbClr val="0B4F94"/>
          </a:solidFill>
          <a:ln/>
        </p:spPr>
        <p:txBody>
          <a:bodyPr/>
          <a:lstStyle/>
          <a:p>
            <a:endParaRPr lang="en-GB"/>
          </a:p>
        </p:txBody>
      </p:sp>
      <p:sp>
        <p:nvSpPr>
          <p:cNvPr id="26" name="Text 24"/>
          <p:cNvSpPr/>
          <p:nvPr/>
        </p:nvSpPr>
        <p:spPr>
          <a:xfrm>
            <a:off x="7461504" y="2313432"/>
            <a:ext cx="731520" cy="274320"/>
          </a:xfrm>
          <a:prstGeom prst="rect">
            <a:avLst/>
          </a:prstGeom>
          <a:noFill/>
          <a:ln/>
        </p:spPr>
        <p:txBody>
          <a:bodyPr wrap="square" lIns="0" tIns="0" rIns="0" bIns="0" rtlCol="0" anchor="ctr"/>
          <a:lstStyle/>
          <a:p>
            <a:pPr marL="0" indent="0">
              <a:buNone/>
            </a:pPr>
            <a:r>
              <a:rPr lang="en-US" sz="900" b="1" kern="0" spc="300" dirty="0">
                <a:solidFill>
                  <a:srgbClr val="0B4F94"/>
                </a:solidFill>
                <a:latin typeface="Aptos" pitchFamily="34" charset="0"/>
                <a:ea typeface="Aptos" pitchFamily="34" charset="-122"/>
                <a:cs typeface="Aptos" pitchFamily="34" charset="-120"/>
              </a:rPr>
              <a:t>4</a:t>
            </a:r>
            <a:endParaRPr lang="en-US" sz="900" dirty="0"/>
          </a:p>
        </p:txBody>
      </p:sp>
      <p:sp>
        <p:nvSpPr>
          <p:cNvPr id="27" name="Text 25"/>
          <p:cNvSpPr/>
          <p:nvPr/>
        </p:nvSpPr>
        <p:spPr>
          <a:xfrm>
            <a:off x="7461504" y="256032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k-means clustering</a:t>
            </a:r>
            <a:endParaRPr lang="en-US" sz="1300" dirty="0"/>
          </a:p>
        </p:txBody>
      </p:sp>
      <p:sp>
        <p:nvSpPr>
          <p:cNvPr id="28" name="Shape 26"/>
          <p:cNvSpPr/>
          <p:nvPr/>
        </p:nvSpPr>
        <p:spPr>
          <a:xfrm>
            <a:off x="9491472" y="2601468"/>
            <a:ext cx="73152" cy="73152"/>
          </a:xfrm>
          <a:prstGeom prst="line">
            <a:avLst/>
          </a:prstGeom>
          <a:noFill/>
          <a:ln w="20320">
            <a:solidFill>
              <a:srgbClr val="4E78A0"/>
            </a:solidFill>
            <a:prstDash val="solid"/>
            <a:tailEnd type="triangle"/>
          </a:ln>
        </p:spPr>
        <p:txBody>
          <a:bodyPr/>
          <a:lstStyle/>
          <a:p>
            <a:endParaRPr lang="en-GB"/>
          </a:p>
        </p:txBody>
      </p:sp>
      <p:sp>
        <p:nvSpPr>
          <p:cNvPr id="29" name="Shape 27"/>
          <p:cNvSpPr/>
          <p:nvPr/>
        </p:nvSpPr>
        <p:spPr>
          <a:xfrm>
            <a:off x="9582912" y="2148840"/>
            <a:ext cx="2148840" cy="1051560"/>
          </a:xfrm>
          <a:prstGeom prst="rect">
            <a:avLst/>
          </a:prstGeom>
          <a:solidFill>
            <a:srgbClr val="F4F6FA"/>
          </a:solidFill>
          <a:ln/>
        </p:spPr>
        <p:txBody>
          <a:bodyPr/>
          <a:lstStyle/>
          <a:p>
            <a:endParaRPr lang="en-GB"/>
          </a:p>
        </p:txBody>
      </p:sp>
      <p:sp>
        <p:nvSpPr>
          <p:cNvPr id="30" name="Shape 28"/>
          <p:cNvSpPr/>
          <p:nvPr/>
        </p:nvSpPr>
        <p:spPr>
          <a:xfrm>
            <a:off x="9582912" y="2148840"/>
            <a:ext cx="2148840" cy="54864"/>
          </a:xfrm>
          <a:prstGeom prst="rect">
            <a:avLst/>
          </a:prstGeom>
          <a:solidFill>
            <a:srgbClr val="0B4F94"/>
          </a:solidFill>
          <a:ln/>
        </p:spPr>
        <p:txBody>
          <a:bodyPr/>
          <a:lstStyle/>
          <a:p>
            <a:endParaRPr lang="en-GB"/>
          </a:p>
        </p:txBody>
      </p:sp>
      <p:sp>
        <p:nvSpPr>
          <p:cNvPr id="31" name="Text 29"/>
          <p:cNvSpPr/>
          <p:nvPr/>
        </p:nvSpPr>
        <p:spPr>
          <a:xfrm>
            <a:off x="9720072" y="2313432"/>
            <a:ext cx="731520" cy="274320"/>
          </a:xfrm>
          <a:prstGeom prst="rect">
            <a:avLst/>
          </a:prstGeom>
          <a:noFill/>
          <a:ln/>
        </p:spPr>
        <p:txBody>
          <a:bodyPr wrap="square" lIns="0" tIns="0" rIns="0" bIns="0" rtlCol="0" anchor="ctr"/>
          <a:lstStyle/>
          <a:p>
            <a:pPr marL="0" indent="0">
              <a:buNone/>
            </a:pPr>
            <a:r>
              <a:rPr lang="en-US" sz="900" b="1" kern="0" spc="300" dirty="0">
                <a:solidFill>
                  <a:srgbClr val="0B4F94"/>
                </a:solidFill>
                <a:latin typeface="Aptos" pitchFamily="34" charset="0"/>
                <a:ea typeface="Aptos" pitchFamily="34" charset="-122"/>
                <a:cs typeface="Aptos" pitchFamily="34" charset="-120"/>
              </a:rPr>
              <a:t>5</a:t>
            </a:r>
            <a:endParaRPr lang="en-US" sz="900" dirty="0"/>
          </a:p>
        </p:txBody>
      </p:sp>
      <p:sp>
        <p:nvSpPr>
          <p:cNvPr id="32" name="Text 30"/>
          <p:cNvSpPr/>
          <p:nvPr/>
        </p:nvSpPr>
        <p:spPr>
          <a:xfrm>
            <a:off x="9720072" y="256032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Bootstrap stability</a:t>
            </a:r>
            <a:endParaRPr lang="en-US" sz="1300" dirty="0"/>
          </a:p>
        </p:txBody>
      </p:sp>
      <p:sp>
        <p:nvSpPr>
          <p:cNvPr id="33" name="Shape 31"/>
          <p:cNvSpPr/>
          <p:nvPr/>
        </p:nvSpPr>
        <p:spPr>
          <a:xfrm>
            <a:off x="548640" y="3657600"/>
            <a:ext cx="2148840" cy="1051560"/>
          </a:xfrm>
          <a:prstGeom prst="rect">
            <a:avLst/>
          </a:prstGeom>
          <a:solidFill>
            <a:srgbClr val="EAF2F5"/>
          </a:solidFill>
          <a:ln/>
        </p:spPr>
        <p:txBody>
          <a:bodyPr/>
          <a:lstStyle/>
          <a:p>
            <a:endParaRPr lang="en-GB"/>
          </a:p>
        </p:txBody>
      </p:sp>
      <p:sp>
        <p:nvSpPr>
          <p:cNvPr id="34" name="Shape 32"/>
          <p:cNvSpPr/>
          <p:nvPr/>
        </p:nvSpPr>
        <p:spPr>
          <a:xfrm>
            <a:off x="548640" y="3657600"/>
            <a:ext cx="2148840" cy="54864"/>
          </a:xfrm>
          <a:prstGeom prst="rect">
            <a:avLst/>
          </a:prstGeom>
          <a:solidFill>
            <a:srgbClr val="B33C3C"/>
          </a:solidFill>
          <a:ln/>
        </p:spPr>
        <p:txBody>
          <a:bodyPr/>
          <a:lstStyle/>
          <a:p>
            <a:endParaRPr lang="en-GB"/>
          </a:p>
        </p:txBody>
      </p:sp>
      <p:sp>
        <p:nvSpPr>
          <p:cNvPr id="35" name="Text 33"/>
          <p:cNvSpPr/>
          <p:nvPr/>
        </p:nvSpPr>
        <p:spPr>
          <a:xfrm>
            <a:off x="685800" y="3822192"/>
            <a:ext cx="731520" cy="274320"/>
          </a:xfrm>
          <a:prstGeom prst="rect">
            <a:avLst/>
          </a:prstGeom>
          <a:noFill/>
          <a:ln/>
        </p:spPr>
        <p:txBody>
          <a:bodyPr wrap="square" lIns="0" tIns="0" rIns="0" bIns="0" rtlCol="0" anchor="ctr"/>
          <a:lstStyle/>
          <a:p>
            <a:pPr marL="0" indent="0">
              <a:buNone/>
            </a:pPr>
            <a:r>
              <a:rPr lang="en-US" sz="900" b="1" kern="0" spc="300" dirty="0">
                <a:solidFill>
                  <a:srgbClr val="B33C3C"/>
                </a:solidFill>
                <a:latin typeface="Aptos" pitchFamily="34" charset="0"/>
                <a:ea typeface="Aptos" pitchFamily="34" charset="-122"/>
                <a:cs typeface="Aptos" pitchFamily="34" charset="-120"/>
              </a:rPr>
              <a:t>6</a:t>
            </a:r>
            <a:endParaRPr lang="en-US" sz="900" dirty="0"/>
          </a:p>
        </p:txBody>
      </p:sp>
      <p:sp>
        <p:nvSpPr>
          <p:cNvPr id="36" name="Text 34"/>
          <p:cNvSpPr/>
          <p:nvPr/>
        </p:nvSpPr>
        <p:spPr>
          <a:xfrm>
            <a:off x="685800" y="406908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Technical enrichment</a:t>
            </a:r>
            <a:endParaRPr lang="en-US" sz="1300" dirty="0"/>
          </a:p>
        </p:txBody>
      </p:sp>
      <p:sp>
        <p:nvSpPr>
          <p:cNvPr id="37" name="Shape 35"/>
          <p:cNvSpPr/>
          <p:nvPr/>
        </p:nvSpPr>
        <p:spPr>
          <a:xfrm>
            <a:off x="2715768" y="4110228"/>
            <a:ext cx="73152" cy="73152"/>
          </a:xfrm>
          <a:prstGeom prst="line">
            <a:avLst/>
          </a:prstGeom>
          <a:noFill/>
          <a:ln w="20320">
            <a:solidFill>
              <a:srgbClr val="4E78A0"/>
            </a:solidFill>
            <a:prstDash val="solid"/>
            <a:tailEnd type="triangle"/>
          </a:ln>
        </p:spPr>
        <p:txBody>
          <a:bodyPr/>
          <a:lstStyle/>
          <a:p>
            <a:endParaRPr lang="en-GB"/>
          </a:p>
        </p:txBody>
      </p:sp>
      <p:sp>
        <p:nvSpPr>
          <p:cNvPr id="38" name="Shape 36"/>
          <p:cNvSpPr/>
          <p:nvPr/>
        </p:nvSpPr>
        <p:spPr>
          <a:xfrm>
            <a:off x="2807208" y="3657600"/>
            <a:ext cx="2148840" cy="1051560"/>
          </a:xfrm>
          <a:prstGeom prst="rect">
            <a:avLst/>
          </a:prstGeom>
          <a:solidFill>
            <a:srgbClr val="EAF2F5"/>
          </a:solidFill>
          <a:ln/>
        </p:spPr>
        <p:txBody>
          <a:bodyPr/>
          <a:lstStyle/>
          <a:p>
            <a:endParaRPr lang="en-GB"/>
          </a:p>
        </p:txBody>
      </p:sp>
      <p:sp>
        <p:nvSpPr>
          <p:cNvPr id="39" name="Shape 37"/>
          <p:cNvSpPr/>
          <p:nvPr/>
        </p:nvSpPr>
        <p:spPr>
          <a:xfrm>
            <a:off x="2807208" y="3657600"/>
            <a:ext cx="2148840" cy="54864"/>
          </a:xfrm>
          <a:prstGeom prst="rect">
            <a:avLst/>
          </a:prstGeom>
          <a:solidFill>
            <a:srgbClr val="B33C3C"/>
          </a:solidFill>
          <a:ln/>
        </p:spPr>
        <p:txBody>
          <a:bodyPr/>
          <a:lstStyle/>
          <a:p>
            <a:endParaRPr lang="en-GB"/>
          </a:p>
        </p:txBody>
      </p:sp>
      <p:sp>
        <p:nvSpPr>
          <p:cNvPr id="40" name="Text 38"/>
          <p:cNvSpPr/>
          <p:nvPr/>
        </p:nvSpPr>
        <p:spPr>
          <a:xfrm>
            <a:off x="2944368" y="3822192"/>
            <a:ext cx="731520" cy="274320"/>
          </a:xfrm>
          <a:prstGeom prst="rect">
            <a:avLst/>
          </a:prstGeom>
          <a:noFill/>
          <a:ln/>
        </p:spPr>
        <p:txBody>
          <a:bodyPr wrap="square" lIns="0" tIns="0" rIns="0" bIns="0" rtlCol="0" anchor="ctr"/>
          <a:lstStyle/>
          <a:p>
            <a:pPr marL="0" indent="0">
              <a:buNone/>
            </a:pPr>
            <a:r>
              <a:rPr lang="en-US" sz="900" b="1" kern="0" spc="300" dirty="0">
                <a:solidFill>
                  <a:srgbClr val="B33C3C"/>
                </a:solidFill>
                <a:latin typeface="Aptos" pitchFamily="34" charset="0"/>
                <a:ea typeface="Aptos" pitchFamily="34" charset="-122"/>
                <a:cs typeface="Aptos" pitchFamily="34" charset="-120"/>
              </a:rPr>
              <a:t>7</a:t>
            </a:r>
            <a:endParaRPr lang="en-US" sz="900" dirty="0"/>
          </a:p>
        </p:txBody>
      </p:sp>
      <p:sp>
        <p:nvSpPr>
          <p:cNvPr id="41" name="Text 39"/>
          <p:cNvSpPr/>
          <p:nvPr/>
        </p:nvSpPr>
        <p:spPr>
          <a:xfrm>
            <a:off x="2944368" y="406908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Mfr. residualization</a:t>
            </a:r>
            <a:endParaRPr lang="en-US" sz="1300" dirty="0"/>
          </a:p>
        </p:txBody>
      </p:sp>
      <p:sp>
        <p:nvSpPr>
          <p:cNvPr id="42" name="Shape 40"/>
          <p:cNvSpPr/>
          <p:nvPr/>
        </p:nvSpPr>
        <p:spPr>
          <a:xfrm>
            <a:off x="4974336" y="4110228"/>
            <a:ext cx="73152" cy="73152"/>
          </a:xfrm>
          <a:prstGeom prst="line">
            <a:avLst/>
          </a:prstGeom>
          <a:noFill/>
          <a:ln w="20320">
            <a:solidFill>
              <a:srgbClr val="4E78A0"/>
            </a:solidFill>
            <a:prstDash val="solid"/>
            <a:tailEnd type="triangle"/>
          </a:ln>
        </p:spPr>
        <p:txBody>
          <a:bodyPr/>
          <a:lstStyle/>
          <a:p>
            <a:endParaRPr lang="en-GB"/>
          </a:p>
        </p:txBody>
      </p:sp>
      <p:sp>
        <p:nvSpPr>
          <p:cNvPr id="43" name="Shape 41"/>
          <p:cNvSpPr/>
          <p:nvPr/>
        </p:nvSpPr>
        <p:spPr>
          <a:xfrm>
            <a:off x="5065776" y="3657600"/>
            <a:ext cx="2148840" cy="1051560"/>
          </a:xfrm>
          <a:prstGeom prst="rect">
            <a:avLst/>
          </a:prstGeom>
          <a:solidFill>
            <a:srgbClr val="EAF2F5"/>
          </a:solidFill>
          <a:ln/>
        </p:spPr>
        <p:txBody>
          <a:bodyPr/>
          <a:lstStyle/>
          <a:p>
            <a:endParaRPr lang="en-GB"/>
          </a:p>
        </p:txBody>
      </p:sp>
      <p:sp>
        <p:nvSpPr>
          <p:cNvPr id="44" name="Shape 42"/>
          <p:cNvSpPr/>
          <p:nvPr/>
        </p:nvSpPr>
        <p:spPr>
          <a:xfrm>
            <a:off x="5065776" y="3657600"/>
            <a:ext cx="2148840" cy="54864"/>
          </a:xfrm>
          <a:prstGeom prst="rect">
            <a:avLst/>
          </a:prstGeom>
          <a:solidFill>
            <a:srgbClr val="B33C3C"/>
          </a:solidFill>
          <a:ln/>
        </p:spPr>
        <p:txBody>
          <a:bodyPr/>
          <a:lstStyle/>
          <a:p>
            <a:endParaRPr lang="en-GB"/>
          </a:p>
        </p:txBody>
      </p:sp>
      <p:sp>
        <p:nvSpPr>
          <p:cNvPr id="45" name="Text 43"/>
          <p:cNvSpPr/>
          <p:nvPr/>
        </p:nvSpPr>
        <p:spPr>
          <a:xfrm>
            <a:off x="5202936" y="3822192"/>
            <a:ext cx="731520" cy="274320"/>
          </a:xfrm>
          <a:prstGeom prst="rect">
            <a:avLst/>
          </a:prstGeom>
          <a:noFill/>
          <a:ln/>
        </p:spPr>
        <p:txBody>
          <a:bodyPr wrap="square" lIns="0" tIns="0" rIns="0" bIns="0" rtlCol="0" anchor="ctr"/>
          <a:lstStyle/>
          <a:p>
            <a:pPr marL="0" indent="0">
              <a:buNone/>
            </a:pPr>
            <a:r>
              <a:rPr lang="en-US" sz="900" b="1" kern="0" spc="300" dirty="0">
                <a:solidFill>
                  <a:srgbClr val="B33C3C"/>
                </a:solidFill>
                <a:latin typeface="Aptos" pitchFamily="34" charset="0"/>
                <a:ea typeface="Aptos" pitchFamily="34" charset="-122"/>
                <a:cs typeface="Aptos" pitchFamily="34" charset="-120"/>
              </a:rPr>
              <a:t>8</a:t>
            </a:r>
            <a:endParaRPr lang="en-US" sz="900" dirty="0"/>
          </a:p>
        </p:txBody>
      </p:sp>
      <p:sp>
        <p:nvSpPr>
          <p:cNvPr id="46" name="Text 44"/>
          <p:cNvSpPr/>
          <p:nvPr/>
        </p:nvSpPr>
        <p:spPr>
          <a:xfrm>
            <a:off x="5202936" y="406908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ComBat harmonization</a:t>
            </a:r>
            <a:endParaRPr lang="en-US" sz="1300" dirty="0"/>
          </a:p>
        </p:txBody>
      </p:sp>
      <p:sp>
        <p:nvSpPr>
          <p:cNvPr id="47" name="Shape 45"/>
          <p:cNvSpPr/>
          <p:nvPr/>
        </p:nvSpPr>
        <p:spPr>
          <a:xfrm>
            <a:off x="7232904" y="4110228"/>
            <a:ext cx="73152" cy="73152"/>
          </a:xfrm>
          <a:prstGeom prst="line">
            <a:avLst/>
          </a:prstGeom>
          <a:noFill/>
          <a:ln w="20320">
            <a:solidFill>
              <a:srgbClr val="4E78A0"/>
            </a:solidFill>
            <a:prstDash val="solid"/>
            <a:tailEnd type="triangle"/>
          </a:ln>
        </p:spPr>
        <p:txBody>
          <a:bodyPr/>
          <a:lstStyle/>
          <a:p>
            <a:endParaRPr lang="en-GB"/>
          </a:p>
        </p:txBody>
      </p:sp>
      <p:sp>
        <p:nvSpPr>
          <p:cNvPr id="48" name="Shape 46"/>
          <p:cNvSpPr/>
          <p:nvPr/>
        </p:nvSpPr>
        <p:spPr>
          <a:xfrm>
            <a:off x="7324344" y="3657600"/>
            <a:ext cx="2148840" cy="1051560"/>
          </a:xfrm>
          <a:prstGeom prst="rect">
            <a:avLst/>
          </a:prstGeom>
          <a:solidFill>
            <a:srgbClr val="EAF2F5"/>
          </a:solidFill>
          <a:ln/>
        </p:spPr>
        <p:txBody>
          <a:bodyPr/>
          <a:lstStyle/>
          <a:p>
            <a:endParaRPr lang="en-GB"/>
          </a:p>
        </p:txBody>
      </p:sp>
      <p:sp>
        <p:nvSpPr>
          <p:cNvPr id="49" name="Shape 47"/>
          <p:cNvSpPr/>
          <p:nvPr/>
        </p:nvSpPr>
        <p:spPr>
          <a:xfrm>
            <a:off x="7324344" y="3657600"/>
            <a:ext cx="2148840" cy="54864"/>
          </a:xfrm>
          <a:prstGeom prst="rect">
            <a:avLst/>
          </a:prstGeom>
          <a:solidFill>
            <a:srgbClr val="B33C3C"/>
          </a:solidFill>
          <a:ln/>
        </p:spPr>
        <p:txBody>
          <a:bodyPr/>
          <a:lstStyle/>
          <a:p>
            <a:endParaRPr lang="en-GB"/>
          </a:p>
        </p:txBody>
      </p:sp>
      <p:sp>
        <p:nvSpPr>
          <p:cNvPr id="50" name="Text 48"/>
          <p:cNvSpPr/>
          <p:nvPr/>
        </p:nvSpPr>
        <p:spPr>
          <a:xfrm>
            <a:off x="7461504" y="3822192"/>
            <a:ext cx="731520" cy="274320"/>
          </a:xfrm>
          <a:prstGeom prst="rect">
            <a:avLst/>
          </a:prstGeom>
          <a:noFill/>
          <a:ln/>
        </p:spPr>
        <p:txBody>
          <a:bodyPr wrap="square" lIns="0" tIns="0" rIns="0" bIns="0" rtlCol="0" anchor="ctr"/>
          <a:lstStyle/>
          <a:p>
            <a:pPr marL="0" indent="0">
              <a:buNone/>
            </a:pPr>
            <a:r>
              <a:rPr lang="en-US" sz="900" b="1" kern="0" spc="300" dirty="0">
                <a:solidFill>
                  <a:srgbClr val="B33C3C"/>
                </a:solidFill>
                <a:latin typeface="Aptos" pitchFamily="34" charset="0"/>
                <a:ea typeface="Aptos" pitchFamily="34" charset="-122"/>
                <a:cs typeface="Aptos" pitchFamily="34" charset="-120"/>
              </a:rPr>
              <a:t>9</a:t>
            </a:r>
            <a:endParaRPr lang="en-US" sz="900" dirty="0"/>
          </a:p>
        </p:txBody>
      </p:sp>
      <p:sp>
        <p:nvSpPr>
          <p:cNvPr id="51" name="Text 49"/>
          <p:cNvSpPr/>
          <p:nvPr/>
        </p:nvSpPr>
        <p:spPr>
          <a:xfrm>
            <a:off x="7461504" y="406908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Identity test (ARI vs raw)</a:t>
            </a:r>
            <a:endParaRPr lang="en-US" sz="1300" dirty="0"/>
          </a:p>
        </p:txBody>
      </p:sp>
      <p:sp>
        <p:nvSpPr>
          <p:cNvPr id="52" name="Shape 50"/>
          <p:cNvSpPr/>
          <p:nvPr/>
        </p:nvSpPr>
        <p:spPr>
          <a:xfrm>
            <a:off x="9491472" y="4110228"/>
            <a:ext cx="73152" cy="73152"/>
          </a:xfrm>
          <a:prstGeom prst="line">
            <a:avLst/>
          </a:prstGeom>
          <a:noFill/>
          <a:ln w="20320">
            <a:solidFill>
              <a:srgbClr val="4E78A0"/>
            </a:solidFill>
            <a:prstDash val="solid"/>
            <a:tailEnd type="triangle"/>
          </a:ln>
        </p:spPr>
        <p:txBody>
          <a:bodyPr/>
          <a:lstStyle/>
          <a:p>
            <a:endParaRPr lang="en-GB"/>
          </a:p>
        </p:txBody>
      </p:sp>
      <p:sp>
        <p:nvSpPr>
          <p:cNvPr id="53" name="Shape 51"/>
          <p:cNvSpPr/>
          <p:nvPr/>
        </p:nvSpPr>
        <p:spPr>
          <a:xfrm>
            <a:off x="9582912" y="3657600"/>
            <a:ext cx="2148840" cy="1051560"/>
          </a:xfrm>
          <a:prstGeom prst="rect">
            <a:avLst/>
          </a:prstGeom>
          <a:solidFill>
            <a:srgbClr val="F4F6FA"/>
          </a:solidFill>
          <a:ln/>
        </p:spPr>
        <p:txBody>
          <a:bodyPr/>
          <a:lstStyle/>
          <a:p>
            <a:endParaRPr lang="en-GB"/>
          </a:p>
        </p:txBody>
      </p:sp>
      <p:sp>
        <p:nvSpPr>
          <p:cNvPr id="54" name="Shape 52"/>
          <p:cNvSpPr/>
          <p:nvPr/>
        </p:nvSpPr>
        <p:spPr>
          <a:xfrm>
            <a:off x="9582912" y="3657600"/>
            <a:ext cx="2148840" cy="54864"/>
          </a:xfrm>
          <a:prstGeom prst="rect">
            <a:avLst/>
          </a:prstGeom>
          <a:solidFill>
            <a:srgbClr val="0B4F94"/>
          </a:solidFill>
          <a:ln/>
        </p:spPr>
        <p:txBody>
          <a:bodyPr/>
          <a:lstStyle/>
          <a:p>
            <a:endParaRPr lang="en-GB"/>
          </a:p>
        </p:txBody>
      </p:sp>
      <p:sp>
        <p:nvSpPr>
          <p:cNvPr id="55" name="Text 53"/>
          <p:cNvSpPr/>
          <p:nvPr/>
        </p:nvSpPr>
        <p:spPr>
          <a:xfrm>
            <a:off x="9720072" y="3822192"/>
            <a:ext cx="731520" cy="274320"/>
          </a:xfrm>
          <a:prstGeom prst="rect">
            <a:avLst/>
          </a:prstGeom>
          <a:noFill/>
          <a:ln/>
        </p:spPr>
        <p:txBody>
          <a:bodyPr wrap="square" lIns="0" tIns="0" rIns="0" bIns="0" rtlCol="0" anchor="ctr"/>
          <a:lstStyle/>
          <a:p>
            <a:pPr marL="0" indent="0">
              <a:buNone/>
            </a:pPr>
            <a:r>
              <a:rPr lang="en-US" sz="900" b="1" kern="0" spc="300" dirty="0">
                <a:solidFill>
                  <a:srgbClr val="0B4F94"/>
                </a:solidFill>
                <a:latin typeface="Aptos" pitchFamily="34" charset="0"/>
                <a:ea typeface="Aptos" pitchFamily="34" charset="-122"/>
                <a:cs typeface="Aptos" pitchFamily="34" charset="-120"/>
              </a:rPr>
              <a:t>10</a:t>
            </a:r>
            <a:endParaRPr lang="en-US" sz="900" dirty="0"/>
          </a:p>
        </p:txBody>
      </p:sp>
      <p:sp>
        <p:nvSpPr>
          <p:cNvPr id="56" name="Text 54"/>
          <p:cNvSpPr/>
          <p:nvPr/>
        </p:nvSpPr>
        <p:spPr>
          <a:xfrm>
            <a:off x="9720072" y="4069080"/>
            <a:ext cx="1874520" cy="64008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Survival &amp; biomarker adjudication</a:t>
            </a:r>
            <a:endParaRPr lang="en-US" sz="1300" dirty="0"/>
          </a:p>
        </p:txBody>
      </p:sp>
      <p:sp>
        <p:nvSpPr>
          <p:cNvPr id="57" name="Shape 55"/>
          <p:cNvSpPr/>
          <p:nvPr/>
        </p:nvSpPr>
        <p:spPr>
          <a:xfrm>
            <a:off x="10648188" y="3200400"/>
            <a:ext cx="18288" cy="228600"/>
          </a:xfrm>
          <a:prstGeom prst="rect">
            <a:avLst/>
          </a:prstGeom>
          <a:solidFill>
            <a:srgbClr val="4E78A0"/>
          </a:solidFill>
          <a:ln/>
        </p:spPr>
        <p:txBody>
          <a:bodyPr/>
          <a:lstStyle/>
          <a:p>
            <a:endParaRPr lang="en-GB"/>
          </a:p>
        </p:txBody>
      </p:sp>
      <p:sp>
        <p:nvSpPr>
          <p:cNvPr id="58" name="Shape 56"/>
          <p:cNvSpPr/>
          <p:nvPr/>
        </p:nvSpPr>
        <p:spPr>
          <a:xfrm>
            <a:off x="1623060" y="3419856"/>
            <a:ext cx="9034272" cy="18288"/>
          </a:xfrm>
          <a:prstGeom prst="rect">
            <a:avLst/>
          </a:prstGeom>
          <a:solidFill>
            <a:srgbClr val="4E78A0"/>
          </a:solidFill>
          <a:ln/>
        </p:spPr>
        <p:txBody>
          <a:bodyPr/>
          <a:lstStyle/>
          <a:p>
            <a:endParaRPr lang="en-GB"/>
          </a:p>
        </p:txBody>
      </p:sp>
      <p:sp>
        <p:nvSpPr>
          <p:cNvPr id="59" name="Shape 57"/>
          <p:cNvSpPr/>
          <p:nvPr/>
        </p:nvSpPr>
        <p:spPr>
          <a:xfrm>
            <a:off x="1613916" y="3429000"/>
            <a:ext cx="18288" cy="192024"/>
          </a:xfrm>
          <a:prstGeom prst="rect">
            <a:avLst/>
          </a:prstGeom>
          <a:solidFill>
            <a:srgbClr val="4E78A0"/>
          </a:solidFill>
          <a:ln/>
        </p:spPr>
        <p:txBody>
          <a:bodyPr/>
          <a:lstStyle/>
          <a:p>
            <a:endParaRPr lang="en-GB"/>
          </a:p>
        </p:txBody>
      </p:sp>
      <p:sp>
        <p:nvSpPr>
          <p:cNvPr id="60" name="Shape 58"/>
          <p:cNvSpPr/>
          <p:nvPr/>
        </p:nvSpPr>
        <p:spPr>
          <a:xfrm>
            <a:off x="1623060" y="3493008"/>
            <a:ext cx="0" cy="128016"/>
          </a:xfrm>
          <a:prstGeom prst="line">
            <a:avLst/>
          </a:prstGeom>
          <a:noFill/>
          <a:ln w="20320">
            <a:solidFill>
              <a:srgbClr val="4E78A0"/>
            </a:solidFill>
            <a:prstDash val="solid"/>
            <a:tailEnd type="triangle"/>
          </a:ln>
        </p:spPr>
        <p:txBody>
          <a:bodyPr/>
          <a:lstStyle/>
          <a:p>
            <a:endParaRPr lang="en-GB"/>
          </a:p>
        </p:txBody>
      </p:sp>
      <p:sp>
        <p:nvSpPr>
          <p:cNvPr id="61" name="Shape 59"/>
          <p:cNvSpPr/>
          <p:nvPr/>
        </p:nvSpPr>
        <p:spPr>
          <a:xfrm>
            <a:off x="548640" y="5074920"/>
            <a:ext cx="164592" cy="164592"/>
          </a:xfrm>
          <a:prstGeom prst="rect">
            <a:avLst/>
          </a:prstGeom>
          <a:solidFill>
            <a:srgbClr val="0B4F94"/>
          </a:solidFill>
          <a:ln/>
        </p:spPr>
        <p:txBody>
          <a:bodyPr/>
          <a:lstStyle/>
          <a:p>
            <a:endParaRPr lang="en-GB"/>
          </a:p>
        </p:txBody>
      </p:sp>
      <p:sp>
        <p:nvSpPr>
          <p:cNvPr id="62" name="Text 60"/>
          <p:cNvSpPr/>
          <p:nvPr/>
        </p:nvSpPr>
        <p:spPr>
          <a:xfrm>
            <a:off x="777240" y="5029200"/>
            <a:ext cx="3200400" cy="274320"/>
          </a:xfrm>
          <a:prstGeom prst="rect">
            <a:avLst/>
          </a:prstGeom>
          <a:noFill/>
          <a:ln/>
        </p:spPr>
        <p:txBody>
          <a:bodyPr wrap="square" lIns="0" tIns="0" rIns="0" bIns="0" rtlCol="0" anchor="ctr"/>
          <a:lstStyle/>
          <a:p>
            <a:pPr marL="0" indent="0">
              <a:buNone/>
            </a:pPr>
            <a:r>
              <a:rPr lang="en-US" sz="1100" dirty="0">
                <a:solidFill>
                  <a:srgbClr val="1A2330"/>
                </a:solidFill>
                <a:latin typeface="Aptos" pitchFamily="34" charset="0"/>
                <a:ea typeface="Aptos" pitchFamily="34" charset="-122"/>
                <a:cs typeface="Aptos" pitchFamily="34" charset="-120"/>
              </a:rPr>
              <a:t>Standard discovery pipeline</a:t>
            </a:r>
            <a:endParaRPr lang="en-US" sz="1100" dirty="0"/>
          </a:p>
        </p:txBody>
      </p:sp>
      <p:sp>
        <p:nvSpPr>
          <p:cNvPr id="63" name="Shape 61"/>
          <p:cNvSpPr/>
          <p:nvPr/>
        </p:nvSpPr>
        <p:spPr>
          <a:xfrm>
            <a:off x="4114800" y="5074920"/>
            <a:ext cx="164592" cy="164592"/>
          </a:xfrm>
          <a:prstGeom prst="rect">
            <a:avLst/>
          </a:prstGeom>
          <a:solidFill>
            <a:srgbClr val="B33C3C"/>
          </a:solidFill>
          <a:ln/>
        </p:spPr>
        <p:txBody>
          <a:bodyPr/>
          <a:lstStyle/>
          <a:p>
            <a:endParaRPr lang="en-GB"/>
          </a:p>
        </p:txBody>
      </p:sp>
      <p:sp>
        <p:nvSpPr>
          <p:cNvPr id="64" name="Text 62"/>
          <p:cNvSpPr/>
          <p:nvPr/>
        </p:nvSpPr>
        <p:spPr>
          <a:xfrm>
            <a:off x="4343400" y="5029200"/>
            <a:ext cx="5486400" cy="274320"/>
          </a:xfrm>
          <a:prstGeom prst="rect">
            <a:avLst/>
          </a:prstGeom>
          <a:noFill/>
          <a:ln/>
        </p:spPr>
        <p:txBody>
          <a:bodyPr wrap="square" lIns="0" tIns="0" rIns="0" bIns="0" rtlCol="0" anchor="ctr"/>
          <a:lstStyle/>
          <a:p>
            <a:pPr marL="0" indent="0">
              <a:buNone/>
            </a:pPr>
            <a:r>
              <a:rPr lang="en-US" sz="1100" b="1" dirty="0">
                <a:solidFill>
                  <a:srgbClr val="1A2330"/>
                </a:solidFill>
                <a:latin typeface="Aptos" pitchFamily="34" charset="0"/>
                <a:ea typeface="Aptos" pitchFamily="34" charset="-122"/>
                <a:cs typeface="Aptos" pitchFamily="34" charset="-120"/>
              </a:rPr>
              <a:t>Acquisition-aware challenge  (steps 6 – 9)</a:t>
            </a:r>
            <a:endParaRPr lang="en-US" sz="1100" dirty="0"/>
          </a:p>
        </p:txBody>
      </p:sp>
      <p:sp>
        <p:nvSpPr>
          <p:cNvPr id="65" name="Text 63"/>
          <p:cNvSpPr/>
          <p:nvPr/>
        </p:nvSpPr>
        <p:spPr>
          <a:xfrm>
            <a:off x="548640" y="566928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The first half generates a candidate. The second half tries to break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05  ·  FALSIFICATION FRAMEWORK</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TWO DISTINCT VALIDATION TARGETS</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Stability and identity are different questions.</a:t>
            </a:r>
            <a:endParaRPr lang="en-US" sz="2800" dirty="0"/>
          </a:p>
        </p:txBody>
      </p:sp>
      <p:sp>
        <p:nvSpPr>
          <p:cNvPr id="9" name="Shape 7"/>
          <p:cNvSpPr/>
          <p:nvPr/>
        </p:nvSpPr>
        <p:spPr>
          <a:xfrm>
            <a:off x="548640" y="2103120"/>
            <a:ext cx="5486400" cy="3383280"/>
          </a:xfrm>
          <a:prstGeom prst="rect">
            <a:avLst/>
          </a:prstGeom>
          <a:solidFill>
            <a:srgbClr val="FFFFFF"/>
          </a:solidFill>
          <a:ln w="9525">
            <a:solidFill>
              <a:srgbClr val="C9D2DC"/>
            </a:solidFill>
            <a:prstDash val="solid"/>
          </a:ln>
        </p:spPr>
        <p:txBody>
          <a:bodyPr/>
          <a:lstStyle/>
          <a:p>
            <a:endParaRPr lang="en-GB"/>
          </a:p>
        </p:txBody>
      </p:sp>
      <p:sp>
        <p:nvSpPr>
          <p:cNvPr id="10" name="Shape 8"/>
          <p:cNvSpPr/>
          <p:nvPr/>
        </p:nvSpPr>
        <p:spPr>
          <a:xfrm>
            <a:off x="548640" y="2103120"/>
            <a:ext cx="5486400" cy="411480"/>
          </a:xfrm>
          <a:prstGeom prst="rect">
            <a:avLst/>
          </a:prstGeom>
          <a:solidFill>
            <a:srgbClr val="0B4F94"/>
          </a:solidFill>
          <a:ln/>
        </p:spPr>
        <p:txBody>
          <a:bodyPr/>
          <a:lstStyle/>
          <a:p>
            <a:endParaRPr lang="en-GB"/>
          </a:p>
        </p:txBody>
      </p:sp>
      <p:sp>
        <p:nvSpPr>
          <p:cNvPr id="11" name="Text 9"/>
          <p:cNvSpPr/>
          <p:nvPr/>
        </p:nvSpPr>
        <p:spPr>
          <a:xfrm>
            <a:off x="777240" y="2157984"/>
            <a:ext cx="5029200" cy="320040"/>
          </a:xfrm>
          <a:prstGeom prst="rect">
            <a:avLst/>
          </a:prstGeom>
          <a:noFill/>
          <a:ln/>
        </p:spPr>
        <p:txBody>
          <a:bodyPr wrap="square" lIns="0" tIns="0" rIns="0" bIns="0" rtlCol="0" anchor="ctr"/>
          <a:lstStyle/>
          <a:p>
            <a:pPr marL="0" indent="0">
              <a:buNone/>
            </a:pPr>
            <a:r>
              <a:rPr lang="en-US" sz="1300" b="1" kern="0" spc="500" dirty="0">
                <a:solidFill>
                  <a:srgbClr val="FFFFFF"/>
                </a:solidFill>
                <a:latin typeface="Aptos" pitchFamily="34" charset="0"/>
                <a:ea typeface="Aptos" pitchFamily="34" charset="-122"/>
                <a:cs typeface="Aptos" pitchFamily="34" charset="-120"/>
              </a:rPr>
              <a:t>STABILITY</a:t>
            </a:r>
            <a:endParaRPr lang="en-US" sz="1300" dirty="0"/>
          </a:p>
        </p:txBody>
      </p:sp>
      <p:sp>
        <p:nvSpPr>
          <p:cNvPr id="12" name="Text 10"/>
          <p:cNvSpPr/>
          <p:nvPr/>
        </p:nvSpPr>
        <p:spPr>
          <a:xfrm>
            <a:off x="777240" y="2697480"/>
            <a:ext cx="5029200" cy="1097280"/>
          </a:xfrm>
          <a:prstGeom prst="rect">
            <a:avLst/>
          </a:prstGeom>
          <a:noFill/>
          <a:ln/>
        </p:spPr>
        <p:txBody>
          <a:bodyPr wrap="square" lIns="0" tIns="0" rIns="0" bIns="0" rtlCol="0" anchor="ctr"/>
          <a:lstStyle/>
          <a:p>
            <a:pPr marL="0" indent="0">
              <a:buNone/>
            </a:pPr>
            <a:r>
              <a:rPr lang="en-US" sz="1700" b="1" dirty="0">
                <a:solidFill>
                  <a:srgbClr val="082F5B"/>
                </a:solidFill>
                <a:latin typeface="Aptos Display" pitchFamily="34" charset="0"/>
                <a:ea typeface="Aptos Display" pitchFamily="34" charset="-122"/>
                <a:cs typeface="Aptos Display" pitchFamily="34" charset="-120"/>
              </a:rPr>
              <a:t>Can the same data condition reproduce a cluster under resampling?</a:t>
            </a:r>
            <a:endParaRPr lang="en-US" sz="1700" dirty="0"/>
          </a:p>
        </p:txBody>
      </p:sp>
      <p:sp>
        <p:nvSpPr>
          <p:cNvPr id="13" name="Text 11"/>
          <p:cNvSpPr/>
          <p:nvPr/>
        </p:nvSpPr>
        <p:spPr>
          <a:xfrm>
            <a:off x="777240" y="4114800"/>
            <a:ext cx="27432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METRIC</a:t>
            </a:r>
            <a:endParaRPr lang="en-US" sz="900" dirty="0"/>
          </a:p>
        </p:txBody>
      </p:sp>
      <p:sp>
        <p:nvSpPr>
          <p:cNvPr id="14" name="Text 12"/>
          <p:cNvSpPr/>
          <p:nvPr/>
        </p:nvSpPr>
        <p:spPr>
          <a:xfrm>
            <a:off x="777240" y="4389120"/>
            <a:ext cx="5029200" cy="457200"/>
          </a:xfrm>
          <a:prstGeom prst="rect">
            <a:avLst/>
          </a:prstGeom>
          <a:noFill/>
          <a:ln/>
        </p:spPr>
        <p:txBody>
          <a:bodyPr wrap="square" lIns="0" tIns="0" rIns="0" bIns="0" rtlCol="0" anchor="ctr"/>
          <a:lstStyle/>
          <a:p>
            <a:pPr marL="0" indent="0">
              <a:buNone/>
            </a:pPr>
            <a:r>
              <a:rPr lang="en-US" sz="1400" dirty="0">
                <a:solidFill>
                  <a:srgbClr val="1A2330"/>
                </a:solidFill>
                <a:latin typeface="Aptos" pitchFamily="34" charset="0"/>
                <a:ea typeface="Aptos" pitchFamily="34" charset="-122"/>
                <a:cs typeface="Aptos" pitchFamily="34" charset="-120"/>
              </a:rPr>
              <a:t>Bootstrap ARI under 80% subsampling</a:t>
            </a:r>
            <a:endParaRPr lang="en-US" sz="1400" dirty="0"/>
          </a:p>
        </p:txBody>
      </p:sp>
      <p:sp>
        <p:nvSpPr>
          <p:cNvPr id="15" name="Text 13"/>
          <p:cNvSpPr/>
          <p:nvPr/>
        </p:nvSpPr>
        <p:spPr>
          <a:xfrm>
            <a:off x="777240" y="4892040"/>
            <a:ext cx="5029200" cy="457200"/>
          </a:xfrm>
          <a:prstGeom prst="rect">
            <a:avLst/>
          </a:prstGeom>
          <a:noFill/>
          <a:ln/>
        </p:spPr>
        <p:txBody>
          <a:bodyPr wrap="square" lIns="0" tIns="0" rIns="0" bIns="0" rtlCol="0" anchor="ctr"/>
          <a:lstStyle/>
          <a:p>
            <a:pPr marL="0" indent="0">
              <a:buNone/>
            </a:pPr>
            <a:r>
              <a:rPr lang="en-US" sz="1200" i="1" dirty="0">
                <a:solidFill>
                  <a:srgbClr val="5C6B7E"/>
                </a:solidFill>
                <a:latin typeface="Aptos" pitchFamily="34" charset="0"/>
                <a:ea typeface="Aptos" pitchFamily="34" charset="-122"/>
                <a:cs typeface="Aptos" pitchFamily="34" charset="-120"/>
              </a:rPr>
              <a:t>Tells you: the partition is reproducible.</a:t>
            </a:r>
            <a:endParaRPr lang="en-US" sz="1200" dirty="0"/>
          </a:p>
        </p:txBody>
      </p:sp>
      <p:sp>
        <p:nvSpPr>
          <p:cNvPr id="16" name="Shape 14"/>
          <p:cNvSpPr/>
          <p:nvPr/>
        </p:nvSpPr>
        <p:spPr>
          <a:xfrm>
            <a:off x="6336792" y="2103120"/>
            <a:ext cx="5486400" cy="3383280"/>
          </a:xfrm>
          <a:prstGeom prst="rect">
            <a:avLst/>
          </a:prstGeom>
          <a:solidFill>
            <a:srgbClr val="FFFFFF"/>
          </a:solidFill>
          <a:ln w="9525">
            <a:solidFill>
              <a:srgbClr val="C9D2DC"/>
            </a:solidFill>
            <a:prstDash val="solid"/>
          </a:ln>
        </p:spPr>
        <p:txBody>
          <a:bodyPr/>
          <a:lstStyle/>
          <a:p>
            <a:endParaRPr lang="en-GB"/>
          </a:p>
        </p:txBody>
      </p:sp>
      <p:sp>
        <p:nvSpPr>
          <p:cNvPr id="17" name="Shape 15"/>
          <p:cNvSpPr/>
          <p:nvPr/>
        </p:nvSpPr>
        <p:spPr>
          <a:xfrm>
            <a:off x="6336792" y="2103120"/>
            <a:ext cx="5486400" cy="411480"/>
          </a:xfrm>
          <a:prstGeom prst="rect">
            <a:avLst/>
          </a:prstGeom>
          <a:solidFill>
            <a:srgbClr val="B33C3C"/>
          </a:solidFill>
          <a:ln/>
        </p:spPr>
        <p:txBody>
          <a:bodyPr/>
          <a:lstStyle/>
          <a:p>
            <a:endParaRPr lang="en-GB"/>
          </a:p>
        </p:txBody>
      </p:sp>
      <p:sp>
        <p:nvSpPr>
          <p:cNvPr id="18" name="Text 16"/>
          <p:cNvSpPr/>
          <p:nvPr/>
        </p:nvSpPr>
        <p:spPr>
          <a:xfrm>
            <a:off x="6565392" y="2157984"/>
            <a:ext cx="5029200" cy="320040"/>
          </a:xfrm>
          <a:prstGeom prst="rect">
            <a:avLst/>
          </a:prstGeom>
          <a:noFill/>
          <a:ln/>
        </p:spPr>
        <p:txBody>
          <a:bodyPr wrap="square" lIns="0" tIns="0" rIns="0" bIns="0" rtlCol="0" anchor="ctr"/>
          <a:lstStyle/>
          <a:p>
            <a:pPr marL="0" indent="0">
              <a:buNone/>
            </a:pPr>
            <a:r>
              <a:rPr lang="en-US" sz="1300" b="1" kern="0" spc="500" dirty="0">
                <a:solidFill>
                  <a:srgbClr val="FFFFFF"/>
                </a:solidFill>
                <a:latin typeface="Aptos" pitchFamily="34" charset="0"/>
                <a:ea typeface="Aptos" pitchFamily="34" charset="-122"/>
                <a:cs typeface="Aptos" pitchFamily="34" charset="-120"/>
              </a:rPr>
              <a:t>IDENTITY</a:t>
            </a:r>
            <a:endParaRPr lang="en-US" sz="1300" dirty="0"/>
          </a:p>
        </p:txBody>
      </p:sp>
      <p:sp>
        <p:nvSpPr>
          <p:cNvPr id="19" name="Text 17"/>
          <p:cNvSpPr/>
          <p:nvPr/>
        </p:nvSpPr>
        <p:spPr>
          <a:xfrm>
            <a:off x="6565392" y="2697480"/>
            <a:ext cx="5029200" cy="1097280"/>
          </a:xfrm>
          <a:prstGeom prst="rect">
            <a:avLst/>
          </a:prstGeom>
          <a:noFill/>
          <a:ln/>
        </p:spPr>
        <p:txBody>
          <a:bodyPr wrap="square" lIns="0" tIns="0" rIns="0" bIns="0" rtlCol="0" anchor="ctr"/>
          <a:lstStyle/>
          <a:p>
            <a:pPr marL="0" indent="0">
              <a:buNone/>
            </a:pPr>
            <a:r>
              <a:rPr lang="en-US" sz="1700" b="1" dirty="0">
                <a:solidFill>
                  <a:srgbClr val="082F5B"/>
                </a:solidFill>
                <a:latin typeface="Aptos Display" pitchFamily="34" charset="0"/>
                <a:ea typeface="Aptos Display" pitchFamily="34" charset="-122"/>
                <a:cs typeface="Aptos Display" pitchFamily="34" charset="-120"/>
              </a:rPr>
              <a:t>Are the same patients still grouped together after technical correction?</a:t>
            </a:r>
            <a:endParaRPr lang="en-US" sz="1700" dirty="0"/>
          </a:p>
        </p:txBody>
      </p:sp>
      <p:sp>
        <p:nvSpPr>
          <p:cNvPr id="20" name="Text 18"/>
          <p:cNvSpPr/>
          <p:nvPr/>
        </p:nvSpPr>
        <p:spPr>
          <a:xfrm>
            <a:off x="6565392" y="4114800"/>
            <a:ext cx="27432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METRIC</a:t>
            </a:r>
            <a:endParaRPr lang="en-US" sz="900" dirty="0"/>
          </a:p>
        </p:txBody>
      </p:sp>
      <p:sp>
        <p:nvSpPr>
          <p:cNvPr id="21" name="Text 19"/>
          <p:cNvSpPr/>
          <p:nvPr/>
        </p:nvSpPr>
        <p:spPr>
          <a:xfrm>
            <a:off x="6565392" y="4389120"/>
            <a:ext cx="5029200" cy="457200"/>
          </a:xfrm>
          <a:prstGeom prst="rect">
            <a:avLst/>
          </a:prstGeom>
          <a:noFill/>
          <a:ln/>
        </p:spPr>
        <p:txBody>
          <a:bodyPr wrap="square" lIns="0" tIns="0" rIns="0" bIns="0" rtlCol="0" anchor="ctr"/>
          <a:lstStyle/>
          <a:p>
            <a:pPr marL="0" indent="0">
              <a:buNone/>
            </a:pPr>
            <a:r>
              <a:rPr lang="en-US" sz="1400" dirty="0">
                <a:solidFill>
                  <a:srgbClr val="1A2330"/>
                </a:solidFill>
                <a:latin typeface="Aptos" pitchFamily="34" charset="0"/>
                <a:ea typeface="Aptos" pitchFamily="34" charset="-122"/>
                <a:cs typeface="Aptos" pitchFamily="34" charset="-120"/>
              </a:rPr>
              <a:t>ARI of harmonized labels vs. raw labels</a:t>
            </a:r>
            <a:endParaRPr lang="en-US" sz="1400" dirty="0"/>
          </a:p>
        </p:txBody>
      </p:sp>
      <p:sp>
        <p:nvSpPr>
          <p:cNvPr id="22" name="Text 20"/>
          <p:cNvSpPr/>
          <p:nvPr/>
        </p:nvSpPr>
        <p:spPr>
          <a:xfrm>
            <a:off x="6565392" y="4892040"/>
            <a:ext cx="5029200" cy="457200"/>
          </a:xfrm>
          <a:prstGeom prst="rect">
            <a:avLst/>
          </a:prstGeom>
          <a:noFill/>
          <a:ln/>
        </p:spPr>
        <p:txBody>
          <a:bodyPr wrap="square" lIns="0" tIns="0" rIns="0" bIns="0" rtlCol="0" anchor="ctr"/>
          <a:lstStyle/>
          <a:p>
            <a:pPr marL="0" indent="0">
              <a:buNone/>
            </a:pPr>
            <a:r>
              <a:rPr lang="en-US" sz="1200" i="1" dirty="0">
                <a:solidFill>
                  <a:srgbClr val="5C6B7E"/>
                </a:solidFill>
                <a:latin typeface="Aptos" pitchFamily="34" charset="0"/>
                <a:ea typeface="Aptos" pitchFamily="34" charset="-122"/>
                <a:cs typeface="Aptos" pitchFamily="34" charset="-120"/>
              </a:rPr>
              <a:t>Tells you: the patients are the same partition.</a:t>
            </a:r>
            <a:endParaRPr lang="en-US" sz="1200" dirty="0"/>
          </a:p>
        </p:txBody>
      </p:sp>
      <p:sp>
        <p:nvSpPr>
          <p:cNvPr id="23" name="Text 21"/>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This study fails identity while preserving stability.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06  ·  THE REVEAL</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ACQUISITION ENRICHMENT</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The phenotype was largely a vendor split.</a:t>
            </a:r>
            <a:endParaRPr lang="en-US" sz="2800" dirty="0"/>
          </a:p>
        </p:txBody>
      </p:sp>
      <p:sp>
        <p:nvSpPr>
          <p:cNvPr id="9" name="Text 7"/>
          <p:cNvSpPr/>
          <p:nvPr/>
        </p:nvSpPr>
        <p:spPr>
          <a:xfrm>
            <a:off x="548640" y="1965960"/>
            <a:ext cx="73152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RAW CLUSTER × MANUFACTURER  ·  PROPORTION</a:t>
            </a:r>
            <a:endParaRPr lang="en-US" sz="900" dirty="0"/>
          </a:p>
        </p:txBody>
      </p:sp>
      <p:graphicFrame>
        <p:nvGraphicFramePr>
          <p:cNvPr id="10" name="Chart 0"/>
          <p:cNvGraphicFramePr/>
          <p:nvPr/>
        </p:nvGraphicFramePr>
        <p:xfrm>
          <a:off x="548640" y="2286000"/>
          <a:ext cx="69494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548640" y="5532120"/>
            <a:ext cx="6949440" cy="274320"/>
          </a:xfrm>
          <a:prstGeom prst="rect">
            <a:avLst/>
          </a:prstGeom>
          <a:noFill/>
          <a:ln/>
        </p:spPr>
        <p:txBody>
          <a:bodyPr wrap="square" lIns="0" tIns="0" rIns="0" bIns="0" rtlCol="0" anchor="ctr"/>
          <a:lstStyle/>
          <a:p>
            <a:pPr marL="0" indent="0">
              <a:buNone/>
            </a:pPr>
            <a:r>
              <a:rPr lang="en-US" sz="1000" i="1" dirty="0">
                <a:solidFill>
                  <a:srgbClr val="5C6B7E"/>
                </a:solidFill>
                <a:latin typeface="Aptos" pitchFamily="34" charset="0"/>
                <a:ea typeface="Aptos" pitchFamily="34" charset="-122"/>
                <a:cs typeface="Aptos" pitchFamily="34" charset="-120"/>
              </a:rPr>
              <a:t>Cluster 0:  547 GE  ·  39 Siemens                          Cluster 1:  81 GE  ·  255 Siemens</a:t>
            </a:r>
            <a:endParaRPr lang="en-US" sz="1000" dirty="0"/>
          </a:p>
        </p:txBody>
      </p:sp>
      <p:sp>
        <p:nvSpPr>
          <p:cNvPr id="12" name="Shape 9"/>
          <p:cNvSpPr/>
          <p:nvPr/>
        </p:nvSpPr>
        <p:spPr>
          <a:xfrm>
            <a:off x="7772400" y="1965960"/>
            <a:ext cx="4023360" cy="3840480"/>
          </a:xfrm>
          <a:prstGeom prst="rect">
            <a:avLst/>
          </a:prstGeom>
          <a:solidFill>
            <a:srgbClr val="082F5B"/>
          </a:solidFill>
          <a:ln/>
        </p:spPr>
        <p:txBody>
          <a:bodyPr/>
          <a:lstStyle/>
          <a:p>
            <a:endParaRPr lang="en-GB"/>
          </a:p>
        </p:txBody>
      </p:sp>
      <p:sp>
        <p:nvSpPr>
          <p:cNvPr id="13" name="Text 10"/>
          <p:cNvSpPr/>
          <p:nvPr/>
        </p:nvSpPr>
        <p:spPr>
          <a:xfrm>
            <a:off x="7955280" y="2194560"/>
            <a:ext cx="3657600" cy="274320"/>
          </a:xfrm>
          <a:prstGeom prst="rect">
            <a:avLst/>
          </a:prstGeom>
          <a:noFill/>
          <a:ln/>
        </p:spPr>
        <p:txBody>
          <a:bodyPr wrap="square" lIns="0" tIns="0" rIns="0" bIns="0" rtlCol="0" anchor="ctr"/>
          <a:lstStyle/>
          <a:p>
            <a:pPr marL="0" indent="0">
              <a:buNone/>
            </a:pPr>
            <a:r>
              <a:rPr lang="en-US" sz="1000" b="1" kern="0" spc="400" dirty="0">
                <a:solidFill>
                  <a:srgbClr val="9DB3CC"/>
                </a:solidFill>
                <a:latin typeface="Aptos" pitchFamily="34" charset="0"/>
                <a:ea typeface="Aptos" pitchFamily="34" charset="-122"/>
                <a:cs typeface="Aptos" pitchFamily="34" charset="-120"/>
              </a:rPr>
              <a:t>MANUFACTURER  ×  CLUSTER</a:t>
            </a:r>
            <a:endParaRPr lang="en-US" sz="1000" dirty="0"/>
          </a:p>
        </p:txBody>
      </p:sp>
      <p:sp>
        <p:nvSpPr>
          <p:cNvPr id="14" name="Text 11"/>
          <p:cNvSpPr/>
          <p:nvPr/>
        </p:nvSpPr>
        <p:spPr>
          <a:xfrm>
            <a:off x="7955280" y="2606040"/>
            <a:ext cx="3657600" cy="914400"/>
          </a:xfrm>
          <a:prstGeom prst="rect">
            <a:avLst/>
          </a:prstGeom>
          <a:noFill/>
          <a:ln/>
        </p:spPr>
        <p:txBody>
          <a:bodyPr wrap="square" lIns="0" tIns="0" rIns="0" bIns="0" rtlCol="0" anchor="ctr"/>
          <a:lstStyle/>
          <a:p>
            <a:pPr marL="0" indent="0">
              <a:buNone/>
            </a:pPr>
            <a:r>
              <a:rPr lang="en-US" sz="3000" i="1" dirty="0">
                <a:solidFill>
                  <a:srgbClr val="FFFFFF"/>
                </a:solidFill>
                <a:latin typeface="Aptos Display" pitchFamily="34" charset="0"/>
                <a:ea typeface="Aptos Display" pitchFamily="34" charset="-122"/>
                <a:cs typeface="Aptos Display" pitchFamily="34" charset="-120"/>
              </a:rPr>
              <a:t>p</a:t>
            </a:r>
            <a:r>
              <a:rPr lang="en-US" sz="3000" b="1" dirty="0">
                <a:solidFill>
                  <a:srgbClr val="FFFFFF"/>
                </a:solidFill>
                <a:latin typeface="Aptos Display" pitchFamily="34" charset="0"/>
                <a:ea typeface="Aptos Display" pitchFamily="34" charset="-122"/>
                <a:cs typeface="Aptos Display" pitchFamily="34" charset="-120"/>
              </a:rPr>
              <a:t> = 8.0</a:t>
            </a:r>
            <a:r>
              <a:rPr lang="en-US" sz="2200" b="1" dirty="0">
                <a:solidFill>
                  <a:srgbClr val="FFFFFF"/>
                </a:solidFill>
                <a:latin typeface="Aptos Display" pitchFamily="34" charset="0"/>
                <a:ea typeface="Aptos Display" pitchFamily="34" charset="-122"/>
                <a:cs typeface="Aptos Display" pitchFamily="34" charset="-120"/>
              </a:rPr>
              <a:t> × 10⁻¹⁰⁴</a:t>
            </a:r>
            <a:endParaRPr lang="en-US" sz="3000" dirty="0"/>
          </a:p>
        </p:txBody>
      </p:sp>
      <p:sp>
        <p:nvSpPr>
          <p:cNvPr id="15" name="Shape 12"/>
          <p:cNvSpPr/>
          <p:nvPr/>
        </p:nvSpPr>
        <p:spPr>
          <a:xfrm>
            <a:off x="7955280" y="3611880"/>
            <a:ext cx="548640" cy="27432"/>
          </a:xfrm>
          <a:prstGeom prst="rect">
            <a:avLst/>
          </a:prstGeom>
          <a:solidFill>
            <a:srgbClr val="4E78A0"/>
          </a:solidFill>
          <a:ln/>
        </p:spPr>
        <p:txBody>
          <a:bodyPr/>
          <a:lstStyle/>
          <a:p>
            <a:endParaRPr lang="en-GB"/>
          </a:p>
        </p:txBody>
      </p:sp>
      <p:sp>
        <p:nvSpPr>
          <p:cNvPr id="16" name="Text 13"/>
          <p:cNvSpPr/>
          <p:nvPr/>
        </p:nvSpPr>
        <p:spPr>
          <a:xfrm>
            <a:off x="7955280" y="3794760"/>
            <a:ext cx="3657600" cy="274320"/>
          </a:xfrm>
          <a:prstGeom prst="rect">
            <a:avLst/>
          </a:prstGeom>
          <a:noFill/>
          <a:ln/>
        </p:spPr>
        <p:txBody>
          <a:bodyPr wrap="square" lIns="0" tIns="0" rIns="0" bIns="0" rtlCol="0" anchor="ctr"/>
          <a:lstStyle/>
          <a:p>
            <a:pPr marL="0" indent="0">
              <a:buNone/>
            </a:pPr>
            <a:r>
              <a:rPr lang="en-US" sz="900" b="1" kern="0" spc="400" dirty="0">
                <a:solidFill>
                  <a:srgbClr val="9DB3CC"/>
                </a:solidFill>
                <a:latin typeface="Aptos" pitchFamily="34" charset="0"/>
                <a:ea typeface="Aptos" pitchFamily="34" charset="-122"/>
                <a:cs typeface="Aptos" pitchFamily="34" charset="-120"/>
              </a:rPr>
              <a:t>FOR CONTRAST</a:t>
            </a:r>
            <a:endParaRPr lang="en-US" sz="900" dirty="0"/>
          </a:p>
        </p:txBody>
      </p:sp>
      <p:sp>
        <p:nvSpPr>
          <p:cNvPr id="17" name="Text 14"/>
          <p:cNvSpPr/>
          <p:nvPr/>
        </p:nvSpPr>
        <p:spPr>
          <a:xfrm>
            <a:off x="7955280" y="4114800"/>
            <a:ext cx="3657600" cy="1645920"/>
          </a:xfrm>
          <a:prstGeom prst="rect">
            <a:avLst/>
          </a:prstGeom>
          <a:noFill/>
          <a:ln/>
        </p:spPr>
        <p:txBody>
          <a:bodyPr wrap="square" lIns="0" tIns="0" rIns="0" bIns="0" rtlCol="0" anchor="ctr"/>
          <a:lstStyle/>
          <a:p>
            <a:pPr marL="0" indent="0">
              <a:spcAft>
                <a:spcPts val="400"/>
              </a:spcAft>
              <a:buNone/>
            </a:pPr>
            <a:r>
              <a:rPr lang="en-US" sz="1200" dirty="0">
                <a:solidFill>
                  <a:srgbClr val="CDD9EA"/>
                </a:solidFill>
                <a:latin typeface="Aptos" pitchFamily="34" charset="0"/>
                <a:ea typeface="Aptos" pitchFamily="34" charset="-122"/>
                <a:cs typeface="Aptos" pitchFamily="34" charset="-120"/>
              </a:rPr>
              <a:t>Molecular subtype</a:t>
            </a:r>
            <a:r>
              <a:rPr lang="en-US" sz="1300" b="1" dirty="0">
                <a:solidFill>
                  <a:srgbClr val="FFFFFF"/>
                </a:solidFill>
                <a:latin typeface="Aptos" pitchFamily="34" charset="0"/>
                <a:ea typeface="Aptos" pitchFamily="34" charset="-122"/>
                <a:cs typeface="Aptos" pitchFamily="34" charset="-120"/>
              </a:rPr>
              <a:t>    p = 0.146</a:t>
            </a:r>
            <a:endParaRPr lang="en-US" sz="1200" dirty="0"/>
          </a:p>
          <a:p>
            <a:pPr marL="0" indent="0">
              <a:spcAft>
                <a:spcPts val="400"/>
              </a:spcAft>
              <a:buNone/>
            </a:pPr>
            <a:r>
              <a:rPr lang="en-US" sz="400" dirty="0">
                <a:solidFill>
                  <a:srgbClr val="000000"/>
                </a:solidFill>
                <a:latin typeface="Aptos" pitchFamily="34" charset="0"/>
                <a:ea typeface="Aptos" pitchFamily="34" charset="-122"/>
                <a:cs typeface="Aptos" pitchFamily="34" charset="-120"/>
              </a:rPr>
              <a:t> </a:t>
            </a:r>
            <a:endParaRPr lang="en-US" sz="1200" dirty="0"/>
          </a:p>
          <a:p>
            <a:pPr marL="0" indent="0">
              <a:spcAft>
                <a:spcPts val="400"/>
              </a:spcAft>
              <a:buNone/>
            </a:pPr>
            <a:r>
              <a:rPr lang="en-US" sz="1200" dirty="0">
                <a:solidFill>
                  <a:srgbClr val="CDD9EA"/>
                </a:solidFill>
                <a:latin typeface="Aptos" pitchFamily="34" charset="0"/>
                <a:ea typeface="Aptos" pitchFamily="34" charset="-122"/>
                <a:cs typeface="Aptos" pitchFamily="34" charset="-120"/>
              </a:rPr>
              <a:t>Whole-cohort recurrence</a:t>
            </a:r>
            <a:r>
              <a:rPr lang="en-US" sz="1300" b="1" dirty="0">
                <a:solidFill>
                  <a:srgbClr val="FFFFFF"/>
                </a:solidFill>
                <a:latin typeface="Aptos" pitchFamily="34" charset="0"/>
                <a:ea typeface="Aptos" pitchFamily="34" charset="-122"/>
                <a:cs typeface="Aptos" pitchFamily="34" charset="-120"/>
              </a:rPr>
              <a:t>    p = 0.766</a:t>
            </a:r>
            <a:endParaRPr lang="en-US" sz="1200" dirty="0"/>
          </a:p>
        </p:txBody>
      </p:sp>
      <p:sp>
        <p:nvSpPr>
          <p:cNvPr id="18" name="Text 15"/>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The contingency pattern is not subtle — it is overwhelming.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07 ·  THE REVEAL</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SAME SPACE, TWO COLOURINGS</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Now color the same space by manufacturer.</a:t>
            </a:r>
            <a:endParaRPr lang="en-US" sz="2800" dirty="0"/>
          </a:p>
        </p:txBody>
      </p:sp>
      <p:sp>
        <p:nvSpPr>
          <p:cNvPr id="9" name="Text 7"/>
          <p:cNvSpPr/>
          <p:nvPr/>
        </p:nvSpPr>
        <p:spPr>
          <a:xfrm>
            <a:off x="548640" y="1783080"/>
            <a:ext cx="55321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COLOURED BY RAW CLUSTER</a:t>
            </a:r>
            <a:endParaRPr lang="en-US" sz="900" dirty="0"/>
          </a:p>
        </p:txBody>
      </p:sp>
      <p:graphicFrame>
        <p:nvGraphicFramePr>
          <p:cNvPr id="10" name="Chart 0"/>
          <p:cNvGraphicFramePr/>
          <p:nvPr/>
        </p:nvGraphicFramePr>
        <p:xfrm>
          <a:off x="548640" y="2103120"/>
          <a:ext cx="55321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6263640" y="1783080"/>
            <a:ext cx="55321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COLOURED BY MANUFACTURER</a:t>
            </a:r>
            <a:endParaRPr lang="en-US" sz="900" dirty="0"/>
          </a:p>
        </p:txBody>
      </p:sp>
      <p:graphicFrame>
        <p:nvGraphicFramePr>
          <p:cNvPr id="12" name="Chart 1"/>
          <p:cNvGraphicFramePr/>
          <p:nvPr/>
        </p:nvGraphicFramePr>
        <p:xfrm>
          <a:off x="6263640" y="2103120"/>
          <a:ext cx="553212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 9"/>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The two displays are nearly interchangeable. Belief breaks here.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07  ·  THE REVEAL</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VARIANCE ATTRIBUTION ON PC1</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Technical, not subtype-defined.</a:t>
            </a:r>
            <a:endParaRPr lang="en-US" sz="2800" dirty="0"/>
          </a:p>
        </p:txBody>
      </p:sp>
      <p:graphicFrame>
        <p:nvGraphicFramePr>
          <p:cNvPr id="9" name="Chart 0"/>
          <p:cNvGraphicFramePr/>
          <p:nvPr/>
        </p:nvGraphicFramePr>
        <p:xfrm>
          <a:off x="548640" y="2011680"/>
          <a:ext cx="822960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9006840" y="2011680"/>
            <a:ext cx="2788920" cy="3840480"/>
          </a:xfrm>
          <a:prstGeom prst="rect">
            <a:avLst/>
          </a:prstGeom>
          <a:solidFill>
            <a:srgbClr val="F4F6FA"/>
          </a:solidFill>
          <a:ln/>
        </p:spPr>
        <p:txBody>
          <a:bodyPr/>
          <a:lstStyle/>
          <a:p>
            <a:endParaRPr lang="en-GB"/>
          </a:p>
        </p:txBody>
      </p:sp>
      <p:sp>
        <p:nvSpPr>
          <p:cNvPr id="11" name="Text 8"/>
          <p:cNvSpPr/>
          <p:nvPr/>
        </p:nvSpPr>
        <p:spPr>
          <a:xfrm>
            <a:off x="9189720" y="2194560"/>
            <a:ext cx="256032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READING</a:t>
            </a:r>
            <a:endParaRPr lang="en-US" sz="900" dirty="0"/>
          </a:p>
        </p:txBody>
      </p:sp>
      <p:sp>
        <p:nvSpPr>
          <p:cNvPr id="12" name="Text 9"/>
          <p:cNvSpPr/>
          <p:nvPr/>
        </p:nvSpPr>
        <p:spPr>
          <a:xfrm>
            <a:off x="9189720" y="2514600"/>
            <a:ext cx="2560320" cy="1371600"/>
          </a:xfrm>
          <a:prstGeom prst="rect">
            <a:avLst/>
          </a:prstGeom>
          <a:noFill/>
          <a:ln/>
        </p:spPr>
        <p:txBody>
          <a:bodyPr wrap="square" lIns="0" tIns="0" rIns="0" bIns="0" rtlCol="0" anchor="ctr"/>
          <a:lstStyle/>
          <a:p>
            <a:pPr marL="0" indent="0">
              <a:buNone/>
            </a:pPr>
            <a:r>
              <a:rPr lang="en-US" sz="1400" b="1" dirty="0">
                <a:solidFill>
                  <a:srgbClr val="082F5B"/>
                </a:solidFill>
                <a:latin typeface="Aptos Display" pitchFamily="34" charset="0"/>
                <a:ea typeface="Aptos Display" pitchFamily="34" charset="-122"/>
                <a:cs typeface="Aptos Display" pitchFamily="34" charset="-120"/>
              </a:rPr>
              <a:t>Four technical variables dwarf molecular subtype on PC1.</a:t>
            </a:r>
            <a:endParaRPr lang="en-US" sz="1400" dirty="0"/>
          </a:p>
        </p:txBody>
      </p:sp>
      <p:sp>
        <p:nvSpPr>
          <p:cNvPr id="13" name="Text 10"/>
          <p:cNvSpPr/>
          <p:nvPr/>
        </p:nvSpPr>
        <p:spPr>
          <a:xfrm>
            <a:off x="9189720" y="3977640"/>
            <a:ext cx="2560320" cy="1280160"/>
          </a:xfrm>
          <a:prstGeom prst="rect">
            <a:avLst/>
          </a:prstGeom>
          <a:noFill/>
          <a:ln/>
        </p:spPr>
        <p:txBody>
          <a:bodyPr wrap="square" lIns="0" tIns="0" rIns="0" bIns="0" rtlCol="0" anchor="ctr"/>
          <a:lstStyle/>
          <a:p>
            <a:pPr marL="0" indent="0">
              <a:buNone/>
            </a:pPr>
            <a:r>
              <a:rPr lang="en-US" sz="1100" dirty="0">
                <a:solidFill>
                  <a:srgbClr val="1A2330"/>
                </a:solidFill>
                <a:latin typeface="Aptos" pitchFamily="34" charset="0"/>
                <a:ea typeface="Aptos" pitchFamily="34" charset="-122"/>
                <a:cs typeface="Aptos" pitchFamily="34" charset="-120"/>
              </a:rPr>
              <a:t>Subtype remains ≤ 0.04 across the top ten PCs.</a:t>
            </a:r>
            <a:endParaRPr lang="en-US" sz="1100" dirty="0"/>
          </a:p>
        </p:txBody>
      </p:sp>
      <p:sp>
        <p:nvSpPr>
          <p:cNvPr id="14" name="Text 11"/>
          <p:cNvSpPr/>
          <p:nvPr/>
        </p:nvSpPr>
        <p:spPr>
          <a:xfrm>
            <a:off x="9189720" y="4937760"/>
            <a:ext cx="2560320" cy="914400"/>
          </a:xfrm>
          <a:prstGeom prst="rect">
            <a:avLst/>
          </a:prstGeom>
          <a:noFill/>
          <a:ln/>
        </p:spPr>
        <p:txBody>
          <a:bodyPr wrap="square" lIns="0" tIns="0" rIns="0" bIns="0" rtlCol="0" anchor="ctr"/>
          <a:lstStyle/>
          <a:p>
            <a:pPr marL="0" indent="0">
              <a:buNone/>
            </a:pPr>
            <a:r>
              <a:rPr lang="en-US" sz="1100" i="1" dirty="0">
                <a:solidFill>
                  <a:srgbClr val="5C6B7E"/>
                </a:solidFill>
                <a:latin typeface="Aptos" pitchFamily="34" charset="0"/>
                <a:ea typeface="Aptos" pitchFamily="34" charset="-122"/>
                <a:cs typeface="Aptos" pitchFamily="34" charset="-120"/>
              </a:rPr>
              <a:t>The partition is not noisy — it is stable, and the stable signal is acquisition-linked.</a:t>
            </a:r>
            <a:endParaRPr lang="en-US" sz="1100" dirty="0"/>
          </a:p>
        </p:txBody>
      </p:sp>
      <p:sp>
        <p:nvSpPr>
          <p:cNvPr id="15" name="Text 12"/>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Acquisition dominates the leading variance axis; biology does not.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082F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9DB3CC"/>
          </a:solidFill>
          <a:ln/>
        </p:spPr>
        <p:txBody>
          <a:bodyPr/>
          <a:lstStyle/>
          <a:p>
            <a:endParaRPr lang="en-GB"/>
          </a:p>
        </p:txBody>
      </p:sp>
      <p:sp>
        <p:nvSpPr>
          <p:cNvPr id="3" name="Text 1"/>
          <p:cNvSpPr/>
          <p:nvPr/>
        </p:nvSpPr>
        <p:spPr>
          <a:xfrm>
            <a:off x="548640" y="365760"/>
            <a:ext cx="7315200" cy="274320"/>
          </a:xfrm>
          <a:prstGeom prst="rect">
            <a:avLst/>
          </a:prstGeom>
          <a:noFill/>
          <a:ln/>
        </p:spPr>
        <p:txBody>
          <a:bodyPr wrap="square" lIns="0" tIns="0" rIns="0" bIns="0" rtlCol="0" anchor="ctr"/>
          <a:lstStyle/>
          <a:p>
            <a:pPr marL="0" indent="0">
              <a:buNone/>
            </a:pPr>
            <a:r>
              <a:rPr lang="en-US" sz="1000" b="1" kern="0" spc="400" dirty="0">
                <a:solidFill>
                  <a:srgbClr val="9DB3CC"/>
                </a:solidFill>
                <a:latin typeface="Aptos" pitchFamily="34" charset="0"/>
                <a:ea typeface="Aptos" pitchFamily="34" charset="-122"/>
                <a:cs typeface="Aptos" pitchFamily="34" charset="-120"/>
              </a:rPr>
              <a:t>07  ·  THE CORE LESSON</a:t>
            </a:r>
            <a:endParaRPr lang="en-US" sz="1000" dirty="0"/>
          </a:p>
        </p:txBody>
      </p:sp>
      <p:sp>
        <p:nvSpPr>
          <p:cNvPr id="4" name="Text 2"/>
          <p:cNvSpPr/>
          <p:nvPr/>
        </p:nvSpPr>
        <p:spPr>
          <a:xfrm>
            <a:off x="548640" y="1371600"/>
            <a:ext cx="11064240" cy="1097280"/>
          </a:xfrm>
          <a:prstGeom prst="rect">
            <a:avLst/>
          </a:prstGeom>
          <a:noFill/>
          <a:ln/>
        </p:spPr>
        <p:txBody>
          <a:bodyPr wrap="square" lIns="0" tIns="0" rIns="0" bIns="0" rtlCol="0" anchor="ctr"/>
          <a:lstStyle/>
          <a:p>
            <a:pPr marL="0" indent="0">
              <a:buNone/>
            </a:pPr>
            <a:r>
              <a:rPr lang="en-US" sz="5600" b="1" dirty="0">
                <a:solidFill>
                  <a:srgbClr val="FFFFFF"/>
                </a:solidFill>
                <a:latin typeface="Aptos Display" pitchFamily="34" charset="0"/>
                <a:ea typeface="Aptos Display" pitchFamily="34" charset="-122"/>
                <a:cs typeface="Aptos Display" pitchFamily="34" charset="-120"/>
              </a:rPr>
              <a:t>The stability trap.</a:t>
            </a:r>
            <a:endParaRPr lang="en-US" sz="5600" dirty="0"/>
          </a:p>
        </p:txBody>
      </p:sp>
      <p:sp>
        <p:nvSpPr>
          <p:cNvPr id="5" name="Shape 3"/>
          <p:cNvSpPr/>
          <p:nvPr/>
        </p:nvSpPr>
        <p:spPr>
          <a:xfrm>
            <a:off x="548640" y="2606040"/>
            <a:ext cx="731520" cy="45720"/>
          </a:xfrm>
          <a:prstGeom prst="rect">
            <a:avLst/>
          </a:prstGeom>
          <a:solidFill>
            <a:srgbClr val="B33C3C"/>
          </a:solidFill>
          <a:ln/>
        </p:spPr>
        <p:txBody>
          <a:bodyPr/>
          <a:lstStyle/>
          <a:p>
            <a:endParaRPr lang="en-GB"/>
          </a:p>
        </p:txBody>
      </p:sp>
      <p:sp>
        <p:nvSpPr>
          <p:cNvPr id="6" name="Text 4"/>
          <p:cNvSpPr/>
          <p:nvPr/>
        </p:nvSpPr>
        <p:spPr>
          <a:xfrm>
            <a:off x="548640" y="2926080"/>
            <a:ext cx="11064240" cy="914400"/>
          </a:xfrm>
          <a:prstGeom prst="rect">
            <a:avLst/>
          </a:prstGeom>
          <a:noFill/>
          <a:ln/>
        </p:spPr>
        <p:txBody>
          <a:bodyPr wrap="square" lIns="0" tIns="0" rIns="0" bIns="0" rtlCol="0" anchor="ctr"/>
          <a:lstStyle/>
          <a:p>
            <a:pPr marL="0" indent="0">
              <a:buNone/>
            </a:pPr>
            <a:r>
              <a:rPr lang="en-US" sz="2800" i="1" dirty="0">
                <a:solidFill>
                  <a:srgbClr val="FFFFFF"/>
                </a:solidFill>
                <a:latin typeface="Aptos Display" pitchFamily="34" charset="0"/>
                <a:ea typeface="Aptos Display" pitchFamily="34" charset="-122"/>
                <a:cs typeface="Aptos Display" pitchFamily="34" charset="-120"/>
              </a:rPr>
              <a:t>A cluster can be reproducible because the artifact is reproducible.</a:t>
            </a:r>
            <a:endParaRPr lang="en-US" sz="2800" dirty="0"/>
          </a:p>
        </p:txBody>
      </p:sp>
      <p:sp>
        <p:nvSpPr>
          <p:cNvPr id="7" name="Text 5"/>
          <p:cNvSpPr/>
          <p:nvPr/>
        </p:nvSpPr>
        <p:spPr>
          <a:xfrm>
            <a:off x="548640" y="4297680"/>
            <a:ext cx="11064240" cy="1371600"/>
          </a:xfrm>
          <a:prstGeom prst="rect">
            <a:avLst/>
          </a:prstGeom>
          <a:noFill/>
          <a:ln/>
        </p:spPr>
        <p:txBody>
          <a:bodyPr wrap="square" lIns="0" tIns="0" rIns="0" bIns="0" rtlCol="0" anchor="ctr"/>
          <a:lstStyle/>
          <a:p>
            <a:pPr marL="0" indent="0">
              <a:buNone/>
            </a:pPr>
            <a:r>
              <a:rPr lang="en-US" sz="1800" dirty="0">
                <a:solidFill>
                  <a:srgbClr val="CDD9EA"/>
                </a:solidFill>
                <a:latin typeface="Aptos" pitchFamily="34" charset="0"/>
                <a:ea typeface="Aptos" pitchFamily="34" charset="-122"/>
                <a:cs typeface="Aptos" pitchFamily="34" charset="-120"/>
              </a:rPr>
              <a:t>High bootstrap ARI may mean that the scanner-domain structure is reproducible — not that the cluster is biological. Reproducibility of an artifact still produces reproducible labels.</a:t>
            </a:r>
            <a:endParaRPr lang="en-US" sz="1800" dirty="0"/>
          </a:p>
        </p:txBody>
      </p:sp>
      <p:sp>
        <p:nvSpPr>
          <p:cNvPr id="8" name="Text 6"/>
          <p:cNvSpPr/>
          <p:nvPr/>
        </p:nvSpPr>
        <p:spPr>
          <a:xfrm>
            <a:off x="548640" y="6035040"/>
            <a:ext cx="11064240" cy="365760"/>
          </a:xfrm>
          <a:prstGeom prst="rect">
            <a:avLst/>
          </a:prstGeom>
          <a:noFill/>
          <a:ln/>
        </p:spPr>
        <p:txBody>
          <a:bodyPr wrap="square" lIns="0" tIns="0" rIns="0" bIns="0" rtlCol="0" anchor="ctr"/>
          <a:lstStyle/>
          <a:p>
            <a:pPr marL="0" indent="0">
              <a:buNone/>
            </a:pPr>
            <a:r>
              <a:rPr lang="en-US" sz="1300" i="1" kern="0" spc="600" dirty="0">
                <a:solidFill>
                  <a:srgbClr val="9DB3CC"/>
                </a:solidFill>
                <a:latin typeface="Aptos" pitchFamily="34" charset="0"/>
                <a:ea typeface="Aptos" pitchFamily="34" charset="-122"/>
                <a:cs typeface="Aptos" pitchFamily="34" charset="-120"/>
              </a:rPr>
              <a:t>Stability  ≠  Identity  ≠  Biology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08  ·  CENTRAL RESULT</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marL="0" indent="0" algn="r">
              <a:buNone/>
            </a:pPr>
            <a:r>
              <a:rPr lang="en-US" sz="900" kern="0" spc="100" dirty="0">
                <a:solidFill>
                  <a:srgbClr val="5C6B7E"/>
                </a:solidFill>
                <a:latin typeface="Aptos" pitchFamily="34" charset="0"/>
                <a:ea typeface="Aptos" pitchFamily="34" charset="-122"/>
                <a:cs typeface="Aptos" pitchFamily="34" charset="-120"/>
              </a:rPr>
              <a:t>Trapped by Stability  ·  Thesis Defense</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STABILITY VERSUS IDENTITY ACROSS CONDITIONS</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Stable clusters. Different patients.</a:t>
            </a:r>
            <a:endParaRPr lang="en-US" sz="2800" dirty="0"/>
          </a:p>
        </p:txBody>
      </p:sp>
      <p:sp>
        <p:nvSpPr>
          <p:cNvPr id="9" name="Text 7"/>
          <p:cNvSpPr/>
          <p:nvPr/>
        </p:nvSpPr>
        <p:spPr>
          <a:xfrm>
            <a:off x="548640" y="1965960"/>
            <a:ext cx="557784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PANEL A  ·  INTERNAL STABILITY  (bootstrap ARI)</a:t>
            </a:r>
            <a:endParaRPr lang="en-US" sz="900" dirty="0"/>
          </a:p>
        </p:txBody>
      </p:sp>
      <p:graphicFrame>
        <p:nvGraphicFramePr>
          <p:cNvPr id="10" name="Chart 0"/>
          <p:cNvGraphicFramePr/>
          <p:nvPr/>
        </p:nvGraphicFramePr>
        <p:xfrm>
          <a:off x="548640" y="2286000"/>
          <a:ext cx="55778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p:nvPr/>
        </p:nvSpPr>
        <p:spPr>
          <a:xfrm>
            <a:off x="6263640" y="1965960"/>
            <a:ext cx="5577840" cy="274320"/>
          </a:xfrm>
          <a:prstGeom prst="rect">
            <a:avLst/>
          </a:prstGeom>
          <a:noFill/>
          <a:ln/>
        </p:spPr>
        <p:txBody>
          <a:bodyPr wrap="square" lIns="0" tIns="0" rIns="0" bIns="0" rtlCol="0" anchor="ctr"/>
          <a:lstStyle/>
          <a:p>
            <a:pPr marL="0" indent="0">
              <a:buNone/>
            </a:pPr>
            <a:r>
              <a:rPr lang="en-US" sz="900" b="1" kern="0" spc="400" dirty="0">
                <a:solidFill>
                  <a:srgbClr val="B33C3C"/>
                </a:solidFill>
                <a:latin typeface="Aptos" pitchFamily="34" charset="0"/>
                <a:ea typeface="Aptos" pitchFamily="34" charset="-122"/>
                <a:cs typeface="Aptos" pitchFamily="34" charset="-120"/>
              </a:rPr>
              <a:t>PANEL B  ·  IDENTITY VERSUS RAW LABELS  (ARI)</a:t>
            </a:r>
            <a:endParaRPr lang="en-US" sz="900" dirty="0"/>
          </a:p>
        </p:txBody>
      </p:sp>
      <p:graphicFrame>
        <p:nvGraphicFramePr>
          <p:cNvPr id="12" name="Chart 1"/>
          <p:cNvGraphicFramePr/>
          <p:nvPr/>
        </p:nvGraphicFramePr>
        <p:xfrm>
          <a:off x="6263640" y="2286000"/>
          <a:ext cx="557784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 9"/>
          <p:cNvSpPr/>
          <p:nvPr/>
        </p:nvSpPr>
        <p:spPr>
          <a:xfrm>
            <a:off x="548640" y="5852160"/>
            <a:ext cx="11247120" cy="502920"/>
          </a:xfrm>
          <a:prstGeom prst="rect">
            <a:avLst/>
          </a:prstGeom>
          <a:solidFill>
            <a:srgbClr val="082F5B"/>
          </a:solidFill>
          <a:ln/>
        </p:spPr>
        <p:txBody>
          <a:bodyPr/>
          <a:lstStyle/>
          <a:p>
            <a:endParaRPr lang="en-GB"/>
          </a:p>
        </p:txBody>
      </p:sp>
      <p:sp>
        <p:nvSpPr>
          <p:cNvPr id="14" name="Text 10"/>
          <p:cNvSpPr/>
          <p:nvPr/>
        </p:nvSpPr>
        <p:spPr>
          <a:xfrm>
            <a:off x="777240" y="5852160"/>
            <a:ext cx="10972800" cy="502920"/>
          </a:xfrm>
          <a:prstGeom prst="rect">
            <a:avLst/>
          </a:prstGeom>
          <a:noFill/>
          <a:ln/>
        </p:spPr>
        <p:txBody>
          <a:bodyPr wrap="square" lIns="0" tIns="0" rIns="0" bIns="0" rtlCol="0" anchor="ctr"/>
          <a:lstStyle/>
          <a:p>
            <a:pPr marL="0" indent="0">
              <a:buNone/>
            </a:pPr>
            <a:r>
              <a:rPr lang="en-US" sz="1800" b="1" i="1" dirty="0">
                <a:solidFill>
                  <a:srgbClr val="FFFFFF"/>
                </a:solidFill>
                <a:latin typeface="Aptos Display" pitchFamily="34" charset="0"/>
                <a:ea typeface="Aptos Display" pitchFamily="34" charset="-122"/>
                <a:cs typeface="Aptos Display" pitchFamily="34" charset="-120"/>
              </a:rPr>
              <a:t>The clusters remained reproducible.  The patients changed.</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08  ·  CENTRAL RESULT</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CORRECTION REPLACED THE PHENOTYPE.</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Same space, reshuffled patients.</a:t>
            </a:r>
            <a:endParaRPr lang="en-US" sz="2800" dirty="0"/>
          </a:p>
        </p:txBody>
      </p:sp>
      <p:sp>
        <p:nvSpPr>
          <p:cNvPr id="9" name="Text 7"/>
          <p:cNvSpPr/>
          <p:nvPr/>
        </p:nvSpPr>
        <p:spPr>
          <a:xfrm>
            <a:off x="1828800" y="1783080"/>
            <a:ext cx="1463040" cy="274320"/>
          </a:xfrm>
          <a:prstGeom prst="rect">
            <a:avLst/>
          </a:prstGeom>
          <a:noFill/>
          <a:ln/>
        </p:spPr>
        <p:txBody>
          <a:bodyPr wrap="square" lIns="0" tIns="0" rIns="0" bIns="0" rtlCol="0" anchor="ctr"/>
          <a:lstStyle/>
          <a:p>
            <a:pPr marL="0" indent="0" algn="l">
              <a:buNone/>
            </a:pPr>
            <a:r>
              <a:rPr lang="en-US" sz="1000" b="1" kern="0" spc="400" dirty="0">
                <a:solidFill>
                  <a:srgbClr val="4E78A0"/>
                </a:solidFill>
                <a:latin typeface="Aptos" pitchFamily="34" charset="0"/>
                <a:ea typeface="Aptos" pitchFamily="34" charset="-122"/>
                <a:cs typeface="Aptos" pitchFamily="34" charset="-120"/>
              </a:rPr>
              <a:t>RAW</a:t>
            </a:r>
            <a:endParaRPr lang="en-US" sz="1000" dirty="0"/>
          </a:p>
        </p:txBody>
      </p:sp>
      <p:sp>
        <p:nvSpPr>
          <p:cNvPr id="10" name="Text 8"/>
          <p:cNvSpPr/>
          <p:nvPr/>
        </p:nvSpPr>
        <p:spPr>
          <a:xfrm>
            <a:off x="8046720" y="1783080"/>
            <a:ext cx="2743200" cy="274320"/>
          </a:xfrm>
          <a:prstGeom prst="rect">
            <a:avLst/>
          </a:prstGeom>
          <a:noFill/>
          <a:ln/>
        </p:spPr>
        <p:txBody>
          <a:bodyPr wrap="square" lIns="0" tIns="0" rIns="0" bIns="0" rtlCol="0" anchor="ctr"/>
          <a:lstStyle/>
          <a:p>
            <a:pPr marL="0" indent="0" algn="r">
              <a:buNone/>
            </a:pPr>
            <a:r>
              <a:rPr lang="en-US" sz="1000" b="1" kern="0" spc="400" dirty="0">
                <a:solidFill>
                  <a:srgbClr val="2E8FA8"/>
                </a:solidFill>
                <a:latin typeface="Aptos" pitchFamily="34" charset="0"/>
                <a:ea typeface="Aptos" pitchFamily="34" charset="-122"/>
                <a:cs typeface="Aptos" pitchFamily="34" charset="-120"/>
              </a:rPr>
              <a:t>POST-HARMONIZATION</a:t>
            </a:r>
            <a:endParaRPr lang="en-US" sz="1000" dirty="0"/>
          </a:p>
        </p:txBody>
      </p:sp>
      <p:sp>
        <p:nvSpPr>
          <p:cNvPr id="11" name="Shape 9"/>
          <p:cNvSpPr/>
          <p:nvPr/>
        </p:nvSpPr>
        <p:spPr>
          <a:xfrm>
            <a:off x="2377440" y="2286000"/>
            <a:ext cx="384048" cy="2005035"/>
          </a:xfrm>
          <a:prstGeom prst="rect">
            <a:avLst/>
          </a:prstGeom>
          <a:solidFill>
            <a:srgbClr val="0B4F94"/>
          </a:solidFill>
          <a:ln/>
        </p:spPr>
        <p:txBody>
          <a:bodyPr/>
          <a:lstStyle/>
          <a:p>
            <a:endParaRPr lang="en-GB"/>
          </a:p>
        </p:txBody>
      </p:sp>
      <p:sp>
        <p:nvSpPr>
          <p:cNvPr id="12" name="Shape 10"/>
          <p:cNvSpPr/>
          <p:nvPr/>
        </p:nvSpPr>
        <p:spPr>
          <a:xfrm>
            <a:off x="2377440" y="4364187"/>
            <a:ext cx="384048" cy="1149645"/>
          </a:xfrm>
          <a:prstGeom prst="rect">
            <a:avLst/>
          </a:prstGeom>
          <a:solidFill>
            <a:srgbClr val="4E78A0"/>
          </a:solidFill>
          <a:ln/>
        </p:spPr>
        <p:txBody>
          <a:bodyPr/>
          <a:lstStyle/>
          <a:p>
            <a:endParaRPr lang="en-GB"/>
          </a:p>
        </p:txBody>
      </p:sp>
      <p:sp>
        <p:nvSpPr>
          <p:cNvPr id="13" name="Text 11"/>
          <p:cNvSpPr/>
          <p:nvPr/>
        </p:nvSpPr>
        <p:spPr>
          <a:xfrm>
            <a:off x="731520" y="2995910"/>
            <a:ext cx="1463040" cy="292608"/>
          </a:xfrm>
          <a:prstGeom prst="rect">
            <a:avLst/>
          </a:prstGeom>
          <a:noFill/>
          <a:ln/>
        </p:spPr>
        <p:txBody>
          <a:bodyPr wrap="square" lIns="0" tIns="0" rIns="0" bIns="0" rtlCol="0" anchor="b"/>
          <a:lstStyle/>
          <a:p>
            <a:pPr marL="0" indent="0" algn="r">
              <a:buNone/>
            </a:pPr>
            <a:r>
              <a:rPr lang="en-US" sz="1300" b="1" dirty="0">
                <a:solidFill>
                  <a:srgbClr val="1A2330"/>
                </a:solidFill>
                <a:latin typeface="Aptos Display" pitchFamily="34" charset="0"/>
                <a:ea typeface="Aptos Display" pitchFamily="34" charset="-122"/>
                <a:cs typeface="Aptos Display" pitchFamily="34" charset="-120"/>
              </a:rPr>
              <a:t>Cluster 0</a:t>
            </a:r>
            <a:endParaRPr lang="en-US" sz="1300" dirty="0"/>
          </a:p>
        </p:txBody>
      </p:sp>
      <p:sp>
        <p:nvSpPr>
          <p:cNvPr id="14" name="Text 12"/>
          <p:cNvSpPr/>
          <p:nvPr/>
        </p:nvSpPr>
        <p:spPr>
          <a:xfrm>
            <a:off x="731520" y="3288518"/>
            <a:ext cx="1463040" cy="256032"/>
          </a:xfrm>
          <a:prstGeom prst="rect">
            <a:avLst/>
          </a:prstGeom>
          <a:noFill/>
          <a:ln/>
        </p:spPr>
        <p:txBody>
          <a:bodyPr wrap="square" lIns="0" tIns="0" rIns="0" bIns="0" rtlCol="0" anchor="t"/>
          <a:lstStyle/>
          <a:p>
            <a:pPr marL="0" indent="0" algn="r">
              <a:buNone/>
            </a:pPr>
            <a:r>
              <a:rPr lang="en-US" sz="1100" dirty="0">
                <a:solidFill>
                  <a:srgbClr val="4E78A0"/>
                </a:solidFill>
                <a:latin typeface="Aptos" pitchFamily="34" charset="0"/>
                <a:ea typeface="Aptos" pitchFamily="34" charset="-122"/>
                <a:cs typeface="Aptos" pitchFamily="34" charset="-120"/>
              </a:rPr>
              <a:t>n = 586</a:t>
            </a:r>
            <a:endParaRPr lang="en-US" sz="1100" dirty="0"/>
          </a:p>
        </p:txBody>
      </p:sp>
      <p:sp>
        <p:nvSpPr>
          <p:cNvPr id="15" name="Text 13"/>
          <p:cNvSpPr/>
          <p:nvPr/>
        </p:nvSpPr>
        <p:spPr>
          <a:xfrm>
            <a:off x="731520" y="4646402"/>
            <a:ext cx="1463040" cy="292608"/>
          </a:xfrm>
          <a:prstGeom prst="rect">
            <a:avLst/>
          </a:prstGeom>
          <a:noFill/>
          <a:ln/>
        </p:spPr>
        <p:txBody>
          <a:bodyPr wrap="square" lIns="0" tIns="0" rIns="0" bIns="0" rtlCol="0" anchor="b"/>
          <a:lstStyle/>
          <a:p>
            <a:pPr marL="0" indent="0" algn="r">
              <a:buNone/>
            </a:pPr>
            <a:r>
              <a:rPr lang="en-US" sz="1300" b="1" dirty="0">
                <a:solidFill>
                  <a:srgbClr val="1A2330"/>
                </a:solidFill>
                <a:latin typeface="Aptos Display" pitchFamily="34" charset="0"/>
                <a:ea typeface="Aptos Display" pitchFamily="34" charset="-122"/>
                <a:cs typeface="Aptos Display" pitchFamily="34" charset="-120"/>
              </a:rPr>
              <a:t>Cluster 1</a:t>
            </a:r>
            <a:endParaRPr lang="en-US" sz="1300" dirty="0"/>
          </a:p>
        </p:txBody>
      </p:sp>
      <p:sp>
        <p:nvSpPr>
          <p:cNvPr id="16" name="Text 14"/>
          <p:cNvSpPr/>
          <p:nvPr/>
        </p:nvSpPr>
        <p:spPr>
          <a:xfrm>
            <a:off x="731520" y="4939010"/>
            <a:ext cx="1463040" cy="256032"/>
          </a:xfrm>
          <a:prstGeom prst="rect">
            <a:avLst/>
          </a:prstGeom>
          <a:noFill/>
          <a:ln/>
        </p:spPr>
        <p:txBody>
          <a:bodyPr wrap="square" lIns="0" tIns="0" rIns="0" bIns="0" rtlCol="0" anchor="t"/>
          <a:lstStyle/>
          <a:p>
            <a:pPr marL="0" indent="0" algn="r">
              <a:buNone/>
            </a:pPr>
            <a:r>
              <a:rPr lang="en-US" sz="1100" dirty="0">
                <a:solidFill>
                  <a:srgbClr val="4E78A0"/>
                </a:solidFill>
                <a:latin typeface="Aptos" pitchFamily="34" charset="0"/>
                <a:ea typeface="Aptos" pitchFamily="34" charset="-122"/>
                <a:cs typeface="Aptos" pitchFamily="34" charset="-120"/>
              </a:rPr>
              <a:t>n = 336</a:t>
            </a:r>
            <a:endParaRPr lang="en-US" sz="1100" dirty="0"/>
          </a:p>
        </p:txBody>
      </p:sp>
      <p:sp>
        <p:nvSpPr>
          <p:cNvPr id="17" name="Shape 15"/>
          <p:cNvSpPr/>
          <p:nvPr/>
        </p:nvSpPr>
        <p:spPr>
          <a:xfrm>
            <a:off x="9144000" y="2286000"/>
            <a:ext cx="384048" cy="1642350"/>
          </a:xfrm>
          <a:prstGeom prst="rect">
            <a:avLst/>
          </a:prstGeom>
          <a:solidFill>
            <a:srgbClr val="2E8FA8"/>
          </a:solidFill>
          <a:ln/>
        </p:spPr>
        <p:txBody>
          <a:bodyPr/>
          <a:lstStyle/>
          <a:p>
            <a:endParaRPr lang="en-GB"/>
          </a:p>
        </p:txBody>
      </p:sp>
      <p:sp>
        <p:nvSpPr>
          <p:cNvPr id="18" name="Shape 16"/>
          <p:cNvSpPr/>
          <p:nvPr/>
        </p:nvSpPr>
        <p:spPr>
          <a:xfrm>
            <a:off x="9144000" y="4001502"/>
            <a:ext cx="384048" cy="1512330"/>
          </a:xfrm>
          <a:prstGeom prst="rect">
            <a:avLst/>
          </a:prstGeom>
          <a:solidFill>
            <a:srgbClr val="2E8FA8">
              <a:alpha val="60000"/>
            </a:srgbClr>
          </a:solidFill>
          <a:ln/>
        </p:spPr>
        <p:txBody>
          <a:bodyPr/>
          <a:lstStyle/>
          <a:p>
            <a:endParaRPr lang="en-GB"/>
          </a:p>
        </p:txBody>
      </p:sp>
      <p:sp>
        <p:nvSpPr>
          <p:cNvPr id="19" name="Text 17"/>
          <p:cNvSpPr/>
          <p:nvPr/>
        </p:nvSpPr>
        <p:spPr>
          <a:xfrm>
            <a:off x="9710928" y="2814567"/>
            <a:ext cx="1737360" cy="292608"/>
          </a:xfrm>
          <a:prstGeom prst="rect">
            <a:avLst/>
          </a:prstGeom>
          <a:noFill/>
          <a:ln/>
        </p:spPr>
        <p:txBody>
          <a:bodyPr wrap="square" lIns="0" tIns="0" rIns="0" bIns="0" rtlCol="0" anchor="b"/>
          <a:lstStyle/>
          <a:p>
            <a:pPr marL="0" indent="0" algn="l">
              <a:buNone/>
            </a:pPr>
            <a:r>
              <a:rPr lang="en-US" sz="1300" b="1" dirty="0">
                <a:solidFill>
                  <a:srgbClr val="1A2330"/>
                </a:solidFill>
                <a:latin typeface="Aptos Display" pitchFamily="34" charset="0"/>
                <a:ea typeface="Aptos Display" pitchFamily="34" charset="-122"/>
                <a:cs typeface="Aptos Display" pitchFamily="34" charset="-120"/>
              </a:rPr>
              <a:t>Post-cluster 0</a:t>
            </a:r>
            <a:endParaRPr lang="en-US" sz="1300" dirty="0"/>
          </a:p>
        </p:txBody>
      </p:sp>
      <p:sp>
        <p:nvSpPr>
          <p:cNvPr id="20" name="Text 18"/>
          <p:cNvSpPr/>
          <p:nvPr/>
        </p:nvSpPr>
        <p:spPr>
          <a:xfrm>
            <a:off x="9710928" y="3107175"/>
            <a:ext cx="1737360" cy="256032"/>
          </a:xfrm>
          <a:prstGeom prst="rect">
            <a:avLst/>
          </a:prstGeom>
          <a:noFill/>
          <a:ln/>
        </p:spPr>
        <p:txBody>
          <a:bodyPr wrap="square" lIns="0" tIns="0" rIns="0" bIns="0" rtlCol="0" anchor="t"/>
          <a:lstStyle/>
          <a:p>
            <a:pPr marL="0" indent="0" algn="l">
              <a:buNone/>
            </a:pPr>
            <a:r>
              <a:rPr lang="en-US" sz="1100" dirty="0">
                <a:solidFill>
                  <a:srgbClr val="4E78A0"/>
                </a:solidFill>
                <a:latin typeface="Aptos" pitchFamily="34" charset="0"/>
                <a:ea typeface="Aptos" pitchFamily="34" charset="-122"/>
                <a:cs typeface="Aptos" pitchFamily="34" charset="-120"/>
              </a:rPr>
              <a:t>n ≈ 480</a:t>
            </a:r>
            <a:endParaRPr lang="en-US" sz="1100" dirty="0"/>
          </a:p>
        </p:txBody>
      </p:sp>
      <p:sp>
        <p:nvSpPr>
          <p:cNvPr id="21" name="Text 19"/>
          <p:cNvSpPr/>
          <p:nvPr/>
        </p:nvSpPr>
        <p:spPr>
          <a:xfrm>
            <a:off x="9710928" y="4465059"/>
            <a:ext cx="1737360" cy="292608"/>
          </a:xfrm>
          <a:prstGeom prst="rect">
            <a:avLst/>
          </a:prstGeom>
          <a:noFill/>
          <a:ln/>
        </p:spPr>
        <p:txBody>
          <a:bodyPr wrap="square" lIns="0" tIns="0" rIns="0" bIns="0" rtlCol="0" anchor="b"/>
          <a:lstStyle/>
          <a:p>
            <a:pPr marL="0" indent="0" algn="l">
              <a:buNone/>
            </a:pPr>
            <a:r>
              <a:rPr lang="en-US" sz="1300" b="1" dirty="0">
                <a:solidFill>
                  <a:srgbClr val="1A2330"/>
                </a:solidFill>
                <a:latin typeface="Aptos Display" pitchFamily="34" charset="0"/>
                <a:ea typeface="Aptos Display" pitchFamily="34" charset="-122"/>
                <a:cs typeface="Aptos Display" pitchFamily="34" charset="-120"/>
              </a:rPr>
              <a:t>Post-cluster 1</a:t>
            </a:r>
            <a:endParaRPr lang="en-US" sz="1300" dirty="0"/>
          </a:p>
        </p:txBody>
      </p:sp>
      <p:sp>
        <p:nvSpPr>
          <p:cNvPr id="22" name="Text 20"/>
          <p:cNvSpPr/>
          <p:nvPr/>
        </p:nvSpPr>
        <p:spPr>
          <a:xfrm>
            <a:off x="9710928" y="4757667"/>
            <a:ext cx="1737360" cy="256032"/>
          </a:xfrm>
          <a:prstGeom prst="rect">
            <a:avLst/>
          </a:prstGeom>
          <a:noFill/>
          <a:ln/>
        </p:spPr>
        <p:txBody>
          <a:bodyPr wrap="square" lIns="0" tIns="0" rIns="0" bIns="0" rtlCol="0" anchor="t"/>
          <a:lstStyle/>
          <a:p>
            <a:pPr marL="0" indent="0" algn="l">
              <a:buNone/>
            </a:pPr>
            <a:r>
              <a:rPr lang="en-US" sz="1100" dirty="0">
                <a:solidFill>
                  <a:srgbClr val="4E78A0"/>
                </a:solidFill>
                <a:latin typeface="Aptos" pitchFamily="34" charset="0"/>
                <a:ea typeface="Aptos" pitchFamily="34" charset="-122"/>
                <a:cs typeface="Aptos" pitchFamily="34" charset="-120"/>
              </a:rPr>
              <a:t>n ≈ 442</a:t>
            </a:r>
            <a:endParaRPr lang="en-US" sz="1100" dirty="0"/>
          </a:p>
        </p:txBody>
      </p:sp>
      <p:sp>
        <p:nvSpPr>
          <p:cNvPr id="23" name="Shape 21"/>
          <p:cNvSpPr/>
          <p:nvPr/>
        </p:nvSpPr>
        <p:spPr>
          <a:xfrm>
            <a:off x="2761488" y="2286000"/>
            <a:ext cx="816102" cy="1043576"/>
          </a:xfrm>
          <a:prstGeom prst="rect">
            <a:avLst/>
          </a:prstGeom>
          <a:solidFill>
            <a:srgbClr val="0B4F94">
              <a:alpha val="40000"/>
            </a:srgbClr>
          </a:solidFill>
          <a:ln/>
        </p:spPr>
        <p:txBody>
          <a:bodyPr/>
          <a:lstStyle/>
          <a:p>
            <a:endParaRPr lang="en-GB"/>
          </a:p>
        </p:txBody>
      </p:sp>
      <p:sp>
        <p:nvSpPr>
          <p:cNvPr id="24" name="Shape 22"/>
          <p:cNvSpPr/>
          <p:nvPr/>
        </p:nvSpPr>
        <p:spPr>
          <a:xfrm>
            <a:off x="3559302" y="2286000"/>
            <a:ext cx="816102" cy="1043576"/>
          </a:xfrm>
          <a:prstGeom prst="rect">
            <a:avLst/>
          </a:prstGeom>
          <a:solidFill>
            <a:srgbClr val="0B4F94">
              <a:alpha val="40000"/>
            </a:srgbClr>
          </a:solidFill>
          <a:ln/>
        </p:spPr>
        <p:txBody>
          <a:bodyPr/>
          <a:lstStyle/>
          <a:p>
            <a:endParaRPr lang="en-GB"/>
          </a:p>
        </p:txBody>
      </p:sp>
      <p:sp>
        <p:nvSpPr>
          <p:cNvPr id="25" name="Shape 23"/>
          <p:cNvSpPr/>
          <p:nvPr/>
        </p:nvSpPr>
        <p:spPr>
          <a:xfrm>
            <a:off x="4357116" y="2286000"/>
            <a:ext cx="816102" cy="1043576"/>
          </a:xfrm>
          <a:prstGeom prst="rect">
            <a:avLst/>
          </a:prstGeom>
          <a:solidFill>
            <a:srgbClr val="0B4F94">
              <a:alpha val="40000"/>
            </a:srgbClr>
          </a:solidFill>
          <a:ln/>
        </p:spPr>
        <p:txBody>
          <a:bodyPr/>
          <a:lstStyle/>
          <a:p>
            <a:endParaRPr lang="en-GB"/>
          </a:p>
        </p:txBody>
      </p:sp>
      <p:sp>
        <p:nvSpPr>
          <p:cNvPr id="26" name="Shape 24"/>
          <p:cNvSpPr/>
          <p:nvPr/>
        </p:nvSpPr>
        <p:spPr>
          <a:xfrm>
            <a:off x="5154930" y="2286000"/>
            <a:ext cx="816102" cy="1043576"/>
          </a:xfrm>
          <a:prstGeom prst="rect">
            <a:avLst/>
          </a:prstGeom>
          <a:solidFill>
            <a:srgbClr val="0B4F94">
              <a:alpha val="40000"/>
            </a:srgbClr>
          </a:solidFill>
          <a:ln/>
        </p:spPr>
        <p:txBody>
          <a:bodyPr/>
          <a:lstStyle/>
          <a:p>
            <a:endParaRPr lang="en-GB"/>
          </a:p>
        </p:txBody>
      </p:sp>
      <p:sp>
        <p:nvSpPr>
          <p:cNvPr id="27" name="Shape 25"/>
          <p:cNvSpPr/>
          <p:nvPr/>
        </p:nvSpPr>
        <p:spPr>
          <a:xfrm>
            <a:off x="5952744" y="2286000"/>
            <a:ext cx="816102" cy="1043576"/>
          </a:xfrm>
          <a:prstGeom prst="rect">
            <a:avLst/>
          </a:prstGeom>
          <a:solidFill>
            <a:srgbClr val="0B4F94">
              <a:alpha val="40000"/>
            </a:srgbClr>
          </a:solidFill>
          <a:ln/>
        </p:spPr>
        <p:txBody>
          <a:bodyPr/>
          <a:lstStyle/>
          <a:p>
            <a:endParaRPr lang="en-GB"/>
          </a:p>
        </p:txBody>
      </p:sp>
      <p:sp>
        <p:nvSpPr>
          <p:cNvPr id="28" name="Shape 26"/>
          <p:cNvSpPr/>
          <p:nvPr/>
        </p:nvSpPr>
        <p:spPr>
          <a:xfrm>
            <a:off x="6750558" y="2286000"/>
            <a:ext cx="816102" cy="1043576"/>
          </a:xfrm>
          <a:prstGeom prst="rect">
            <a:avLst/>
          </a:prstGeom>
          <a:solidFill>
            <a:srgbClr val="0B4F94">
              <a:alpha val="40000"/>
            </a:srgbClr>
          </a:solidFill>
          <a:ln/>
        </p:spPr>
        <p:txBody>
          <a:bodyPr/>
          <a:lstStyle/>
          <a:p>
            <a:endParaRPr lang="en-GB"/>
          </a:p>
        </p:txBody>
      </p:sp>
      <p:sp>
        <p:nvSpPr>
          <p:cNvPr id="29" name="Shape 27"/>
          <p:cNvSpPr/>
          <p:nvPr/>
        </p:nvSpPr>
        <p:spPr>
          <a:xfrm>
            <a:off x="7548372" y="2286000"/>
            <a:ext cx="816102" cy="1043576"/>
          </a:xfrm>
          <a:prstGeom prst="rect">
            <a:avLst/>
          </a:prstGeom>
          <a:solidFill>
            <a:srgbClr val="0B4F94">
              <a:alpha val="40000"/>
            </a:srgbClr>
          </a:solidFill>
          <a:ln/>
        </p:spPr>
        <p:txBody>
          <a:bodyPr/>
          <a:lstStyle/>
          <a:p>
            <a:endParaRPr lang="en-GB"/>
          </a:p>
        </p:txBody>
      </p:sp>
      <p:sp>
        <p:nvSpPr>
          <p:cNvPr id="30" name="Shape 28"/>
          <p:cNvSpPr/>
          <p:nvPr/>
        </p:nvSpPr>
        <p:spPr>
          <a:xfrm>
            <a:off x="8346186" y="2286000"/>
            <a:ext cx="816102" cy="1043576"/>
          </a:xfrm>
          <a:prstGeom prst="rect">
            <a:avLst/>
          </a:prstGeom>
          <a:solidFill>
            <a:srgbClr val="0B4F94">
              <a:alpha val="40000"/>
            </a:srgbClr>
          </a:solidFill>
          <a:ln/>
        </p:spPr>
        <p:txBody>
          <a:bodyPr/>
          <a:lstStyle/>
          <a:p>
            <a:endParaRPr lang="en-GB"/>
          </a:p>
        </p:txBody>
      </p:sp>
      <p:sp>
        <p:nvSpPr>
          <p:cNvPr id="31" name="Shape 29"/>
          <p:cNvSpPr/>
          <p:nvPr/>
        </p:nvSpPr>
        <p:spPr>
          <a:xfrm>
            <a:off x="2761488" y="3371572"/>
            <a:ext cx="816102" cy="961459"/>
          </a:xfrm>
          <a:prstGeom prst="rect">
            <a:avLst/>
          </a:prstGeom>
          <a:solidFill>
            <a:srgbClr val="0B4F94">
              <a:alpha val="25000"/>
            </a:srgbClr>
          </a:solidFill>
          <a:ln/>
        </p:spPr>
        <p:txBody>
          <a:bodyPr/>
          <a:lstStyle/>
          <a:p>
            <a:endParaRPr lang="en-GB"/>
          </a:p>
        </p:txBody>
      </p:sp>
      <p:sp>
        <p:nvSpPr>
          <p:cNvPr id="32" name="Shape 30"/>
          <p:cNvSpPr/>
          <p:nvPr/>
        </p:nvSpPr>
        <p:spPr>
          <a:xfrm>
            <a:off x="3559302" y="3455562"/>
            <a:ext cx="816102" cy="961459"/>
          </a:xfrm>
          <a:prstGeom prst="rect">
            <a:avLst/>
          </a:prstGeom>
          <a:solidFill>
            <a:srgbClr val="0B4F94">
              <a:alpha val="25000"/>
            </a:srgbClr>
          </a:solidFill>
          <a:ln/>
        </p:spPr>
        <p:txBody>
          <a:bodyPr/>
          <a:lstStyle/>
          <a:p>
            <a:endParaRPr lang="en-GB"/>
          </a:p>
        </p:txBody>
      </p:sp>
      <p:sp>
        <p:nvSpPr>
          <p:cNvPr id="33" name="Shape 31"/>
          <p:cNvSpPr/>
          <p:nvPr/>
        </p:nvSpPr>
        <p:spPr>
          <a:xfrm>
            <a:off x="4357116" y="3539553"/>
            <a:ext cx="816102" cy="961459"/>
          </a:xfrm>
          <a:prstGeom prst="rect">
            <a:avLst/>
          </a:prstGeom>
          <a:solidFill>
            <a:srgbClr val="0B4F94">
              <a:alpha val="25000"/>
            </a:srgbClr>
          </a:solidFill>
          <a:ln/>
        </p:spPr>
        <p:txBody>
          <a:bodyPr/>
          <a:lstStyle/>
          <a:p>
            <a:endParaRPr lang="en-GB"/>
          </a:p>
        </p:txBody>
      </p:sp>
      <p:sp>
        <p:nvSpPr>
          <p:cNvPr id="34" name="Shape 32"/>
          <p:cNvSpPr/>
          <p:nvPr/>
        </p:nvSpPr>
        <p:spPr>
          <a:xfrm>
            <a:off x="5154930" y="3623544"/>
            <a:ext cx="816102" cy="961459"/>
          </a:xfrm>
          <a:prstGeom prst="rect">
            <a:avLst/>
          </a:prstGeom>
          <a:solidFill>
            <a:srgbClr val="0B4F94">
              <a:alpha val="25000"/>
            </a:srgbClr>
          </a:solidFill>
          <a:ln/>
        </p:spPr>
        <p:txBody>
          <a:bodyPr/>
          <a:lstStyle/>
          <a:p>
            <a:endParaRPr lang="en-GB"/>
          </a:p>
        </p:txBody>
      </p:sp>
      <p:sp>
        <p:nvSpPr>
          <p:cNvPr id="35" name="Shape 33"/>
          <p:cNvSpPr/>
          <p:nvPr/>
        </p:nvSpPr>
        <p:spPr>
          <a:xfrm>
            <a:off x="5952744" y="3707534"/>
            <a:ext cx="816102" cy="961459"/>
          </a:xfrm>
          <a:prstGeom prst="rect">
            <a:avLst/>
          </a:prstGeom>
          <a:solidFill>
            <a:srgbClr val="0B4F94">
              <a:alpha val="25000"/>
            </a:srgbClr>
          </a:solidFill>
          <a:ln/>
        </p:spPr>
        <p:txBody>
          <a:bodyPr/>
          <a:lstStyle/>
          <a:p>
            <a:endParaRPr lang="en-GB"/>
          </a:p>
        </p:txBody>
      </p:sp>
      <p:sp>
        <p:nvSpPr>
          <p:cNvPr id="36" name="Shape 34"/>
          <p:cNvSpPr/>
          <p:nvPr/>
        </p:nvSpPr>
        <p:spPr>
          <a:xfrm>
            <a:off x="6750558" y="3791525"/>
            <a:ext cx="816102" cy="961459"/>
          </a:xfrm>
          <a:prstGeom prst="rect">
            <a:avLst/>
          </a:prstGeom>
          <a:solidFill>
            <a:srgbClr val="0B4F94">
              <a:alpha val="25000"/>
            </a:srgbClr>
          </a:solidFill>
          <a:ln/>
        </p:spPr>
        <p:txBody>
          <a:bodyPr/>
          <a:lstStyle/>
          <a:p>
            <a:endParaRPr lang="en-GB"/>
          </a:p>
        </p:txBody>
      </p:sp>
      <p:sp>
        <p:nvSpPr>
          <p:cNvPr id="37" name="Shape 35"/>
          <p:cNvSpPr/>
          <p:nvPr/>
        </p:nvSpPr>
        <p:spPr>
          <a:xfrm>
            <a:off x="7548372" y="3875516"/>
            <a:ext cx="816102" cy="961459"/>
          </a:xfrm>
          <a:prstGeom prst="rect">
            <a:avLst/>
          </a:prstGeom>
          <a:solidFill>
            <a:srgbClr val="0B4F94">
              <a:alpha val="25000"/>
            </a:srgbClr>
          </a:solidFill>
          <a:ln/>
        </p:spPr>
        <p:txBody>
          <a:bodyPr/>
          <a:lstStyle/>
          <a:p>
            <a:endParaRPr lang="en-GB"/>
          </a:p>
        </p:txBody>
      </p:sp>
      <p:sp>
        <p:nvSpPr>
          <p:cNvPr id="38" name="Shape 36"/>
          <p:cNvSpPr/>
          <p:nvPr/>
        </p:nvSpPr>
        <p:spPr>
          <a:xfrm>
            <a:off x="8346186" y="3959506"/>
            <a:ext cx="816102" cy="961459"/>
          </a:xfrm>
          <a:prstGeom prst="rect">
            <a:avLst/>
          </a:prstGeom>
          <a:solidFill>
            <a:srgbClr val="0B4F94">
              <a:alpha val="25000"/>
            </a:srgbClr>
          </a:solidFill>
          <a:ln/>
        </p:spPr>
        <p:txBody>
          <a:bodyPr/>
          <a:lstStyle/>
          <a:p>
            <a:endParaRPr lang="en-GB"/>
          </a:p>
        </p:txBody>
      </p:sp>
      <p:sp>
        <p:nvSpPr>
          <p:cNvPr id="39" name="Shape 37"/>
          <p:cNvSpPr/>
          <p:nvPr/>
        </p:nvSpPr>
        <p:spPr>
          <a:xfrm>
            <a:off x="2761488" y="4299524"/>
            <a:ext cx="816102" cy="598773"/>
          </a:xfrm>
          <a:prstGeom prst="rect">
            <a:avLst/>
          </a:prstGeom>
          <a:solidFill>
            <a:srgbClr val="4E78A0">
              <a:alpha val="40000"/>
            </a:srgbClr>
          </a:solidFill>
          <a:ln/>
        </p:spPr>
        <p:txBody>
          <a:bodyPr/>
          <a:lstStyle/>
          <a:p>
            <a:endParaRPr lang="en-GB"/>
          </a:p>
        </p:txBody>
      </p:sp>
      <p:sp>
        <p:nvSpPr>
          <p:cNvPr id="40" name="Shape 38"/>
          <p:cNvSpPr/>
          <p:nvPr/>
        </p:nvSpPr>
        <p:spPr>
          <a:xfrm>
            <a:off x="3559302" y="4170198"/>
            <a:ext cx="816102" cy="598773"/>
          </a:xfrm>
          <a:prstGeom prst="rect">
            <a:avLst/>
          </a:prstGeom>
          <a:solidFill>
            <a:srgbClr val="4E78A0">
              <a:alpha val="40000"/>
            </a:srgbClr>
          </a:solidFill>
          <a:ln/>
        </p:spPr>
        <p:txBody>
          <a:bodyPr/>
          <a:lstStyle/>
          <a:p>
            <a:endParaRPr lang="en-GB"/>
          </a:p>
        </p:txBody>
      </p:sp>
      <p:sp>
        <p:nvSpPr>
          <p:cNvPr id="41" name="Shape 39"/>
          <p:cNvSpPr/>
          <p:nvPr/>
        </p:nvSpPr>
        <p:spPr>
          <a:xfrm>
            <a:off x="4357116" y="4040871"/>
            <a:ext cx="816102" cy="598773"/>
          </a:xfrm>
          <a:prstGeom prst="rect">
            <a:avLst/>
          </a:prstGeom>
          <a:solidFill>
            <a:srgbClr val="4E78A0">
              <a:alpha val="40000"/>
            </a:srgbClr>
          </a:solidFill>
          <a:ln/>
        </p:spPr>
        <p:txBody>
          <a:bodyPr/>
          <a:lstStyle/>
          <a:p>
            <a:endParaRPr lang="en-GB"/>
          </a:p>
        </p:txBody>
      </p:sp>
      <p:sp>
        <p:nvSpPr>
          <p:cNvPr id="42" name="Shape 40"/>
          <p:cNvSpPr/>
          <p:nvPr/>
        </p:nvSpPr>
        <p:spPr>
          <a:xfrm>
            <a:off x="5154930" y="3911545"/>
            <a:ext cx="816102" cy="598773"/>
          </a:xfrm>
          <a:prstGeom prst="rect">
            <a:avLst/>
          </a:prstGeom>
          <a:solidFill>
            <a:srgbClr val="4E78A0">
              <a:alpha val="40000"/>
            </a:srgbClr>
          </a:solidFill>
          <a:ln/>
        </p:spPr>
        <p:txBody>
          <a:bodyPr/>
          <a:lstStyle/>
          <a:p>
            <a:endParaRPr lang="en-GB"/>
          </a:p>
        </p:txBody>
      </p:sp>
      <p:sp>
        <p:nvSpPr>
          <p:cNvPr id="43" name="Shape 41"/>
          <p:cNvSpPr/>
          <p:nvPr/>
        </p:nvSpPr>
        <p:spPr>
          <a:xfrm>
            <a:off x="5952744" y="3782219"/>
            <a:ext cx="816102" cy="598773"/>
          </a:xfrm>
          <a:prstGeom prst="rect">
            <a:avLst/>
          </a:prstGeom>
          <a:solidFill>
            <a:srgbClr val="4E78A0">
              <a:alpha val="40000"/>
            </a:srgbClr>
          </a:solidFill>
          <a:ln/>
        </p:spPr>
        <p:txBody>
          <a:bodyPr/>
          <a:lstStyle/>
          <a:p>
            <a:endParaRPr lang="en-GB"/>
          </a:p>
        </p:txBody>
      </p:sp>
      <p:sp>
        <p:nvSpPr>
          <p:cNvPr id="44" name="Shape 42"/>
          <p:cNvSpPr/>
          <p:nvPr/>
        </p:nvSpPr>
        <p:spPr>
          <a:xfrm>
            <a:off x="6750558" y="3652892"/>
            <a:ext cx="816102" cy="598773"/>
          </a:xfrm>
          <a:prstGeom prst="rect">
            <a:avLst/>
          </a:prstGeom>
          <a:solidFill>
            <a:srgbClr val="4E78A0">
              <a:alpha val="40000"/>
            </a:srgbClr>
          </a:solidFill>
          <a:ln/>
        </p:spPr>
        <p:txBody>
          <a:bodyPr/>
          <a:lstStyle/>
          <a:p>
            <a:endParaRPr lang="en-GB"/>
          </a:p>
        </p:txBody>
      </p:sp>
      <p:sp>
        <p:nvSpPr>
          <p:cNvPr id="45" name="Shape 43"/>
          <p:cNvSpPr/>
          <p:nvPr/>
        </p:nvSpPr>
        <p:spPr>
          <a:xfrm>
            <a:off x="7548372" y="3523566"/>
            <a:ext cx="816102" cy="598773"/>
          </a:xfrm>
          <a:prstGeom prst="rect">
            <a:avLst/>
          </a:prstGeom>
          <a:solidFill>
            <a:srgbClr val="4E78A0">
              <a:alpha val="40000"/>
            </a:srgbClr>
          </a:solidFill>
          <a:ln/>
        </p:spPr>
        <p:txBody>
          <a:bodyPr/>
          <a:lstStyle/>
          <a:p>
            <a:endParaRPr lang="en-GB"/>
          </a:p>
        </p:txBody>
      </p:sp>
      <p:sp>
        <p:nvSpPr>
          <p:cNvPr id="46" name="Shape 44"/>
          <p:cNvSpPr/>
          <p:nvPr/>
        </p:nvSpPr>
        <p:spPr>
          <a:xfrm>
            <a:off x="8346186" y="3394240"/>
            <a:ext cx="816102" cy="598773"/>
          </a:xfrm>
          <a:prstGeom prst="rect">
            <a:avLst/>
          </a:prstGeom>
          <a:solidFill>
            <a:srgbClr val="4E78A0">
              <a:alpha val="40000"/>
            </a:srgbClr>
          </a:solidFill>
          <a:ln/>
        </p:spPr>
        <p:txBody>
          <a:bodyPr/>
          <a:lstStyle/>
          <a:p>
            <a:endParaRPr lang="en-GB"/>
          </a:p>
        </p:txBody>
      </p:sp>
      <p:sp>
        <p:nvSpPr>
          <p:cNvPr id="47" name="Shape 45"/>
          <p:cNvSpPr/>
          <p:nvPr/>
        </p:nvSpPr>
        <p:spPr>
          <a:xfrm>
            <a:off x="2761488" y="4962961"/>
            <a:ext cx="816102" cy="550871"/>
          </a:xfrm>
          <a:prstGeom prst="rect">
            <a:avLst/>
          </a:prstGeom>
          <a:solidFill>
            <a:srgbClr val="4E78A0">
              <a:alpha val="25000"/>
            </a:srgbClr>
          </a:solidFill>
          <a:ln/>
        </p:spPr>
        <p:txBody>
          <a:bodyPr/>
          <a:lstStyle/>
          <a:p>
            <a:endParaRPr lang="en-GB"/>
          </a:p>
        </p:txBody>
      </p:sp>
      <p:sp>
        <p:nvSpPr>
          <p:cNvPr id="48" name="Shape 46"/>
          <p:cNvSpPr/>
          <p:nvPr/>
        </p:nvSpPr>
        <p:spPr>
          <a:xfrm>
            <a:off x="3559302" y="4962961"/>
            <a:ext cx="816102" cy="550871"/>
          </a:xfrm>
          <a:prstGeom prst="rect">
            <a:avLst/>
          </a:prstGeom>
          <a:solidFill>
            <a:srgbClr val="4E78A0">
              <a:alpha val="25000"/>
            </a:srgbClr>
          </a:solidFill>
          <a:ln/>
        </p:spPr>
        <p:txBody>
          <a:bodyPr/>
          <a:lstStyle/>
          <a:p>
            <a:endParaRPr lang="en-GB"/>
          </a:p>
        </p:txBody>
      </p:sp>
      <p:sp>
        <p:nvSpPr>
          <p:cNvPr id="49" name="Shape 47"/>
          <p:cNvSpPr/>
          <p:nvPr/>
        </p:nvSpPr>
        <p:spPr>
          <a:xfrm>
            <a:off x="4357116" y="4962961"/>
            <a:ext cx="816102" cy="550871"/>
          </a:xfrm>
          <a:prstGeom prst="rect">
            <a:avLst/>
          </a:prstGeom>
          <a:solidFill>
            <a:srgbClr val="4E78A0">
              <a:alpha val="25000"/>
            </a:srgbClr>
          </a:solidFill>
          <a:ln/>
        </p:spPr>
        <p:txBody>
          <a:bodyPr/>
          <a:lstStyle/>
          <a:p>
            <a:endParaRPr lang="en-GB"/>
          </a:p>
        </p:txBody>
      </p:sp>
      <p:sp>
        <p:nvSpPr>
          <p:cNvPr id="50" name="Shape 48"/>
          <p:cNvSpPr/>
          <p:nvPr/>
        </p:nvSpPr>
        <p:spPr>
          <a:xfrm>
            <a:off x="5154930" y="4962961"/>
            <a:ext cx="816102" cy="550871"/>
          </a:xfrm>
          <a:prstGeom prst="rect">
            <a:avLst/>
          </a:prstGeom>
          <a:solidFill>
            <a:srgbClr val="4E78A0">
              <a:alpha val="25000"/>
            </a:srgbClr>
          </a:solidFill>
          <a:ln/>
        </p:spPr>
        <p:txBody>
          <a:bodyPr/>
          <a:lstStyle/>
          <a:p>
            <a:endParaRPr lang="en-GB"/>
          </a:p>
        </p:txBody>
      </p:sp>
      <p:sp>
        <p:nvSpPr>
          <p:cNvPr id="51" name="Shape 49"/>
          <p:cNvSpPr/>
          <p:nvPr/>
        </p:nvSpPr>
        <p:spPr>
          <a:xfrm>
            <a:off x="5952744" y="4962961"/>
            <a:ext cx="816102" cy="550871"/>
          </a:xfrm>
          <a:prstGeom prst="rect">
            <a:avLst/>
          </a:prstGeom>
          <a:solidFill>
            <a:srgbClr val="4E78A0">
              <a:alpha val="25000"/>
            </a:srgbClr>
          </a:solidFill>
          <a:ln/>
        </p:spPr>
        <p:txBody>
          <a:bodyPr/>
          <a:lstStyle/>
          <a:p>
            <a:endParaRPr lang="en-GB"/>
          </a:p>
        </p:txBody>
      </p:sp>
      <p:sp>
        <p:nvSpPr>
          <p:cNvPr id="52" name="Shape 50"/>
          <p:cNvSpPr/>
          <p:nvPr/>
        </p:nvSpPr>
        <p:spPr>
          <a:xfrm>
            <a:off x="6750558" y="4962961"/>
            <a:ext cx="816102" cy="550871"/>
          </a:xfrm>
          <a:prstGeom prst="rect">
            <a:avLst/>
          </a:prstGeom>
          <a:solidFill>
            <a:srgbClr val="4E78A0">
              <a:alpha val="25000"/>
            </a:srgbClr>
          </a:solidFill>
          <a:ln/>
        </p:spPr>
        <p:txBody>
          <a:bodyPr/>
          <a:lstStyle/>
          <a:p>
            <a:endParaRPr lang="en-GB"/>
          </a:p>
        </p:txBody>
      </p:sp>
      <p:sp>
        <p:nvSpPr>
          <p:cNvPr id="53" name="Shape 51"/>
          <p:cNvSpPr/>
          <p:nvPr/>
        </p:nvSpPr>
        <p:spPr>
          <a:xfrm>
            <a:off x="7548372" y="4962961"/>
            <a:ext cx="816102" cy="550871"/>
          </a:xfrm>
          <a:prstGeom prst="rect">
            <a:avLst/>
          </a:prstGeom>
          <a:solidFill>
            <a:srgbClr val="4E78A0">
              <a:alpha val="25000"/>
            </a:srgbClr>
          </a:solidFill>
          <a:ln/>
        </p:spPr>
        <p:txBody>
          <a:bodyPr/>
          <a:lstStyle/>
          <a:p>
            <a:endParaRPr lang="en-GB"/>
          </a:p>
        </p:txBody>
      </p:sp>
      <p:sp>
        <p:nvSpPr>
          <p:cNvPr id="54" name="Shape 52"/>
          <p:cNvSpPr/>
          <p:nvPr/>
        </p:nvSpPr>
        <p:spPr>
          <a:xfrm>
            <a:off x="8346186" y="4962961"/>
            <a:ext cx="816102" cy="550871"/>
          </a:xfrm>
          <a:prstGeom prst="rect">
            <a:avLst/>
          </a:prstGeom>
          <a:solidFill>
            <a:srgbClr val="4E78A0">
              <a:alpha val="25000"/>
            </a:srgbClr>
          </a:solidFill>
          <a:ln/>
        </p:spPr>
        <p:txBody>
          <a:bodyPr/>
          <a:lstStyle/>
          <a:p>
            <a:endParaRPr lang="en-GB"/>
          </a:p>
        </p:txBody>
      </p:sp>
      <p:sp>
        <p:nvSpPr>
          <p:cNvPr id="55" name="Shape 53"/>
          <p:cNvSpPr/>
          <p:nvPr/>
        </p:nvSpPr>
        <p:spPr>
          <a:xfrm>
            <a:off x="2377440" y="2286000"/>
            <a:ext cx="384048" cy="2005035"/>
          </a:xfrm>
          <a:prstGeom prst="rect">
            <a:avLst/>
          </a:prstGeom>
          <a:solidFill>
            <a:srgbClr val="0B4F94"/>
          </a:solidFill>
          <a:ln/>
        </p:spPr>
        <p:txBody>
          <a:bodyPr/>
          <a:lstStyle/>
          <a:p>
            <a:endParaRPr lang="en-GB"/>
          </a:p>
        </p:txBody>
      </p:sp>
      <p:sp>
        <p:nvSpPr>
          <p:cNvPr id="56" name="Shape 54"/>
          <p:cNvSpPr/>
          <p:nvPr/>
        </p:nvSpPr>
        <p:spPr>
          <a:xfrm>
            <a:off x="2377440" y="4364187"/>
            <a:ext cx="384048" cy="1149645"/>
          </a:xfrm>
          <a:prstGeom prst="rect">
            <a:avLst/>
          </a:prstGeom>
          <a:solidFill>
            <a:srgbClr val="4E78A0"/>
          </a:solidFill>
          <a:ln/>
        </p:spPr>
        <p:txBody>
          <a:bodyPr/>
          <a:lstStyle/>
          <a:p>
            <a:endParaRPr lang="en-GB"/>
          </a:p>
        </p:txBody>
      </p:sp>
      <p:sp>
        <p:nvSpPr>
          <p:cNvPr id="57" name="Shape 55"/>
          <p:cNvSpPr/>
          <p:nvPr/>
        </p:nvSpPr>
        <p:spPr>
          <a:xfrm>
            <a:off x="9144000" y="2286000"/>
            <a:ext cx="384048" cy="1642350"/>
          </a:xfrm>
          <a:prstGeom prst="rect">
            <a:avLst/>
          </a:prstGeom>
          <a:solidFill>
            <a:srgbClr val="2E8FA8"/>
          </a:solidFill>
          <a:ln/>
        </p:spPr>
        <p:txBody>
          <a:bodyPr/>
          <a:lstStyle/>
          <a:p>
            <a:endParaRPr lang="en-GB"/>
          </a:p>
        </p:txBody>
      </p:sp>
      <p:sp>
        <p:nvSpPr>
          <p:cNvPr id="58" name="Shape 56"/>
          <p:cNvSpPr/>
          <p:nvPr/>
        </p:nvSpPr>
        <p:spPr>
          <a:xfrm>
            <a:off x="9144000" y="4001502"/>
            <a:ext cx="384048" cy="1512330"/>
          </a:xfrm>
          <a:prstGeom prst="rect">
            <a:avLst/>
          </a:prstGeom>
          <a:solidFill>
            <a:srgbClr val="2E8FA8">
              <a:alpha val="60000"/>
            </a:srgbClr>
          </a:solidFill>
          <a:ln/>
        </p:spPr>
        <p:txBody>
          <a:bodyPr/>
          <a:lstStyle/>
          <a:p>
            <a:endParaRPr lang="en-GB"/>
          </a:p>
        </p:txBody>
      </p:sp>
      <p:sp>
        <p:nvSpPr>
          <p:cNvPr id="59" name="Shape 57"/>
          <p:cNvSpPr/>
          <p:nvPr/>
        </p:nvSpPr>
        <p:spPr>
          <a:xfrm>
            <a:off x="4023360" y="5715000"/>
            <a:ext cx="4114800" cy="502920"/>
          </a:xfrm>
          <a:prstGeom prst="rect">
            <a:avLst/>
          </a:prstGeom>
          <a:solidFill>
            <a:srgbClr val="000000"/>
          </a:solidFill>
          <a:ln w="15875">
            <a:solidFill>
              <a:srgbClr val="B33C3C"/>
            </a:solidFill>
            <a:prstDash val="solid"/>
          </a:ln>
        </p:spPr>
        <p:txBody>
          <a:bodyPr/>
          <a:lstStyle/>
          <a:p>
            <a:endParaRPr lang="en-GB"/>
          </a:p>
        </p:txBody>
      </p:sp>
      <p:sp>
        <p:nvSpPr>
          <p:cNvPr id="60" name="Text 58"/>
          <p:cNvSpPr/>
          <p:nvPr/>
        </p:nvSpPr>
        <p:spPr>
          <a:xfrm>
            <a:off x="4023360" y="5715000"/>
            <a:ext cx="4114800" cy="502920"/>
          </a:xfrm>
          <a:prstGeom prst="rect">
            <a:avLst/>
          </a:prstGeom>
          <a:noFill/>
          <a:ln/>
        </p:spPr>
        <p:txBody>
          <a:bodyPr wrap="square" lIns="0" tIns="0" rIns="0" bIns="0" rtlCol="0" anchor="ctr"/>
          <a:lstStyle/>
          <a:p>
            <a:pPr marL="0" indent="0" algn="ctr">
              <a:buNone/>
            </a:pPr>
            <a:r>
              <a:rPr lang="en-US" sz="1200" b="1" kern="0" spc="100" dirty="0">
                <a:solidFill>
                  <a:srgbClr val="4E78A0"/>
                </a:solidFill>
                <a:latin typeface="Aptos" pitchFamily="34" charset="0"/>
                <a:ea typeface="Aptos" pitchFamily="34" charset="-122"/>
                <a:cs typeface="Aptos" pitchFamily="34" charset="-120"/>
              </a:rPr>
              <a:t>ARI vs raw labels  </a:t>
            </a:r>
            <a:r>
              <a:rPr lang="en-US" sz="1800" b="1" dirty="0">
                <a:solidFill>
                  <a:srgbClr val="B33C3C"/>
                </a:solidFill>
                <a:latin typeface="Aptos Display" pitchFamily="34" charset="0"/>
                <a:ea typeface="Aptos Display" pitchFamily="34" charset="-122"/>
                <a:cs typeface="Aptos Display" pitchFamily="34" charset="-120"/>
              </a:rPr>
              <a:t>≈ 0.06</a:t>
            </a:r>
            <a:r>
              <a:rPr lang="en-US" sz="1100" i="1" dirty="0">
                <a:solidFill>
                  <a:srgbClr val="4E78A0"/>
                </a:solidFill>
                <a:latin typeface="Aptos" pitchFamily="34" charset="0"/>
                <a:ea typeface="Aptos" pitchFamily="34" charset="-122"/>
                <a:cs typeface="Aptos" pitchFamily="34" charset="-120"/>
              </a:rPr>
              <a:t>    near-random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0E3E25D-BC1D-F443-3918-D82E4CFE72D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A76950C-25DF-F12B-08FC-25A73927210E}"/>
              </a:ext>
            </a:extLst>
          </p:cNvPr>
          <p:cNvSpPr/>
          <p:nvPr/>
        </p:nvSpPr>
        <p:spPr>
          <a:xfrm>
            <a:off x="0" y="0"/>
            <a:ext cx="12191695" cy="64008"/>
          </a:xfrm>
          <a:prstGeom prst="rect">
            <a:avLst/>
          </a:prstGeom>
          <a:solidFill>
            <a:srgbClr val="082F5B"/>
          </a:solidFill>
          <a:ln/>
        </p:spPr>
        <p:txBody>
          <a:bodyPr/>
          <a:lstStyle/>
          <a:p>
            <a:endParaRPr lang="en-GB"/>
          </a:p>
        </p:txBody>
      </p:sp>
      <p:sp>
        <p:nvSpPr>
          <p:cNvPr id="3" name="Shape 1">
            <a:extLst>
              <a:ext uri="{FF2B5EF4-FFF2-40B4-BE49-F238E27FC236}">
                <a16:creationId xmlns:a16="http://schemas.microsoft.com/office/drawing/2014/main" id="{E03EECA4-34EB-082D-DCDA-B9AD19A04F6A}"/>
              </a:ext>
            </a:extLst>
          </p:cNvPr>
          <p:cNvSpPr/>
          <p:nvPr/>
        </p:nvSpPr>
        <p:spPr>
          <a:xfrm>
            <a:off x="548640" y="6473952"/>
            <a:ext cx="11094415" cy="10973"/>
          </a:xfrm>
          <a:prstGeom prst="rect">
            <a:avLst/>
          </a:prstGeom>
          <a:solidFill>
            <a:srgbClr val="C9D2DC"/>
          </a:solidFill>
          <a:ln/>
        </p:spPr>
        <p:txBody>
          <a:bodyPr/>
          <a:lstStyle/>
          <a:p>
            <a:endParaRPr lang="en-GB"/>
          </a:p>
        </p:txBody>
      </p:sp>
      <p:sp>
        <p:nvSpPr>
          <p:cNvPr id="4" name="Text 2">
            <a:extLst>
              <a:ext uri="{FF2B5EF4-FFF2-40B4-BE49-F238E27FC236}">
                <a16:creationId xmlns:a16="http://schemas.microsoft.com/office/drawing/2014/main" id="{553C1639-7165-346A-1D8A-E4BBE75BA4E6}"/>
              </a:ext>
            </a:extLst>
          </p:cNvPr>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08  ·  CENTRAL RESULT</a:t>
            </a:r>
            <a:endParaRPr lang="en-US" sz="900" dirty="0"/>
          </a:p>
        </p:txBody>
      </p:sp>
      <p:sp>
        <p:nvSpPr>
          <p:cNvPr id="5" name="Text 3">
            <a:extLst>
              <a:ext uri="{FF2B5EF4-FFF2-40B4-BE49-F238E27FC236}">
                <a16:creationId xmlns:a16="http://schemas.microsoft.com/office/drawing/2014/main" id="{4BC7F6BF-7C5B-2B10-4F5C-FF0CF22437B8}"/>
              </a:ext>
            </a:extLst>
          </p:cNvPr>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a:extLst>
              <a:ext uri="{FF2B5EF4-FFF2-40B4-BE49-F238E27FC236}">
                <a16:creationId xmlns:a16="http://schemas.microsoft.com/office/drawing/2014/main" id="{4106864D-39B0-5994-B40C-A7B52DD931AD}"/>
              </a:ext>
            </a:extLst>
          </p:cNvPr>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CORRECTION REPLACED THE PHENOTYPE.</a:t>
            </a:r>
            <a:endParaRPr lang="en-US" sz="1000" dirty="0"/>
          </a:p>
        </p:txBody>
      </p:sp>
      <p:sp>
        <p:nvSpPr>
          <p:cNvPr id="7" name="Shape 5">
            <a:extLst>
              <a:ext uri="{FF2B5EF4-FFF2-40B4-BE49-F238E27FC236}">
                <a16:creationId xmlns:a16="http://schemas.microsoft.com/office/drawing/2014/main" id="{8A94A17E-1BC2-0205-4523-41DFE85494BF}"/>
              </a:ext>
            </a:extLst>
          </p:cNvPr>
          <p:cNvSpPr/>
          <p:nvPr/>
        </p:nvSpPr>
        <p:spPr>
          <a:xfrm>
            <a:off x="548640" y="713232"/>
            <a:ext cx="502920" cy="36576"/>
          </a:xfrm>
          <a:prstGeom prst="rect">
            <a:avLst/>
          </a:prstGeom>
          <a:solidFill>
            <a:srgbClr val="0B4F94"/>
          </a:solidFill>
          <a:ln/>
        </p:spPr>
        <p:txBody>
          <a:bodyPr/>
          <a:lstStyle/>
          <a:p>
            <a:endParaRPr lang="en-GB"/>
          </a:p>
        </p:txBody>
      </p:sp>
      <p:sp>
        <p:nvSpPr>
          <p:cNvPr id="8" name="Text 6">
            <a:extLst>
              <a:ext uri="{FF2B5EF4-FFF2-40B4-BE49-F238E27FC236}">
                <a16:creationId xmlns:a16="http://schemas.microsoft.com/office/drawing/2014/main" id="{32A39585-D0A8-47D7-270E-74622B84280F}"/>
              </a:ext>
            </a:extLst>
          </p:cNvPr>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Same space, reshuffled patients.</a:t>
            </a:r>
            <a:endParaRPr lang="en-US" sz="2800" dirty="0"/>
          </a:p>
        </p:txBody>
      </p:sp>
      <p:pic>
        <p:nvPicPr>
          <p:cNvPr id="61" name="Picture 60">
            <a:extLst>
              <a:ext uri="{FF2B5EF4-FFF2-40B4-BE49-F238E27FC236}">
                <a16:creationId xmlns:a16="http://schemas.microsoft.com/office/drawing/2014/main" id="{06BD88A1-FA80-1376-7839-13582D82E717}"/>
              </a:ext>
            </a:extLst>
          </p:cNvPr>
          <p:cNvPicPr>
            <a:picLocks noChangeAspect="1"/>
          </p:cNvPicPr>
          <p:nvPr/>
        </p:nvPicPr>
        <p:blipFill>
          <a:blip r:embed="rId3"/>
          <a:stretch>
            <a:fillRect/>
          </a:stretch>
        </p:blipFill>
        <p:spPr>
          <a:xfrm>
            <a:off x="0" y="2181913"/>
            <a:ext cx="11924172" cy="3533088"/>
          </a:xfrm>
          <a:prstGeom prst="rect">
            <a:avLst/>
          </a:prstGeom>
        </p:spPr>
      </p:pic>
    </p:spTree>
    <p:extLst>
      <p:ext uri="{BB962C8B-B14F-4D97-AF65-F5344CB8AC3E}">
        <p14:creationId xmlns:p14="http://schemas.microsoft.com/office/powerpoint/2010/main" val="2557976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09  ·  CLINICAL ROBUSTNESS</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SIGNAL WEAKENS AFTER ADJUSTMENT.</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HR+/HER2+ subgroup  ·  n = 101  ·  10 events.</a:t>
            </a:r>
            <a:endParaRPr lang="en-US" sz="2800" dirty="0"/>
          </a:p>
        </p:txBody>
      </p:sp>
      <p:sp>
        <p:nvSpPr>
          <p:cNvPr id="9" name="Shape 7"/>
          <p:cNvSpPr/>
          <p:nvPr/>
        </p:nvSpPr>
        <p:spPr>
          <a:xfrm>
            <a:off x="4572000" y="4983480"/>
            <a:ext cx="5943600" cy="10973"/>
          </a:xfrm>
          <a:prstGeom prst="rect">
            <a:avLst/>
          </a:prstGeom>
          <a:solidFill>
            <a:srgbClr val="C9D2DC"/>
          </a:solidFill>
          <a:ln/>
        </p:spPr>
        <p:txBody>
          <a:bodyPr/>
          <a:lstStyle/>
          <a:p>
            <a:endParaRPr lang="en-GB"/>
          </a:p>
        </p:txBody>
      </p:sp>
      <p:sp>
        <p:nvSpPr>
          <p:cNvPr id="10" name="Shape 8"/>
          <p:cNvSpPr/>
          <p:nvPr/>
        </p:nvSpPr>
        <p:spPr>
          <a:xfrm>
            <a:off x="6644627" y="2148840"/>
            <a:ext cx="10973" cy="2880360"/>
          </a:xfrm>
          <a:prstGeom prst="rect">
            <a:avLst/>
          </a:prstGeom>
          <a:solidFill>
            <a:srgbClr val="4E78A0"/>
          </a:solidFill>
          <a:ln/>
        </p:spPr>
        <p:txBody>
          <a:bodyPr/>
          <a:lstStyle/>
          <a:p>
            <a:endParaRPr lang="en-GB"/>
          </a:p>
        </p:txBody>
      </p:sp>
      <p:sp>
        <p:nvSpPr>
          <p:cNvPr id="11" name="Text 9"/>
          <p:cNvSpPr/>
          <p:nvPr/>
        </p:nvSpPr>
        <p:spPr>
          <a:xfrm>
            <a:off x="5480278" y="5148072"/>
            <a:ext cx="548640" cy="228600"/>
          </a:xfrm>
          <a:prstGeom prst="rect">
            <a:avLst/>
          </a:prstGeom>
          <a:noFill/>
          <a:ln/>
        </p:spPr>
        <p:txBody>
          <a:bodyPr wrap="square" lIns="0" tIns="0" rIns="0" bIns="0" rtlCol="0" anchor="ctr"/>
          <a:lstStyle/>
          <a:p>
            <a:pPr marL="0" indent="0" algn="ctr">
              <a:buNone/>
            </a:pPr>
            <a:r>
              <a:rPr lang="en-US" sz="900" dirty="0">
                <a:solidFill>
                  <a:srgbClr val="5C6B7E"/>
                </a:solidFill>
                <a:latin typeface="Aptos" pitchFamily="34" charset="0"/>
                <a:ea typeface="Aptos" pitchFamily="34" charset="-122"/>
                <a:cs typeface="Aptos" pitchFamily="34" charset="-120"/>
              </a:rPr>
              <a:t>0.5</a:t>
            </a:r>
            <a:endParaRPr lang="en-US" sz="900" dirty="0"/>
          </a:p>
        </p:txBody>
      </p:sp>
      <p:sp>
        <p:nvSpPr>
          <p:cNvPr id="12" name="Text 10"/>
          <p:cNvSpPr/>
          <p:nvPr/>
        </p:nvSpPr>
        <p:spPr>
          <a:xfrm>
            <a:off x="6374879" y="5148072"/>
            <a:ext cx="548640" cy="228600"/>
          </a:xfrm>
          <a:prstGeom prst="rect">
            <a:avLst/>
          </a:prstGeom>
          <a:noFill/>
          <a:ln/>
        </p:spPr>
        <p:txBody>
          <a:bodyPr wrap="square" lIns="0" tIns="0" rIns="0" bIns="0" rtlCol="0" anchor="ctr"/>
          <a:lstStyle/>
          <a:p>
            <a:pPr marL="0" indent="0" algn="ctr">
              <a:buNone/>
            </a:pPr>
            <a:r>
              <a:rPr lang="en-US" sz="900" dirty="0">
                <a:solidFill>
                  <a:srgbClr val="5C6B7E"/>
                </a:solidFill>
                <a:latin typeface="Aptos" pitchFamily="34" charset="0"/>
                <a:ea typeface="Aptos" pitchFamily="34" charset="-122"/>
                <a:cs typeface="Aptos" pitchFamily="34" charset="-120"/>
              </a:rPr>
              <a:t>1</a:t>
            </a:r>
            <a:endParaRPr lang="en-US" sz="900" dirty="0"/>
          </a:p>
        </p:txBody>
      </p:sp>
      <p:sp>
        <p:nvSpPr>
          <p:cNvPr id="13" name="Text 11"/>
          <p:cNvSpPr/>
          <p:nvPr/>
        </p:nvSpPr>
        <p:spPr>
          <a:xfrm>
            <a:off x="7269480" y="5148072"/>
            <a:ext cx="548640" cy="228600"/>
          </a:xfrm>
          <a:prstGeom prst="rect">
            <a:avLst/>
          </a:prstGeom>
          <a:noFill/>
          <a:ln/>
        </p:spPr>
        <p:txBody>
          <a:bodyPr wrap="square" lIns="0" tIns="0" rIns="0" bIns="0" rtlCol="0" anchor="ctr"/>
          <a:lstStyle/>
          <a:p>
            <a:pPr marL="0" indent="0" algn="ctr">
              <a:buNone/>
            </a:pPr>
            <a:r>
              <a:rPr lang="en-US" sz="900" dirty="0">
                <a:solidFill>
                  <a:srgbClr val="5C6B7E"/>
                </a:solidFill>
                <a:latin typeface="Aptos" pitchFamily="34" charset="0"/>
                <a:ea typeface="Aptos" pitchFamily="34" charset="-122"/>
                <a:cs typeface="Aptos" pitchFamily="34" charset="-120"/>
              </a:rPr>
              <a:t>2</a:t>
            </a:r>
            <a:endParaRPr lang="en-US" sz="900" dirty="0"/>
          </a:p>
        </p:txBody>
      </p:sp>
      <p:sp>
        <p:nvSpPr>
          <p:cNvPr id="14" name="Text 12"/>
          <p:cNvSpPr/>
          <p:nvPr/>
        </p:nvSpPr>
        <p:spPr>
          <a:xfrm>
            <a:off x="8452078" y="5148072"/>
            <a:ext cx="548640" cy="228600"/>
          </a:xfrm>
          <a:prstGeom prst="rect">
            <a:avLst/>
          </a:prstGeom>
          <a:noFill/>
          <a:ln/>
        </p:spPr>
        <p:txBody>
          <a:bodyPr wrap="square" lIns="0" tIns="0" rIns="0" bIns="0" rtlCol="0" anchor="ctr"/>
          <a:lstStyle/>
          <a:p>
            <a:pPr marL="0" indent="0" algn="ctr">
              <a:buNone/>
            </a:pPr>
            <a:r>
              <a:rPr lang="en-US" sz="900" dirty="0">
                <a:solidFill>
                  <a:srgbClr val="5C6B7E"/>
                </a:solidFill>
                <a:latin typeface="Aptos" pitchFamily="34" charset="0"/>
                <a:ea typeface="Aptos" pitchFamily="34" charset="-122"/>
                <a:cs typeface="Aptos" pitchFamily="34" charset="-120"/>
              </a:rPr>
              <a:t>5</a:t>
            </a:r>
            <a:endParaRPr lang="en-US" sz="900" dirty="0"/>
          </a:p>
        </p:txBody>
      </p:sp>
      <p:sp>
        <p:nvSpPr>
          <p:cNvPr id="15" name="Text 13"/>
          <p:cNvSpPr/>
          <p:nvPr/>
        </p:nvSpPr>
        <p:spPr>
          <a:xfrm>
            <a:off x="9346679" y="5148072"/>
            <a:ext cx="548640" cy="228600"/>
          </a:xfrm>
          <a:prstGeom prst="rect">
            <a:avLst/>
          </a:prstGeom>
          <a:noFill/>
          <a:ln/>
        </p:spPr>
        <p:txBody>
          <a:bodyPr wrap="square" lIns="0" tIns="0" rIns="0" bIns="0" rtlCol="0" anchor="ctr"/>
          <a:lstStyle/>
          <a:p>
            <a:pPr marL="0" indent="0" algn="ctr">
              <a:buNone/>
            </a:pPr>
            <a:r>
              <a:rPr lang="en-US" sz="900" dirty="0">
                <a:solidFill>
                  <a:srgbClr val="5C6B7E"/>
                </a:solidFill>
                <a:latin typeface="Aptos" pitchFamily="34" charset="0"/>
                <a:ea typeface="Aptos" pitchFamily="34" charset="-122"/>
                <a:cs typeface="Aptos" pitchFamily="34" charset="-120"/>
              </a:rPr>
              <a:t>10</a:t>
            </a:r>
            <a:endParaRPr lang="en-US" sz="900" dirty="0"/>
          </a:p>
        </p:txBody>
      </p:sp>
      <p:sp>
        <p:nvSpPr>
          <p:cNvPr id="16" name="Text 14"/>
          <p:cNvSpPr/>
          <p:nvPr/>
        </p:nvSpPr>
        <p:spPr>
          <a:xfrm>
            <a:off x="10241280" y="5148072"/>
            <a:ext cx="548640" cy="228600"/>
          </a:xfrm>
          <a:prstGeom prst="rect">
            <a:avLst/>
          </a:prstGeom>
          <a:noFill/>
          <a:ln/>
        </p:spPr>
        <p:txBody>
          <a:bodyPr wrap="square" lIns="0" tIns="0" rIns="0" bIns="0" rtlCol="0" anchor="ctr"/>
          <a:lstStyle/>
          <a:p>
            <a:pPr marL="0" indent="0" algn="ctr">
              <a:buNone/>
            </a:pPr>
            <a:r>
              <a:rPr lang="en-US" sz="900" dirty="0">
                <a:solidFill>
                  <a:srgbClr val="5C6B7E"/>
                </a:solidFill>
                <a:latin typeface="Aptos" pitchFamily="34" charset="0"/>
                <a:ea typeface="Aptos" pitchFamily="34" charset="-122"/>
                <a:cs typeface="Aptos" pitchFamily="34" charset="-120"/>
              </a:rPr>
              <a:t>20</a:t>
            </a:r>
            <a:endParaRPr lang="en-US" sz="900" dirty="0"/>
          </a:p>
        </p:txBody>
      </p:sp>
      <p:sp>
        <p:nvSpPr>
          <p:cNvPr id="17" name="Text 15"/>
          <p:cNvSpPr/>
          <p:nvPr/>
        </p:nvSpPr>
        <p:spPr>
          <a:xfrm>
            <a:off x="4572000" y="5440680"/>
            <a:ext cx="5943600" cy="274320"/>
          </a:xfrm>
          <a:prstGeom prst="rect">
            <a:avLst/>
          </a:prstGeom>
          <a:noFill/>
          <a:ln/>
        </p:spPr>
        <p:txBody>
          <a:bodyPr wrap="square" lIns="0" tIns="0" rIns="0" bIns="0" rtlCol="0" anchor="ctr"/>
          <a:lstStyle/>
          <a:p>
            <a:pPr marL="0" indent="0" algn="ctr">
              <a:buNone/>
            </a:pPr>
            <a:r>
              <a:rPr lang="en-US" sz="1000" i="1" dirty="0">
                <a:solidFill>
                  <a:srgbClr val="5C6B7E"/>
                </a:solidFill>
                <a:latin typeface="Aptos" pitchFamily="34" charset="0"/>
                <a:ea typeface="Aptos" pitchFamily="34" charset="-122"/>
                <a:cs typeface="Aptos" pitchFamily="34" charset="-120"/>
              </a:rPr>
              <a:t>Hazard Ratio  (log-scaled axis)</a:t>
            </a:r>
            <a:endParaRPr lang="en-US" sz="1000" dirty="0"/>
          </a:p>
        </p:txBody>
      </p:sp>
      <p:sp>
        <p:nvSpPr>
          <p:cNvPr id="18" name="Text 16"/>
          <p:cNvSpPr/>
          <p:nvPr/>
        </p:nvSpPr>
        <p:spPr>
          <a:xfrm>
            <a:off x="548640" y="2240280"/>
            <a:ext cx="3657600" cy="32004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Unadjusted Cox</a:t>
            </a:r>
            <a:endParaRPr lang="en-US" sz="1300" dirty="0"/>
          </a:p>
        </p:txBody>
      </p:sp>
      <p:sp>
        <p:nvSpPr>
          <p:cNvPr id="19" name="Text 17"/>
          <p:cNvSpPr/>
          <p:nvPr/>
        </p:nvSpPr>
        <p:spPr>
          <a:xfrm>
            <a:off x="548640" y="2560320"/>
            <a:ext cx="3657600" cy="274320"/>
          </a:xfrm>
          <a:prstGeom prst="rect">
            <a:avLst/>
          </a:prstGeom>
          <a:noFill/>
          <a:ln/>
        </p:spPr>
        <p:txBody>
          <a:bodyPr wrap="square" lIns="0" tIns="0" rIns="0" bIns="0" rtlCol="0" anchor="ctr"/>
          <a:lstStyle/>
          <a:p>
            <a:pPr marL="0" indent="0">
              <a:buNone/>
            </a:pPr>
            <a:r>
              <a:rPr lang="en-US" sz="1100" i="1" dirty="0">
                <a:solidFill>
                  <a:srgbClr val="5C6B7E"/>
                </a:solidFill>
                <a:latin typeface="Aptos" pitchFamily="34" charset="0"/>
                <a:ea typeface="Aptos" pitchFamily="34" charset="-122"/>
                <a:cs typeface="Aptos" pitchFamily="34" charset="-120"/>
              </a:rPr>
              <a:t>Cluster 1 vs Cluster 0</a:t>
            </a:r>
            <a:endParaRPr lang="en-US" sz="1100" dirty="0"/>
          </a:p>
        </p:txBody>
      </p:sp>
      <p:sp>
        <p:nvSpPr>
          <p:cNvPr id="20" name="Text 18"/>
          <p:cNvSpPr/>
          <p:nvPr/>
        </p:nvSpPr>
        <p:spPr>
          <a:xfrm>
            <a:off x="548640" y="2788920"/>
            <a:ext cx="3657600" cy="274320"/>
          </a:xfrm>
          <a:prstGeom prst="rect">
            <a:avLst/>
          </a:prstGeom>
          <a:noFill/>
          <a:ln/>
        </p:spPr>
        <p:txBody>
          <a:bodyPr wrap="square" lIns="0" tIns="0" rIns="0" bIns="0" rtlCol="0" anchor="ctr"/>
          <a:lstStyle/>
          <a:p>
            <a:pPr marL="0" indent="0">
              <a:buNone/>
            </a:pPr>
            <a:r>
              <a:rPr lang="en-US" sz="1100" b="1" dirty="0">
                <a:solidFill>
                  <a:srgbClr val="B33C3C"/>
                </a:solidFill>
                <a:latin typeface="Aptos" pitchFamily="34" charset="0"/>
                <a:ea typeface="Aptos" pitchFamily="34" charset="-122"/>
                <a:cs typeface="Aptos" pitchFamily="34" charset="-120"/>
              </a:rPr>
              <a:t>p = 0.020</a:t>
            </a:r>
            <a:endParaRPr lang="en-US" sz="1100" dirty="0"/>
          </a:p>
        </p:txBody>
      </p:sp>
      <p:sp>
        <p:nvSpPr>
          <p:cNvPr id="21" name="Shape 19"/>
          <p:cNvSpPr/>
          <p:nvPr/>
        </p:nvSpPr>
        <p:spPr>
          <a:xfrm>
            <a:off x="6905843" y="2651760"/>
            <a:ext cx="3516788" cy="36576"/>
          </a:xfrm>
          <a:prstGeom prst="rect">
            <a:avLst/>
          </a:prstGeom>
          <a:solidFill>
            <a:srgbClr val="B33C3C"/>
          </a:solidFill>
          <a:ln/>
        </p:spPr>
        <p:txBody>
          <a:bodyPr/>
          <a:lstStyle/>
          <a:p>
            <a:endParaRPr lang="en-GB"/>
          </a:p>
        </p:txBody>
      </p:sp>
      <p:sp>
        <p:nvSpPr>
          <p:cNvPr id="22" name="Shape 20"/>
          <p:cNvSpPr/>
          <p:nvPr/>
        </p:nvSpPr>
        <p:spPr>
          <a:xfrm>
            <a:off x="6896699" y="2560320"/>
            <a:ext cx="18288" cy="219456"/>
          </a:xfrm>
          <a:prstGeom prst="rect">
            <a:avLst/>
          </a:prstGeom>
          <a:solidFill>
            <a:srgbClr val="B33C3C"/>
          </a:solidFill>
          <a:ln/>
        </p:spPr>
        <p:txBody>
          <a:bodyPr/>
          <a:lstStyle/>
          <a:p>
            <a:endParaRPr lang="en-GB"/>
          </a:p>
        </p:txBody>
      </p:sp>
      <p:sp>
        <p:nvSpPr>
          <p:cNvPr id="23" name="Shape 21"/>
          <p:cNvSpPr/>
          <p:nvPr/>
        </p:nvSpPr>
        <p:spPr>
          <a:xfrm>
            <a:off x="10413487" y="2560320"/>
            <a:ext cx="18288" cy="219456"/>
          </a:xfrm>
          <a:prstGeom prst="rect">
            <a:avLst/>
          </a:prstGeom>
          <a:solidFill>
            <a:srgbClr val="B33C3C"/>
          </a:solidFill>
          <a:ln/>
        </p:spPr>
        <p:txBody>
          <a:bodyPr/>
          <a:lstStyle/>
          <a:p>
            <a:endParaRPr lang="en-GB"/>
          </a:p>
        </p:txBody>
      </p:sp>
      <p:sp>
        <p:nvSpPr>
          <p:cNvPr id="24" name="Shape 22"/>
          <p:cNvSpPr/>
          <p:nvPr/>
        </p:nvSpPr>
        <p:spPr>
          <a:xfrm>
            <a:off x="8544039" y="2560320"/>
            <a:ext cx="237744" cy="237744"/>
          </a:xfrm>
          <a:prstGeom prst="ellipse">
            <a:avLst/>
          </a:prstGeom>
          <a:solidFill>
            <a:srgbClr val="B33C3C"/>
          </a:solidFill>
          <a:ln/>
        </p:spPr>
        <p:txBody>
          <a:bodyPr/>
          <a:lstStyle/>
          <a:p>
            <a:endParaRPr lang="en-GB"/>
          </a:p>
        </p:txBody>
      </p:sp>
      <p:sp>
        <p:nvSpPr>
          <p:cNvPr id="25" name="Text 23"/>
          <p:cNvSpPr/>
          <p:nvPr/>
        </p:nvSpPr>
        <p:spPr>
          <a:xfrm>
            <a:off x="8159991" y="2816352"/>
            <a:ext cx="1005840" cy="256032"/>
          </a:xfrm>
          <a:prstGeom prst="rect">
            <a:avLst/>
          </a:prstGeom>
          <a:noFill/>
          <a:ln/>
        </p:spPr>
        <p:txBody>
          <a:bodyPr wrap="square" lIns="0" tIns="0" rIns="0" bIns="0" rtlCol="0" anchor="ctr"/>
          <a:lstStyle/>
          <a:p>
            <a:pPr marL="0" indent="0" algn="ctr">
              <a:buNone/>
            </a:pPr>
            <a:r>
              <a:rPr lang="en-US" sz="1100" b="1" dirty="0">
                <a:solidFill>
                  <a:srgbClr val="B33C3C"/>
                </a:solidFill>
                <a:latin typeface="Aptos" pitchFamily="34" charset="0"/>
                <a:ea typeface="Aptos" pitchFamily="34" charset="-122"/>
                <a:cs typeface="Aptos" pitchFamily="34" charset="-120"/>
              </a:rPr>
              <a:t>HR = 4.76</a:t>
            </a:r>
            <a:endParaRPr lang="en-US" sz="1100" dirty="0"/>
          </a:p>
        </p:txBody>
      </p:sp>
      <p:sp>
        <p:nvSpPr>
          <p:cNvPr id="26" name="Text 24"/>
          <p:cNvSpPr/>
          <p:nvPr/>
        </p:nvSpPr>
        <p:spPr>
          <a:xfrm>
            <a:off x="548640" y="3108960"/>
            <a:ext cx="3657600" cy="32004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Adjusted for manufacturer</a:t>
            </a:r>
            <a:endParaRPr lang="en-US" sz="1300" dirty="0"/>
          </a:p>
        </p:txBody>
      </p:sp>
      <p:sp>
        <p:nvSpPr>
          <p:cNvPr id="27" name="Text 25"/>
          <p:cNvSpPr/>
          <p:nvPr/>
        </p:nvSpPr>
        <p:spPr>
          <a:xfrm>
            <a:off x="548640" y="3429000"/>
            <a:ext cx="3657600" cy="274320"/>
          </a:xfrm>
          <a:prstGeom prst="rect">
            <a:avLst/>
          </a:prstGeom>
          <a:noFill/>
          <a:ln/>
        </p:spPr>
        <p:txBody>
          <a:bodyPr wrap="square" lIns="0" tIns="0" rIns="0" bIns="0" rtlCol="0" anchor="ctr"/>
          <a:lstStyle/>
          <a:p>
            <a:pPr marL="0" indent="0">
              <a:buNone/>
            </a:pPr>
            <a:r>
              <a:rPr lang="en-US" sz="1100" i="1" dirty="0">
                <a:solidFill>
                  <a:srgbClr val="5C6B7E"/>
                </a:solidFill>
                <a:latin typeface="Aptos" pitchFamily="34" charset="0"/>
                <a:ea typeface="Aptos" pitchFamily="34" charset="-122"/>
                <a:cs typeface="Aptos" pitchFamily="34" charset="-120"/>
              </a:rPr>
              <a:t>Cluster effect (residual)</a:t>
            </a:r>
            <a:endParaRPr lang="en-US" sz="1100" dirty="0"/>
          </a:p>
        </p:txBody>
      </p:sp>
      <p:sp>
        <p:nvSpPr>
          <p:cNvPr id="28" name="Text 26"/>
          <p:cNvSpPr/>
          <p:nvPr/>
        </p:nvSpPr>
        <p:spPr>
          <a:xfrm>
            <a:off x="548640" y="3657600"/>
            <a:ext cx="3657600" cy="274320"/>
          </a:xfrm>
          <a:prstGeom prst="rect">
            <a:avLst/>
          </a:prstGeom>
          <a:noFill/>
          <a:ln/>
        </p:spPr>
        <p:txBody>
          <a:bodyPr wrap="square" lIns="0" tIns="0" rIns="0" bIns="0" rtlCol="0" anchor="ctr"/>
          <a:lstStyle/>
          <a:p>
            <a:pPr marL="0" indent="0">
              <a:buNone/>
            </a:pPr>
            <a:r>
              <a:rPr lang="en-US" sz="1100" dirty="0">
                <a:solidFill>
                  <a:srgbClr val="5C6B7E"/>
                </a:solidFill>
                <a:latin typeface="Aptos" pitchFamily="34" charset="0"/>
                <a:ea typeface="Aptos" pitchFamily="34" charset="-122"/>
                <a:cs typeface="Aptos" pitchFamily="34" charset="-120"/>
              </a:rPr>
              <a:t>p = 0.291</a:t>
            </a:r>
            <a:endParaRPr lang="en-US" sz="1100" dirty="0"/>
          </a:p>
        </p:txBody>
      </p:sp>
      <p:sp>
        <p:nvSpPr>
          <p:cNvPr id="29" name="Shape 27"/>
          <p:cNvSpPr/>
          <p:nvPr/>
        </p:nvSpPr>
        <p:spPr>
          <a:xfrm>
            <a:off x="5646983" y="3520440"/>
            <a:ext cx="4350783" cy="36576"/>
          </a:xfrm>
          <a:prstGeom prst="rect">
            <a:avLst/>
          </a:prstGeom>
          <a:solidFill>
            <a:srgbClr val="4E78A0"/>
          </a:solidFill>
          <a:ln/>
        </p:spPr>
        <p:txBody>
          <a:bodyPr/>
          <a:lstStyle/>
          <a:p>
            <a:endParaRPr lang="en-GB"/>
          </a:p>
        </p:txBody>
      </p:sp>
      <p:sp>
        <p:nvSpPr>
          <p:cNvPr id="30" name="Shape 28"/>
          <p:cNvSpPr/>
          <p:nvPr/>
        </p:nvSpPr>
        <p:spPr>
          <a:xfrm>
            <a:off x="5637839" y="3429000"/>
            <a:ext cx="18288" cy="219456"/>
          </a:xfrm>
          <a:prstGeom prst="rect">
            <a:avLst/>
          </a:prstGeom>
          <a:solidFill>
            <a:srgbClr val="4E78A0"/>
          </a:solidFill>
          <a:ln/>
        </p:spPr>
        <p:txBody>
          <a:bodyPr/>
          <a:lstStyle/>
          <a:p>
            <a:endParaRPr lang="en-GB"/>
          </a:p>
        </p:txBody>
      </p:sp>
      <p:sp>
        <p:nvSpPr>
          <p:cNvPr id="31" name="Shape 29"/>
          <p:cNvSpPr/>
          <p:nvPr/>
        </p:nvSpPr>
        <p:spPr>
          <a:xfrm>
            <a:off x="9988622" y="3429000"/>
            <a:ext cx="18288" cy="219456"/>
          </a:xfrm>
          <a:prstGeom prst="rect">
            <a:avLst/>
          </a:prstGeom>
          <a:solidFill>
            <a:srgbClr val="4E78A0"/>
          </a:solidFill>
          <a:ln/>
        </p:spPr>
        <p:txBody>
          <a:bodyPr/>
          <a:lstStyle/>
          <a:p>
            <a:endParaRPr lang="en-GB"/>
          </a:p>
        </p:txBody>
      </p:sp>
      <p:sp>
        <p:nvSpPr>
          <p:cNvPr id="32" name="Shape 30"/>
          <p:cNvSpPr/>
          <p:nvPr/>
        </p:nvSpPr>
        <p:spPr>
          <a:xfrm>
            <a:off x="7702559" y="3429000"/>
            <a:ext cx="237744" cy="237744"/>
          </a:xfrm>
          <a:prstGeom prst="ellipse">
            <a:avLst/>
          </a:prstGeom>
          <a:solidFill>
            <a:srgbClr val="4E78A0"/>
          </a:solidFill>
          <a:ln/>
        </p:spPr>
        <p:txBody>
          <a:bodyPr/>
          <a:lstStyle/>
          <a:p>
            <a:endParaRPr lang="en-GB"/>
          </a:p>
        </p:txBody>
      </p:sp>
      <p:sp>
        <p:nvSpPr>
          <p:cNvPr id="33" name="Text 31"/>
          <p:cNvSpPr/>
          <p:nvPr/>
        </p:nvSpPr>
        <p:spPr>
          <a:xfrm>
            <a:off x="7318511" y="3685032"/>
            <a:ext cx="1005840" cy="256032"/>
          </a:xfrm>
          <a:prstGeom prst="rect">
            <a:avLst/>
          </a:prstGeom>
          <a:noFill/>
          <a:ln/>
        </p:spPr>
        <p:txBody>
          <a:bodyPr wrap="square" lIns="0" tIns="0" rIns="0" bIns="0" rtlCol="0" anchor="ctr"/>
          <a:lstStyle/>
          <a:p>
            <a:pPr marL="0" indent="0" algn="ctr">
              <a:buNone/>
            </a:pPr>
            <a:r>
              <a:rPr lang="en-US" sz="1100" b="1" dirty="0">
                <a:solidFill>
                  <a:srgbClr val="4E78A0"/>
                </a:solidFill>
                <a:latin typeface="Aptos" pitchFamily="34" charset="0"/>
                <a:ea typeface="Aptos" pitchFamily="34" charset="-122"/>
                <a:cs typeface="Aptos" pitchFamily="34" charset="-120"/>
              </a:rPr>
              <a:t>HR = 2.48</a:t>
            </a:r>
            <a:endParaRPr lang="en-US" sz="1100" dirty="0"/>
          </a:p>
        </p:txBody>
      </p:sp>
      <p:sp>
        <p:nvSpPr>
          <p:cNvPr id="34" name="Text 32"/>
          <p:cNvSpPr/>
          <p:nvPr/>
        </p:nvSpPr>
        <p:spPr>
          <a:xfrm>
            <a:off x="548640" y="3977640"/>
            <a:ext cx="3657600" cy="320040"/>
          </a:xfrm>
          <a:prstGeom prst="rect">
            <a:avLst/>
          </a:prstGeom>
          <a:noFill/>
          <a:ln/>
        </p:spPr>
        <p:txBody>
          <a:bodyPr wrap="square" lIns="0" tIns="0" rIns="0" bIns="0" rtlCol="0" anchor="ctr"/>
          <a:lstStyle/>
          <a:p>
            <a:pPr marL="0" indent="0">
              <a:buNone/>
            </a:pPr>
            <a:r>
              <a:rPr lang="en-US" sz="1300" b="1" dirty="0">
                <a:solidFill>
                  <a:srgbClr val="1A2330"/>
                </a:solidFill>
                <a:latin typeface="Aptos" pitchFamily="34" charset="0"/>
                <a:ea typeface="Aptos" pitchFamily="34" charset="-122"/>
                <a:cs typeface="Aptos" pitchFamily="34" charset="-120"/>
              </a:rPr>
              <a:t>Adjusted for cluster</a:t>
            </a:r>
            <a:endParaRPr lang="en-US" sz="1300" dirty="0"/>
          </a:p>
        </p:txBody>
      </p:sp>
      <p:sp>
        <p:nvSpPr>
          <p:cNvPr id="35" name="Text 33"/>
          <p:cNvSpPr/>
          <p:nvPr/>
        </p:nvSpPr>
        <p:spPr>
          <a:xfrm>
            <a:off x="548640" y="4297680"/>
            <a:ext cx="3657600" cy="274320"/>
          </a:xfrm>
          <a:prstGeom prst="rect">
            <a:avLst/>
          </a:prstGeom>
          <a:noFill/>
          <a:ln/>
        </p:spPr>
        <p:txBody>
          <a:bodyPr wrap="square" lIns="0" tIns="0" rIns="0" bIns="0" rtlCol="0" anchor="ctr"/>
          <a:lstStyle/>
          <a:p>
            <a:pPr marL="0" indent="0">
              <a:buNone/>
            </a:pPr>
            <a:r>
              <a:rPr lang="en-US" sz="1100" i="1" dirty="0">
                <a:solidFill>
                  <a:srgbClr val="5C6B7E"/>
                </a:solidFill>
                <a:latin typeface="Aptos" pitchFamily="34" charset="0"/>
                <a:ea typeface="Aptos" pitchFamily="34" charset="-122"/>
                <a:cs typeface="Aptos" pitchFamily="34" charset="-120"/>
              </a:rPr>
              <a:t>Siemens vs GE</a:t>
            </a:r>
            <a:endParaRPr lang="en-US" sz="1100" dirty="0"/>
          </a:p>
        </p:txBody>
      </p:sp>
      <p:sp>
        <p:nvSpPr>
          <p:cNvPr id="36" name="Text 34"/>
          <p:cNvSpPr/>
          <p:nvPr/>
        </p:nvSpPr>
        <p:spPr>
          <a:xfrm>
            <a:off x="548640" y="4526280"/>
            <a:ext cx="3657600" cy="274320"/>
          </a:xfrm>
          <a:prstGeom prst="rect">
            <a:avLst/>
          </a:prstGeom>
          <a:noFill/>
          <a:ln/>
        </p:spPr>
        <p:txBody>
          <a:bodyPr wrap="square" lIns="0" tIns="0" rIns="0" bIns="0" rtlCol="0" anchor="ctr"/>
          <a:lstStyle/>
          <a:p>
            <a:pPr marL="0" indent="0">
              <a:buNone/>
            </a:pPr>
            <a:r>
              <a:rPr lang="en-US" sz="1100" dirty="0">
                <a:solidFill>
                  <a:srgbClr val="5C6B7E"/>
                </a:solidFill>
                <a:latin typeface="Aptos" pitchFamily="34" charset="0"/>
                <a:ea typeface="Aptos" pitchFamily="34" charset="-122"/>
                <a:cs typeface="Aptos" pitchFamily="34" charset="-120"/>
              </a:rPr>
              <a:t>p = 0.200</a:t>
            </a:r>
            <a:endParaRPr lang="en-US" sz="1100" dirty="0"/>
          </a:p>
        </p:txBody>
      </p:sp>
      <p:sp>
        <p:nvSpPr>
          <p:cNvPr id="37" name="Shape 35"/>
          <p:cNvSpPr/>
          <p:nvPr/>
        </p:nvSpPr>
        <p:spPr>
          <a:xfrm>
            <a:off x="5900864" y="4389120"/>
            <a:ext cx="4329156" cy="36576"/>
          </a:xfrm>
          <a:prstGeom prst="rect">
            <a:avLst/>
          </a:prstGeom>
          <a:solidFill>
            <a:srgbClr val="4E78A0"/>
          </a:solidFill>
          <a:ln/>
        </p:spPr>
        <p:txBody>
          <a:bodyPr/>
          <a:lstStyle/>
          <a:p>
            <a:endParaRPr lang="en-GB"/>
          </a:p>
        </p:txBody>
      </p:sp>
      <p:sp>
        <p:nvSpPr>
          <p:cNvPr id="38" name="Shape 36"/>
          <p:cNvSpPr/>
          <p:nvPr/>
        </p:nvSpPr>
        <p:spPr>
          <a:xfrm>
            <a:off x="5891720" y="4297680"/>
            <a:ext cx="18288" cy="219456"/>
          </a:xfrm>
          <a:prstGeom prst="rect">
            <a:avLst/>
          </a:prstGeom>
          <a:solidFill>
            <a:srgbClr val="4E78A0"/>
          </a:solidFill>
          <a:ln/>
        </p:spPr>
        <p:txBody>
          <a:bodyPr/>
          <a:lstStyle/>
          <a:p>
            <a:endParaRPr lang="en-GB"/>
          </a:p>
        </p:txBody>
      </p:sp>
      <p:sp>
        <p:nvSpPr>
          <p:cNvPr id="39" name="Shape 37"/>
          <p:cNvSpPr/>
          <p:nvPr/>
        </p:nvSpPr>
        <p:spPr>
          <a:xfrm>
            <a:off x="10220877" y="4297680"/>
            <a:ext cx="18288" cy="219456"/>
          </a:xfrm>
          <a:prstGeom prst="rect">
            <a:avLst/>
          </a:prstGeom>
          <a:solidFill>
            <a:srgbClr val="4E78A0"/>
          </a:solidFill>
          <a:ln/>
        </p:spPr>
        <p:txBody>
          <a:bodyPr/>
          <a:lstStyle/>
          <a:p>
            <a:endParaRPr lang="en-GB"/>
          </a:p>
        </p:txBody>
      </p:sp>
      <p:sp>
        <p:nvSpPr>
          <p:cNvPr id="40" name="Shape 38"/>
          <p:cNvSpPr/>
          <p:nvPr/>
        </p:nvSpPr>
        <p:spPr>
          <a:xfrm>
            <a:off x="7943927" y="4297680"/>
            <a:ext cx="237744" cy="237744"/>
          </a:xfrm>
          <a:prstGeom prst="ellipse">
            <a:avLst/>
          </a:prstGeom>
          <a:solidFill>
            <a:srgbClr val="4E78A0"/>
          </a:solidFill>
          <a:ln/>
        </p:spPr>
        <p:txBody>
          <a:bodyPr/>
          <a:lstStyle/>
          <a:p>
            <a:endParaRPr lang="en-GB"/>
          </a:p>
        </p:txBody>
      </p:sp>
      <p:sp>
        <p:nvSpPr>
          <p:cNvPr id="41" name="Text 39"/>
          <p:cNvSpPr/>
          <p:nvPr/>
        </p:nvSpPr>
        <p:spPr>
          <a:xfrm>
            <a:off x="7559879" y="4553712"/>
            <a:ext cx="1005840" cy="256032"/>
          </a:xfrm>
          <a:prstGeom prst="rect">
            <a:avLst/>
          </a:prstGeom>
          <a:noFill/>
          <a:ln/>
        </p:spPr>
        <p:txBody>
          <a:bodyPr wrap="square" lIns="0" tIns="0" rIns="0" bIns="0" rtlCol="0" anchor="ctr"/>
          <a:lstStyle/>
          <a:p>
            <a:pPr marL="0" indent="0" algn="ctr">
              <a:buNone/>
            </a:pPr>
            <a:r>
              <a:rPr lang="en-US" sz="1100" b="1" dirty="0">
                <a:solidFill>
                  <a:srgbClr val="4E78A0"/>
                </a:solidFill>
                <a:latin typeface="Aptos" pitchFamily="34" charset="0"/>
                <a:ea typeface="Aptos" pitchFamily="34" charset="-122"/>
                <a:cs typeface="Aptos" pitchFamily="34" charset="-120"/>
              </a:rPr>
              <a:t>HR = 2.99</a:t>
            </a:r>
            <a:endParaRPr lang="en-US" sz="1100" dirty="0"/>
          </a:p>
        </p:txBody>
      </p:sp>
      <p:sp>
        <p:nvSpPr>
          <p:cNvPr id="42" name="Shape 40"/>
          <p:cNvSpPr/>
          <p:nvPr/>
        </p:nvSpPr>
        <p:spPr>
          <a:xfrm>
            <a:off x="548640" y="5852160"/>
            <a:ext cx="11247120" cy="457200"/>
          </a:xfrm>
          <a:prstGeom prst="rect">
            <a:avLst/>
          </a:prstGeom>
          <a:solidFill>
            <a:srgbClr val="FBEEEE"/>
          </a:solidFill>
          <a:ln/>
        </p:spPr>
        <p:txBody>
          <a:bodyPr/>
          <a:lstStyle/>
          <a:p>
            <a:endParaRPr lang="en-GB"/>
          </a:p>
        </p:txBody>
      </p:sp>
      <p:sp>
        <p:nvSpPr>
          <p:cNvPr id="43" name="Shape 41"/>
          <p:cNvSpPr/>
          <p:nvPr/>
        </p:nvSpPr>
        <p:spPr>
          <a:xfrm>
            <a:off x="548640" y="5852160"/>
            <a:ext cx="73152" cy="457200"/>
          </a:xfrm>
          <a:prstGeom prst="rect">
            <a:avLst/>
          </a:prstGeom>
          <a:solidFill>
            <a:srgbClr val="B33C3C"/>
          </a:solidFill>
          <a:ln/>
        </p:spPr>
        <p:txBody>
          <a:bodyPr/>
          <a:lstStyle/>
          <a:p>
            <a:endParaRPr lang="en-GB"/>
          </a:p>
        </p:txBody>
      </p:sp>
      <p:sp>
        <p:nvSpPr>
          <p:cNvPr id="44" name="Text 42"/>
          <p:cNvSpPr/>
          <p:nvPr/>
        </p:nvSpPr>
        <p:spPr>
          <a:xfrm>
            <a:off x="777240" y="5852160"/>
            <a:ext cx="10972800" cy="457200"/>
          </a:xfrm>
          <a:prstGeom prst="rect">
            <a:avLst/>
          </a:prstGeom>
          <a:noFill/>
          <a:ln/>
        </p:spPr>
        <p:txBody>
          <a:bodyPr wrap="square" lIns="0" tIns="0" rIns="0" bIns="0" rtlCol="0" anchor="ctr"/>
          <a:lstStyle/>
          <a:p>
            <a:pPr marL="0" indent="0">
              <a:buNone/>
            </a:pPr>
            <a:r>
              <a:rPr lang="en-US" sz="1100" i="1" dirty="0">
                <a:solidFill>
                  <a:srgbClr val="B33C3C"/>
                </a:solidFill>
                <a:latin typeface="Aptos" pitchFamily="34" charset="0"/>
                <a:ea typeface="Aptos" pitchFamily="34" charset="-122"/>
                <a:cs typeface="Aptos" pitchFamily="34" charset="-120"/>
              </a:rPr>
              <a:t>Only 10 events  ·  two correlated predictors  ·  the signal is not robust enough to support a biomarker claim — not “false”, insufficiently robust.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09  ·  CLINICAL ROBUSTNESS</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RESIDUAL STRUCTURE AFTER CORRECTION</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Cleaner is not biological.</a:t>
            </a:r>
            <a:endParaRPr lang="en-US" sz="2800" dirty="0"/>
          </a:p>
        </p:txBody>
      </p:sp>
      <p:sp>
        <p:nvSpPr>
          <p:cNvPr id="9" name="Shape 7"/>
          <p:cNvSpPr/>
          <p:nvPr/>
        </p:nvSpPr>
        <p:spPr>
          <a:xfrm>
            <a:off x="548640" y="2011680"/>
            <a:ext cx="3703320" cy="3840480"/>
          </a:xfrm>
          <a:prstGeom prst="rect">
            <a:avLst/>
          </a:prstGeom>
          <a:solidFill>
            <a:srgbClr val="F4F6FA"/>
          </a:solidFill>
          <a:ln/>
        </p:spPr>
        <p:txBody>
          <a:bodyPr/>
          <a:lstStyle/>
          <a:p>
            <a:endParaRPr lang="en-GB"/>
          </a:p>
        </p:txBody>
      </p:sp>
      <p:sp>
        <p:nvSpPr>
          <p:cNvPr id="10" name="Shape 8"/>
          <p:cNvSpPr/>
          <p:nvPr/>
        </p:nvSpPr>
        <p:spPr>
          <a:xfrm>
            <a:off x="548640" y="2011680"/>
            <a:ext cx="3703320" cy="73152"/>
          </a:xfrm>
          <a:prstGeom prst="rect">
            <a:avLst/>
          </a:prstGeom>
          <a:solidFill>
            <a:srgbClr val="2E8FA8"/>
          </a:solidFill>
          <a:ln/>
        </p:spPr>
        <p:txBody>
          <a:bodyPr/>
          <a:lstStyle/>
          <a:p>
            <a:endParaRPr lang="en-GB"/>
          </a:p>
        </p:txBody>
      </p:sp>
      <p:sp>
        <p:nvSpPr>
          <p:cNvPr id="11" name="Text 9"/>
          <p:cNvSpPr/>
          <p:nvPr/>
        </p:nvSpPr>
        <p:spPr>
          <a:xfrm>
            <a:off x="777240" y="2286000"/>
            <a:ext cx="548640" cy="594360"/>
          </a:xfrm>
          <a:prstGeom prst="rect">
            <a:avLst/>
          </a:prstGeom>
          <a:noFill/>
          <a:ln/>
        </p:spPr>
        <p:txBody>
          <a:bodyPr wrap="square" lIns="0" tIns="0" rIns="0" bIns="0" rtlCol="0" anchor="ctr"/>
          <a:lstStyle/>
          <a:p>
            <a:pPr marL="0" indent="0">
              <a:buNone/>
            </a:pPr>
            <a:r>
              <a:rPr lang="en-US" sz="3800" b="1" dirty="0">
                <a:solidFill>
                  <a:srgbClr val="2E8FA8"/>
                </a:solidFill>
                <a:latin typeface="Aptos Display" pitchFamily="34" charset="0"/>
                <a:ea typeface="Aptos Display" pitchFamily="34" charset="-122"/>
                <a:cs typeface="Aptos Display" pitchFamily="34" charset="-120"/>
              </a:rPr>
              <a:t>1</a:t>
            </a:r>
            <a:endParaRPr lang="en-US" sz="3800" dirty="0"/>
          </a:p>
        </p:txBody>
      </p:sp>
      <p:sp>
        <p:nvSpPr>
          <p:cNvPr id="12" name="Text 10"/>
          <p:cNvSpPr/>
          <p:nvPr/>
        </p:nvSpPr>
        <p:spPr>
          <a:xfrm>
            <a:off x="1463040" y="2377440"/>
            <a:ext cx="2606040" cy="365760"/>
          </a:xfrm>
          <a:prstGeom prst="rect">
            <a:avLst/>
          </a:prstGeom>
          <a:noFill/>
          <a:ln/>
        </p:spPr>
        <p:txBody>
          <a:bodyPr wrap="square" lIns="0" tIns="0" rIns="0" bIns="0" rtlCol="0" anchor="ctr"/>
          <a:lstStyle/>
          <a:p>
            <a:pPr marL="0" indent="0">
              <a:buNone/>
            </a:pPr>
            <a:r>
              <a:rPr lang="en-US" sz="1000" b="1" kern="0" spc="400" dirty="0">
                <a:solidFill>
                  <a:srgbClr val="2E8FA8"/>
                </a:solidFill>
                <a:latin typeface="Aptos" pitchFamily="34" charset="0"/>
                <a:ea typeface="Aptos" pitchFamily="34" charset="-122"/>
                <a:cs typeface="Aptos" pitchFamily="34" charset="-120"/>
              </a:rPr>
              <a:t>VENDOR-DECOUPLED</a:t>
            </a:r>
            <a:endParaRPr lang="en-US" sz="1000" dirty="0"/>
          </a:p>
        </p:txBody>
      </p:sp>
      <p:sp>
        <p:nvSpPr>
          <p:cNvPr id="13" name="Text 11"/>
          <p:cNvSpPr/>
          <p:nvPr/>
        </p:nvSpPr>
        <p:spPr>
          <a:xfrm>
            <a:off x="777240" y="3200400"/>
            <a:ext cx="3246120" cy="1005840"/>
          </a:xfrm>
          <a:prstGeom prst="rect">
            <a:avLst/>
          </a:prstGeom>
          <a:noFill/>
          <a:ln/>
        </p:spPr>
        <p:txBody>
          <a:bodyPr wrap="square" lIns="0" tIns="0" rIns="0" bIns="0" rtlCol="0" anchor="ctr"/>
          <a:lstStyle/>
          <a:p>
            <a:pPr marL="0" indent="0">
              <a:buNone/>
            </a:pPr>
            <a:r>
              <a:rPr lang="en-US" sz="1700" b="1" dirty="0">
                <a:solidFill>
                  <a:srgbClr val="082F5B"/>
                </a:solidFill>
                <a:latin typeface="Aptos Display" pitchFamily="34" charset="0"/>
                <a:ea typeface="Aptos Display" pitchFamily="34" charset="-122"/>
                <a:cs typeface="Aptos Display" pitchFamily="34" charset="-120"/>
              </a:rPr>
              <a:t>Manufacturer association removed.</a:t>
            </a:r>
            <a:endParaRPr lang="en-US" sz="1700" dirty="0"/>
          </a:p>
        </p:txBody>
      </p:sp>
      <p:sp>
        <p:nvSpPr>
          <p:cNvPr id="14" name="Text 12"/>
          <p:cNvSpPr/>
          <p:nvPr/>
        </p:nvSpPr>
        <p:spPr>
          <a:xfrm>
            <a:off x="777240" y="4389120"/>
            <a:ext cx="3246120" cy="1371600"/>
          </a:xfrm>
          <a:prstGeom prst="rect">
            <a:avLst/>
          </a:prstGeom>
          <a:noFill/>
          <a:ln/>
        </p:spPr>
        <p:txBody>
          <a:bodyPr wrap="square" lIns="0" tIns="0" rIns="0" bIns="0" rtlCol="0" anchor="ctr"/>
          <a:lstStyle/>
          <a:p>
            <a:pPr marL="0" indent="0">
              <a:buNone/>
            </a:pPr>
            <a:r>
              <a:rPr lang="en-US" sz="1300" dirty="0">
                <a:solidFill>
                  <a:srgbClr val="1A2330"/>
                </a:solidFill>
                <a:latin typeface="Aptos" pitchFamily="34" charset="0"/>
                <a:ea typeface="Aptos" pitchFamily="34" charset="-122"/>
                <a:cs typeface="Aptos" pitchFamily="34" charset="-120"/>
              </a:rPr>
              <a:t>Residualized  p = 0.53</a:t>
            </a:r>
            <a:endParaRPr lang="en-US" sz="1300" dirty="0"/>
          </a:p>
          <a:p>
            <a:pPr marL="0" indent="0">
              <a:buNone/>
            </a:pPr>
            <a:r>
              <a:rPr lang="en-US" sz="1300" dirty="0">
                <a:solidFill>
                  <a:srgbClr val="1A2330"/>
                </a:solidFill>
                <a:latin typeface="Aptos" pitchFamily="34" charset="0"/>
                <a:ea typeface="Aptos" pitchFamily="34" charset="-122"/>
                <a:cs typeface="Aptos" pitchFamily="34" charset="-120"/>
              </a:rPr>
              <a:t>ComBat  p = 0.18</a:t>
            </a:r>
            <a:endParaRPr lang="en-US" sz="1300" dirty="0"/>
          </a:p>
        </p:txBody>
      </p:sp>
      <p:sp>
        <p:nvSpPr>
          <p:cNvPr id="15" name="Shape 13"/>
          <p:cNvSpPr/>
          <p:nvPr/>
        </p:nvSpPr>
        <p:spPr>
          <a:xfrm>
            <a:off x="4398264" y="2011680"/>
            <a:ext cx="3703320" cy="3840480"/>
          </a:xfrm>
          <a:prstGeom prst="rect">
            <a:avLst/>
          </a:prstGeom>
          <a:solidFill>
            <a:srgbClr val="F4F6FA"/>
          </a:solidFill>
          <a:ln/>
        </p:spPr>
        <p:txBody>
          <a:bodyPr/>
          <a:lstStyle/>
          <a:p>
            <a:endParaRPr lang="en-GB"/>
          </a:p>
        </p:txBody>
      </p:sp>
      <p:sp>
        <p:nvSpPr>
          <p:cNvPr id="16" name="Shape 14"/>
          <p:cNvSpPr/>
          <p:nvPr/>
        </p:nvSpPr>
        <p:spPr>
          <a:xfrm>
            <a:off x="4398264" y="2011680"/>
            <a:ext cx="3703320" cy="73152"/>
          </a:xfrm>
          <a:prstGeom prst="rect">
            <a:avLst/>
          </a:prstGeom>
          <a:solidFill>
            <a:srgbClr val="4E78A0"/>
          </a:solidFill>
          <a:ln/>
        </p:spPr>
        <p:txBody>
          <a:bodyPr/>
          <a:lstStyle/>
          <a:p>
            <a:endParaRPr lang="en-GB"/>
          </a:p>
        </p:txBody>
      </p:sp>
      <p:sp>
        <p:nvSpPr>
          <p:cNvPr id="17" name="Text 15"/>
          <p:cNvSpPr/>
          <p:nvPr/>
        </p:nvSpPr>
        <p:spPr>
          <a:xfrm>
            <a:off x="4626864" y="2286000"/>
            <a:ext cx="548640" cy="594360"/>
          </a:xfrm>
          <a:prstGeom prst="rect">
            <a:avLst/>
          </a:prstGeom>
          <a:noFill/>
          <a:ln/>
        </p:spPr>
        <p:txBody>
          <a:bodyPr wrap="square" lIns="0" tIns="0" rIns="0" bIns="0" rtlCol="0" anchor="ctr"/>
          <a:lstStyle/>
          <a:p>
            <a:pPr marL="0" indent="0">
              <a:buNone/>
            </a:pPr>
            <a:r>
              <a:rPr lang="en-US" sz="3800" b="1" dirty="0">
                <a:solidFill>
                  <a:srgbClr val="4E78A0"/>
                </a:solidFill>
                <a:latin typeface="Aptos Display" pitchFamily="34" charset="0"/>
                <a:ea typeface="Aptos Display" pitchFamily="34" charset="-122"/>
                <a:cs typeface="Aptos Display" pitchFamily="34" charset="-120"/>
              </a:rPr>
              <a:t>2</a:t>
            </a:r>
            <a:endParaRPr lang="en-US" sz="3800" dirty="0"/>
          </a:p>
        </p:txBody>
      </p:sp>
      <p:sp>
        <p:nvSpPr>
          <p:cNvPr id="18" name="Text 16"/>
          <p:cNvSpPr/>
          <p:nvPr/>
        </p:nvSpPr>
        <p:spPr>
          <a:xfrm>
            <a:off x="5312664" y="2377440"/>
            <a:ext cx="2606040" cy="36576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SIZE-LINKED</a:t>
            </a:r>
            <a:endParaRPr lang="en-US" sz="1000" dirty="0"/>
          </a:p>
        </p:txBody>
      </p:sp>
      <p:sp>
        <p:nvSpPr>
          <p:cNvPr id="19" name="Text 17"/>
          <p:cNvSpPr/>
          <p:nvPr/>
        </p:nvSpPr>
        <p:spPr>
          <a:xfrm>
            <a:off x="4626864" y="3200400"/>
            <a:ext cx="3246120" cy="1005840"/>
          </a:xfrm>
          <a:prstGeom prst="rect">
            <a:avLst/>
          </a:prstGeom>
          <a:noFill/>
          <a:ln/>
        </p:spPr>
        <p:txBody>
          <a:bodyPr wrap="square" lIns="0" tIns="0" rIns="0" bIns="0" rtlCol="0" anchor="ctr"/>
          <a:lstStyle/>
          <a:p>
            <a:pPr marL="0" indent="0">
              <a:buNone/>
            </a:pPr>
            <a:r>
              <a:rPr lang="en-US" sz="1700" b="1" dirty="0">
                <a:solidFill>
                  <a:srgbClr val="082F5B"/>
                </a:solidFill>
                <a:latin typeface="Aptos Display" pitchFamily="34" charset="0"/>
                <a:ea typeface="Aptos Display" pitchFamily="34" charset="-122"/>
                <a:cs typeface="Aptos Display" pitchFamily="34" charset="-120"/>
              </a:rPr>
              <a:t>Strongest association is with tumour size.</a:t>
            </a:r>
            <a:endParaRPr lang="en-US" sz="1700" dirty="0"/>
          </a:p>
        </p:txBody>
      </p:sp>
      <p:sp>
        <p:nvSpPr>
          <p:cNvPr id="20" name="Text 18"/>
          <p:cNvSpPr/>
          <p:nvPr/>
        </p:nvSpPr>
        <p:spPr>
          <a:xfrm>
            <a:off x="4626864" y="4389120"/>
            <a:ext cx="3246120" cy="1371600"/>
          </a:xfrm>
          <a:prstGeom prst="rect">
            <a:avLst/>
          </a:prstGeom>
          <a:noFill/>
          <a:ln/>
        </p:spPr>
        <p:txBody>
          <a:bodyPr wrap="square" lIns="0" tIns="0" rIns="0" bIns="0" rtlCol="0" anchor="ctr"/>
          <a:lstStyle/>
          <a:p>
            <a:pPr marL="0" indent="0">
              <a:buNone/>
            </a:pPr>
            <a:r>
              <a:rPr lang="en-US" sz="1300" dirty="0">
                <a:solidFill>
                  <a:srgbClr val="1A2330"/>
                </a:solidFill>
                <a:latin typeface="Aptos" pitchFamily="34" charset="0"/>
                <a:ea typeface="Aptos" pitchFamily="34" charset="-122"/>
                <a:cs typeface="Aptos" pitchFamily="34" charset="-120"/>
              </a:rPr>
              <a:t>Bounding-box volume</a:t>
            </a:r>
            <a:endParaRPr lang="en-US" sz="1300" dirty="0"/>
          </a:p>
          <a:p>
            <a:pPr marL="0" indent="0">
              <a:buNone/>
            </a:pPr>
            <a:r>
              <a:rPr lang="en-US" sz="1300" dirty="0">
                <a:solidFill>
                  <a:srgbClr val="1A2330"/>
                </a:solidFill>
                <a:latin typeface="Aptos" pitchFamily="34" charset="0"/>
                <a:ea typeface="Aptos" pitchFamily="34" charset="-122"/>
                <a:cs typeface="Aptos" pitchFamily="34" charset="-120"/>
              </a:rPr>
              <a:t>p  ≈  10⁻²⁶</a:t>
            </a:r>
            <a:endParaRPr lang="en-US" sz="1300" dirty="0"/>
          </a:p>
        </p:txBody>
      </p:sp>
      <p:sp>
        <p:nvSpPr>
          <p:cNvPr id="21" name="Shape 19"/>
          <p:cNvSpPr/>
          <p:nvPr/>
        </p:nvSpPr>
        <p:spPr>
          <a:xfrm>
            <a:off x="8247888" y="2011680"/>
            <a:ext cx="3703320" cy="3840480"/>
          </a:xfrm>
          <a:prstGeom prst="rect">
            <a:avLst/>
          </a:prstGeom>
          <a:solidFill>
            <a:srgbClr val="F4F6FA"/>
          </a:solidFill>
          <a:ln/>
        </p:spPr>
        <p:txBody>
          <a:bodyPr/>
          <a:lstStyle/>
          <a:p>
            <a:endParaRPr lang="en-GB"/>
          </a:p>
        </p:txBody>
      </p:sp>
      <p:sp>
        <p:nvSpPr>
          <p:cNvPr id="22" name="Shape 20"/>
          <p:cNvSpPr/>
          <p:nvPr/>
        </p:nvSpPr>
        <p:spPr>
          <a:xfrm>
            <a:off x="8247888" y="2011680"/>
            <a:ext cx="3703320" cy="73152"/>
          </a:xfrm>
          <a:prstGeom prst="rect">
            <a:avLst/>
          </a:prstGeom>
          <a:solidFill>
            <a:srgbClr val="B33C3C"/>
          </a:solidFill>
          <a:ln/>
        </p:spPr>
        <p:txBody>
          <a:bodyPr/>
          <a:lstStyle/>
          <a:p>
            <a:endParaRPr lang="en-GB"/>
          </a:p>
        </p:txBody>
      </p:sp>
      <p:sp>
        <p:nvSpPr>
          <p:cNvPr id="23" name="Text 21"/>
          <p:cNvSpPr/>
          <p:nvPr/>
        </p:nvSpPr>
        <p:spPr>
          <a:xfrm>
            <a:off x="8476488" y="2286000"/>
            <a:ext cx="548640" cy="594360"/>
          </a:xfrm>
          <a:prstGeom prst="rect">
            <a:avLst/>
          </a:prstGeom>
          <a:noFill/>
          <a:ln/>
        </p:spPr>
        <p:txBody>
          <a:bodyPr wrap="square" lIns="0" tIns="0" rIns="0" bIns="0" rtlCol="0" anchor="ctr"/>
          <a:lstStyle/>
          <a:p>
            <a:pPr marL="0" indent="0">
              <a:buNone/>
            </a:pPr>
            <a:r>
              <a:rPr lang="en-US" sz="3800" b="1" dirty="0">
                <a:solidFill>
                  <a:srgbClr val="B33C3C"/>
                </a:solidFill>
                <a:latin typeface="Aptos Display" pitchFamily="34" charset="0"/>
                <a:ea typeface="Aptos Display" pitchFamily="34" charset="-122"/>
                <a:cs typeface="Aptos Display" pitchFamily="34" charset="-120"/>
              </a:rPr>
              <a:t>3</a:t>
            </a:r>
            <a:endParaRPr lang="en-US" sz="3800" dirty="0"/>
          </a:p>
        </p:txBody>
      </p:sp>
      <p:sp>
        <p:nvSpPr>
          <p:cNvPr id="24" name="Text 22"/>
          <p:cNvSpPr/>
          <p:nvPr/>
        </p:nvSpPr>
        <p:spPr>
          <a:xfrm>
            <a:off x="9162288" y="2377440"/>
            <a:ext cx="2606040" cy="365760"/>
          </a:xfrm>
          <a:prstGeom prst="rect">
            <a:avLst/>
          </a:prstGeom>
          <a:noFill/>
          <a:ln/>
        </p:spPr>
        <p:txBody>
          <a:bodyPr wrap="square" lIns="0" tIns="0" rIns="0" bIns="0" rtlCol="0" anchor="ctr"/>
          <a:lstStyle/>
          <a:p>
            <a:pPr marL="0" indent="0">
              <a:buNone/>
            </a:pPr>
            <a:r>
              <a:rPr lang="en-US" sz="1000" b="1" kern="0" spc="400" dirty="0">
                <a:solidFill>
                  <a:srgbClr val="B33C3C"/>
                </a:solidFill>
                <a:latin typeface="Aptos" pitchFamily="34" charset="0"/>
                <a:ea typeface="Aptos" pitchFamily="34" charset="-122"/>
                <a:cs typeface="Aptos" pitchFamily="34" charset="-120"/>
              </a:rPr>
              <a:t>NOT VALIDATED</a:t>
            </a:r>
            <a:endParaRPr lang="en-US" sz="1000" dirty="0"/>
          </a:p>
        </p:txBody>
      </p:sp>
      <p:sp>
        <p:nvSpPr>
          <p:cNvPr id="25" name="Text 23"/>
          <p:cNvSpPr/>
          <p:nvPr/>
        </p:nvSpPr>
        <p:spPr>
          <a:xfrm>
            <a:off x="8476488" y="3200400"/>
            <a:ext cx="3246120" cy="1005840"/>
          </a:xfrm>
          <a:prstGeom prst="rect">
            <a:avLst/>
          </a:prstGeom>
          <a:noFill/>
          <a:ln/>
        </p:spPr>
        <p:txBody>
          <a:bodyPr wrap="square" lIns="0" tIns="0" rIns="0" bIns="0" rtlCol="0" anchor="ctr"/>
          <a:lstStyle/>
          <a:p>
            <a:pPr marL="0" indent="0">
              <a:buNone/>
            </a:pPr>
            <a:r>
              <a:rPr lang="en-US" sz="1700" b="1" dirty="0">
                <a:solidFill>
                  <a:srgbClr val="082F5B"/>
                </a:solidFill>
                <a:latin typeface="Aptos Display" pitchFamily="34" charset="0"/>
                <a:ea typeface="Aptos Display" pitchFamily="34" charset="-122"/>
                <a:cs typeface="Aptos Display" pitchFamily="34" charset="-120"/>
              </a:rPr>
              <a:t>No robust subtype or recurrence association.</a:t>
            </a:r>
            <a:endParaRPr lang="en-US" sz="1700" dirty="0"/>
          </a:p>
        </p:txBody>
      </p:sp>
      <p:sp>
        <p:nvSpPr>
          <p:cNvPr id="26" name="Text 24"/>
          <p:cNvSpPr/>
          <p:nvPr/>
        </p:nvSpPr>
        <p:spPr>
          <a:xfrm>
            <a:off x="8476488" y="4389120"/>
            <a:ext cx="3246120" cy="1371600"/>
          </a:xfrm>
          <a:prstGeom prst="rect">
            <a:avLst/>
          </a:prstGeom>
          <a:noFill/>
          <a:ln/>
        </p:spPr>
        <p:txBody>
          <a:bodyPr wrap="square" lIns="0" tIns="0" rIns="0" bIns="0" rtlCol="0" anchor="ctr"/>
          <a:lstStyle/>
          <a:p>
            <a:pPr marL="0" indent="0">
              <a:buNone/>
            </a:pPr>
            <a:r>
              <a:rPr lang="en-US" sz="1300" dirty="0">
                <a:solidFill>
                  <a:srgbClr val="1A2330"/>
                </a:solidFill>
                <a:latin typeface="Aptos" pitchFamily="34" charset="0"/>
                <a:ea typeface="Aptos" pitchFamily="34" charset="-122"/>
                <a:cs typeface="Aptos" pitchFamily="34" charset="-120"/>
              </a:rPr>
              <a:t>Subtype  p ≥ 0.7</a:t>
            </a:r>
            <a:endParaRPr lang="en-US" sz="1300" dirty="0"/>
          </a:p>
          <a:p>
            <a:pPr marL="0" indent="0">
              <a:buNone/>
            </a:pPr>
            <a:r>
              <a:rPr lang="en-US" sz="1300" dirty="0">
                <a:solidFill>
                  <a:srgbClr val="1A2330"/>
                </a:solidFill>
                <a:latin typeface="Aptos" pitchFamily="34" charset="0"/>
                <a:ea typeface="Aptos" pitchFamily="34" charset="-122"/>
                <a:cs typeface="Aptos" pitchFamily="34" charset="-120"/>
              </a:rPr>
              <a:t>Recurrence  p ≈ 0.05 – 0.07  (borderline)</a:t>
            </a:r>
            <a:endParaRPr lang="en-US" sz="1300" dirty="0"/>
          </a:p>
        </p:txBody>
      </p:sp>
      <p:sp>
        <p:nvSpPr>
          <p:cNvPr id="27" name="Text 25"/>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The residual structure is statistically cleaner — but biologically unvalidated.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082F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9DB3CC"/>
          </a:solidFill>
          <a:ln/>
        </p:spPr>
        <p:txBody>
          <a:bodyPr/>
          <a:lstStyle/>
          <a:p>
            <a:endParaRPr lang="en-GB"/>
          </a:p>
        </p:txBody>
      </p:sp>
      <p:sp>
        <p:nvSpPr>
          <p:cNvPr id="3" name="Text 1"/>
          <p:cNvSpPr/>
          <p:nvPr/>
        </p:nvSpPr>
        <p:spPr>
          <a:xfrm>
            <a:off x="548640" y="365760"/>
            <a:ext cx="7315200" cy="274320"/>
          </a:xfrm>
          <a:prstGeom prst="rect">
            <a:avLst/>
          </a:prstGeom>
          <a:noFill/>
          <a:ln/>
        </p:spPr>
        <p:txBody>
          <a:bodyPr wrap="square" lIns="0" tIns="0" rIns="0" bIns="0" rtlCol="0" anchor="ctr"/>
          <a:lstStyle/>
          <a:p>
            <a:pPr marL="0" indent="0">
              <a:buNone/>
            </a:pPr>
            <a:r>
              <a:rPr lang="en-US" sz="1000" b="1" kern="0" spc="400" dirty="0">
                <a:solidFill>
                  <a:srgbClr val="9DB3CC"/>
                </a:solidFill>
                <a:latin typeface="Aptos" pitchFamily="34" charset="0"/>
                <a:ea typeface="Aptos" pitchFamily="34" charset="-122"/>
                <a:cs typeface="Aptos" pitchFamily="34" charset="-120"/>
              </a:rPr>
              <a:t>11  ·  CONCLUSION</a:t>
            </a:r>
            <a:endParaRPr lang="en-US" sz="1000" dirty="0"/>
          </a:p>
        </p:txBody>
      </p:sp>
      <p:sp>
        <p:nvSpPr>
          <p:cNvPr id="4" name="Shape 2"/>
          <p:cNvSpPr/>
          <p:nvPr/>
        </p:nvSpPr>
        <p:spPr>
          <a:xfrm>
            <a:off x="548640" y="1051560"/>
            <a:ext cx="731520" cy="45720"/>
          </a:xfrm>
          <a:prstGeom prst="rect">
            <a:avLst/>
          </a:prstGeom>
          <a:solidFill>
            <a:srgbClr val="B33C3C"/>
          </a:solidFill>
          <a:ln/>
        </p:spPr>
        <p:txBody>
          <a:bodyPr/>
          <a:lstStyle/>
          <a:p>
            <a:endParaRPr lang="en-GB"/>
          </a:p>
        </p:txBody>
      </p:sp>
      <p:sp>
        <p:nvSpPr>
          <p:cNvPr id="5" name="Text 3"/>
          <p:cNvSpPr/>
          <p:nvPr/>
        </p:nvSpPr>
        <p:spPr>
          <a:xfrm>
            <a:off x="548640" y="1280160"/>
            <a:ext cx="11155680" cy="1188720"/>
          </a:xfrm>
          <a:prstGeom prst="rect">
            <a:avLst/>
          </a:prstGeom>
          <a:noFill/>
          <a:ln/>
        </p:spPr>
        <p:txBody>
          <a:bodyPr wrap="square" lIns="0" tIns="0" rIns="0" bIns="0" rtlCol="0" anchor="ctr"/>
          <a:lstStyle/>
          <a:p>
            <a:pPr marL="0" indent="0">
              <a:buNone/>
            </a:pPr>
            <a:r>
              <a:rPr lang="en-US" sz="4400" b="1" dirty="0">
                <a:solidFill>
                  <a:srgbClr val="FFFFFF"/>
                </a:solidFill>
                <a:latin typeface="Aptos Display" pitchFamily="34" charset="0"/>
                <a:ea typeface="Aptos Display" pitchFamily="34" charset="-122"/>
                <a:cs typeface="Aptos Display" pitchFamily="34" charset="-120"/>
              </a:rPr>
              <a:t>The negative result is the result.</a:t>
            </a:r>
            <a:endParaRPr lang="en-US" sz="4400" dirty="0"/>
          </a:p>
        </p:txBody>
      </p:sp>
      <p:sp>
        <p:nvSpPr>
          <p:cNvPr id="6" name="Text 4"/>
          <p:cNvSpPr/>
          <p:nvPr/>
        </p:nvSpPr>
        <p:spPr>
          <a:xfrm>
            <a:off x="548640" y="2926080"/>
            <a:ext cx="11064240" cy="1828800"/>
          </a:xfrm>
          <a:prstGeom prst="rect">
            <a:avLst/>
          </a:prstGeom>
          <a:noFill/>
          <a:ln/>
        </p:spPr>
        <p:txBody>
          <a:bodyPr wrap="square" lIns="0" tIns="0" rIns="0" bIns="0" rtlCol="0" anchor="ctr"/>
          <a:lstStyle/>
          <a:p>
            <a:pPr marL="0" indent="0">
              <a:buNone/>
            </a:pPr>
            <a:r>
              <a:rPr lang="en-US" sz="2200" dirty="0">
                <a:solidFill>
                  <a:srgbClr val="CDD9EA"/>
                </a:solidFill>
                <a:latin typeface="Aptos Display" pitchFamily="34" charset="0"/>
                <a:ea typeface="Aptos Display" pitchFamily="34" charset="-122"/>
                <a:cs typeface="Aptos Display" pitchFamily="34" charset="-120"/>
              </a:rPr>
              <a:t>A radiomic partition can be internally stable, visually coherent, and apparently prognostic — while failing to represent a biological subgroup.</a:t>
            </a:r>
            <a:endParaRPr lang="en-US" sz="2200" dirty="0"/>
          </a:p>
        </p:txBody>
      </p:sp>
      <p:sp>
        <p:nvSpPr>
          <p:cNvPr id="7" name="Text 5"/>
          <p:cNvSpPr/>
          <p:nvPr/>
        </p:nvSpPr>
        <p:spPr>
          <a:xfrm>
            <a:off x="548640" y="5212080"/>
            <a:ext cx="11064240" cy="822960"/>
          </a:xfrm>
          <a:prstGeom prst="rect">
            <a:avLst/>
          </a:prstGeom>
          <a:noFill/>
          <a:ln/>
        </p:spPr>
        <p:txBody>
          <a:bodyPr wrap="square" lIns="0" tIns="0" rIns="0" bIns="0" rtlCol="0" anchor="ctr"/>
          <a:lstStyle/>
          <a:p>
            <a:pPr marL="0" indent="0">
              <a:buNone/>
            </a:pPr>
            <a:r>
              <a:rPr lang="en-US" sz="2000" b="1" i="1" dirty="0">
                <a:solidFill>
                  <a:srgbClr val="FFFFFF"/>
                </a:solidFill>
                <a:latin typeface="Aptos Display" pitchFamily="34" charset="0"/>
                <a:ea typeface="Aptos Display" pitchFamily="34" charset="-122"/>
                <a:cs typeface="Aptos Display" pitchFamily="34" charset="-120"/>
              </a:rPr>
              <a:t>The discovery is not the raw phenotype. The discovery is the failure mode.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12  ·  RECOMMENDATIONS</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A PROPOSED MINIMUM STANDARD</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Before calling a cluster a phenotype, stress-test it.</a:t>
            </a:r>
            <a:endParaRPr lang="en-US" sz="2800" dirty="0"/>
          </a:p>
        </p:txBody>
      </p:sp>
      <p:sp>
        <p:nvSpPr>
          <p:cNvPr id="9" name="Shape 7"/>
          <p:cNvSpPr/>
          <p:nvPr/>
        </p:nvSpPr>
        <p:spPr>
          <a:xfrm>
            <a:off x="548640" y="2011680"/>
            <a:ext cx="5486400" cy="1783080"/>
          </a:xfrm>
          <a:prstGeom prst="rect">
            <a:avLst/>
          </a:prstGeom>
          <a:solidFill>
            <a:srgbClr val="F4F6FA"/>
          </a:solidFill>
          <a:ln/>
        </p:spPr>
        <p:txBody>
          <a:bodyPr/>
          <a:lstStyle/>
          <a:p>
            <a:endParaRPr lang="en-GB"/>
          </a:p>
        </p:txBody>
      </p:sp>
      <p:sp>
        <p:nvSpPr>
          <p:cNvPr id="10" name="Shape 8"/>
          <p:cNvSpPr/>
          <p:nvPr/>
        </p:nvSpPr>
        <p:spPr>
          <a:xfrm>
            <a:off x="548640" y="2011680"/>
            <a:ext cx="73152" cy="1783080"/>
          </a:xfrm>
          <a:prstGeom prst="rect">
            <a:avLst/>
          </a:prstGeom>
          <a:solidFill>
            <a:srgbClr val="0B4F94"/>
          </a:solidFill>
          <a:ln/>
        </p:spPr>
        <p:txBody>
          <a:bodyPr/>
          <a:lstStyle/>
          <a:p>
            <a:endParaRPr lang="en-GB"/>
          </a:p>
        </p:txBody>
      </p:sp>
      <p:sp>
        <p:nvSpPr>
          <p:cNvPr id="11" name="Text 9"/>
          <p:cNvSpPr/>
          <p:nvPr/>
        </p:nvSpPr>
        <p:spPr>
          <a:xfrm>
            <a:off x="822960" y="2194560"/>
            <a:ext cx="914400" cy="274320"/>
          </a:xfrm>
          <a:prstGeom prst="rect">
            <a:avLst/>
          </a:prstGeom>
          <a:noFill/>
          <a:ln/>
        </p:spPr>
        <p:txBody>
          <a:bodyPr wrap="square" lIns="0" tIns="0" rIns="0" bIns="0" rtlCol="0" anchor="ctr"/>
          <a:lstStyle/>
          <a:p>
            <a:pPr marL="0" indent="0">
              <a:buNone/>
            </a:pPr>
            <a:r>
              <a:rPr lang="en-US" sz="1000" b="1" kern="0" spc="400" dirty="0">
                <a:solidFill>
                  <a:srgbClr val="0B4F94"/>
                </a:solidFill>
                <a:latin typeface="Aptos" pitchFamily="34" charset="0"/>
                <a:ea typeface="Aptos" pitchFamily="34" charset="-122"/>
                <a:cs typeface="Aptos" pitchFamily="34" charset="-120"/>
              </a:rPr>
              <a:t>01</a:t>
            </a:r>
            <a:endParaRPr lang="en-US" sz="1000" dirty="0"/>
          </a:p>
        </p:txBody>
      </p:sp>
      <p:sp>
        <p:nvSpPr>
          <p:cNvPr id="12" name="Text 10"/>
          <p:cNvSpPr/>
          <p:nvPr/>
        </p:nvSpPr>
        <p:spPr>
          <a:xfrm>
            <a:off x="822960" y="2468880"/>
            <a:ext cx="5029200" cy="502920"/>
          </a:xfrm>
          <a:prstGeom prst="rect">
            <a:avLst/>
          </a:prstGeom>
          <a:noFill/>
          <a:ln/>
        </p:spPr>
        <p:txBody>
          <a:bodyPr wrap="square" lIns="0" tIns="0" rIns="0" bIns="0" rtlCol="0" anchor="ctr"/>
          <a:lstStyle/>
          <a:p>
            <a:pPr marL="0" indent="0">
              <a:buNone/>
            </a:pPr>
            <a:r>
              <a:rPr lang="en-US" sz="1800" b="1" dirty="0">
                <a:solidFill>
                  <a:srgbClr val="082F5B"/>
                </a:solidFill>
                <a:latin typeface="Aptos Display" pitchFamily="34" charset="0"/>
                <a:ea typeface="Aptos Display" pitchFamily="34" charset="-122"/>
                <a:cs typeface="Aptos Display" pitchFamily="34" charset="-120"/>
              </a:rPr>
              <a:t>Multi-condition discovery</a:t>
            </a:r>
            <a:endParaRPr lang="en-US" sz="1800" dirty="0"/>
          </a:p>
        </p:txBody>
      </p:sp>
      <p:sp>
        <p:nvSpPr>
          <p:cNvPr id="13" name="Text 11"/>
          <p:cNvSpPr/>
          <p:nvPr/>
        </p:nvSpPr>
        <p:spPr>
          <a:xfrm>
            <a:off x="822960" y="3017520"/>
            <a:ext cx="5029200" cy="77724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Repeat discovery across raw, residualized, ComBat-harmonized, and vendor-restricted conditions.</a:t>
            </a:r>
            <a:endParaRPr lang="en-US" sz="1200" dirty="0"/>
          </a:p>
        </p:txBody>
      </p:sp>
      <p:sp>
        <p:nvSpPr>
          <p:cNvPr id="14" name="Shape 12"/>
          <p:cNvSpPr/>
          <p:nvPr/>
        </p:nvSpPr>
        <p:spPr>
          <a:xfrm>
            <a:off x="6172200" y="2011680"/>
            <a:ext cx="5486400" cy="1783080"/>
          </a:xfrm>
          <a:prstGeom prst="rect">
            <a:avLst/>
          </a:prstGeom>
          <a:solidFill>
            <a:srgbClr val="F4F6FA"/>
          </a:solidFill>
          <a:ln/>
        </p:spPr>
        <p:txBody>
          <a:bodyPr/>
          <a:lstStyle/>
          <a:p>
            <a:endParaRPr lang="en-GB"/>
          </a:p>
        </p:txBody>
      </p:sp>
      <p:sp>
        <p:nvSpPr>
          <p:cNvPr id="15" name="Shape 13"/>
          <p:cNvSpPr/>
          <p:nvPr/>
        </p:nvSpPr>
        <p:spPr>
          <a:xfrm>
            <a:off x="6172200" y="2011680"/>
            <a:ext cx="73152" cy="1783080"/>
          </a:xfrm>
          <a:prstGeom prst="rect">
            <a:avLst/>
          </a:prstGeom>
          <a:solidFill>
            <a:srgbClr val="0B4F94"/>
          </a:solidFill>
          <a:ln/>
        </p:spPr>
        <p:txBody>
          <a:bodyPr/>
          <a:lstStyle/>
          <a:p>
            <a:endParaRPr lang="en-GB"/>
          </a:p>
        </p:txBody>
      </p:sp>
      <p:sp>
        <p:nvSpPr>
          <p:cNvPr id="16" name="Text 14"/>
          <p:cNvSpPr/>
          <p:nvPr/>
        </p:nvSpPr>
        <p:spPr>
          <a:xfrm>
            <a:off x="6446520" y="2194560"/>
            <a:ext cx="914400" cy="274320"/>
          </a:xfrm>
          <a:prstGeom prst="rect">
            <a:avLst/>
          </a:prstGeom>
          <a:noFill/>
          <a:ln/>
        </p:spPr>
        <p:txBody>
          <a:bodyPr wrap="square" lIns="0" tIns="0" rIns="0" bIns="0" rtlCol="0" anchor="ctr"/>
          <a:lstStyle/>
          <a:p>
            <a:pPr marL="0" indent="0">
              <a:buNone/>
            </a:pPr>
            <a:r>
              <a:rPr lang="en-US" sz="1000" b="1" kern="0" spc="400" dirty="0">
                <a:solidFill>
                  <a:srgbClr val="0B4F94"/>
                </a:solidFill>
                <a:latin typeface="Aptos" pitchFamily="34" charset="0"/>
                <a:ea typeface="Aptos" pitchFamily="34" charset="-122"/>
                <a:cs typeface="Aptos" pitchFamily="34" charset="-120"/>
              </a:rPr>
              <a:t>02</a:t>
            </a:r>
            <a:endParaRPr lang="en-US" sz="1000" dirty="0"/>
          </a:p>
        </p:txBody>
      </p:sp>
      <p:sp>
        <p:nvSpPr>
          <p:cNvPr id="17" name="Text 15"/>
          <p:cNvSpPr/>
          <p:nvPr/>
        </p:nvSpPr>
        <p:spPr>
          <a:xfrm>
            <a:off x="6446520" y="2468880"/>
            <a:ext cx="5029200" cy="502920"/>
          </a:xfrm>
          <a:prstGeom prst="rect">
            <a:avLst/>
          </a:prstGeom>
          <a:noFill/>
          <a:ln/>
        </p:spPr>
        <p:txBody>
          <a:bodyPr wrap="square" lIns="0" tIns="0" rIns="0" bIns="0" rtlCol="0" anchor="ctr"/>
          <a:lstStyle/>
          <a:p>
            <a:pPr marL="0" indent="0">
              <a:buNone/>
            </a:pPr>
            <a:r>
              <a:rPr lang="en-US" sz="1800" b="1" dirty="0">
                <a:solidFill>
                  <a:srgbClr val="082F5B"/>
                </a:solidFill>
                <a:latin typeface="Aptos Display" pitchFamily="34" charset="0"/>
                <a:ea typeface="Aptos Display" pitchFamily="34" charset="-122"/>
                <a:cs typeface="Aptos Display" pitchFamily="34" charset="-120"/>
              </a:rPr>
              <a:t>Harmonization sensitivity</a:t>
            </a:r>
            <a:endParaRPr lang="en-US" sz="1800" dirty="0"/>
          </a:p>
        </p:txBody>
      </p:sp>
      <p:sp>
        <p:nvSpPr>
          <p:cNvPr id="18" name="Text 16"/>
          <p:cNvSpPr/>
          <p:nvPr/>
        </p:nvSpPr>
        <p:spPr>
          <a:xfrm>
            <a:off x="6446520" y="3017520"/>
            <a:ext cx="5029200" cy="77724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Repeat the headline clinical test after residualization, ComBat, and manufacturer adjustment.</a:t>
            </a:r>
            <a:endParaRPr lang="en-US" sz="1200" dirty="0"/>
          </a:p>
        </p:txBody>
      </p:sp>
      <p:sp>
        <p:nvSpPr>
          <p:cNvPr id="19" name="Shape 17"/>
          <p:cNvSpPr/>
          <p:nvPr/>
        </p:nvSpPr>
        <p:spPr>
          <a:xfrm>
            <a:off x="548640" y="3959352"/>
            <a:ext cx="5486400" cy="1783080"/>
          </a:xfrm>
          <a:prstGeom prst="rect">
            <a:avLst/>
          </a:prstGeom>
          <a:solidFill>
            <a:srgbClr val="F4F6FA"/>
          </a:solidFill>
          <a:ln/>
        </p:spPr>
        <p:txBody>
          <a:bodyPr/>
          <a:lstStyle/>
          <a:p>
            <a:endParaRPr lang="en-GB"/>
          </a:p>
        </p:txBody>
      </p:sp>
      <p:sp>
        <p:nvSpPr>
          <p:cNvPr id="20" name="Shape 18"/>
          <p:cNvSpPr/>
          <p:nvPr/>
        </p:nvSpPr>
        <p:spPr>
          <a:xfrm>
            <a:off x="548640" y="3959352"/>
            <a:ext cx="73152" cy="1783080"/>
          </a:xfrm>
          <a:prstGeom prst="rect">
            <a:avLst/>
          </a:prstGeom>
          <a:solidFill>
            <a:srgbClr val="0B4F94"/>
          </a:solidFill>
          <a:ln/>
        </p:spPr>
        <p:txBody>
          <a:bodyPr/>
          <a:lstStyle/>
          <a:p>
            <a:endParaRPr lang="en-GB"/>
          </a:p>
        </p:txBody>
      </p:sp>
      <p:sp>
        <p:nvSpPr>
          <p:cNvPr id="21" name="Text 19"/>
          <p:cNvSpPr/>
          <p:nvPr/>
        </p:nvSpPr>
        <p:spPr>
          <a:xfrm>
            <a:off x="822960" y="4142232"/>
            <a:ext cx="914400" cy="274320"/>
          </a:xfrm>
          <a:prstGeom prst="rect">
            <a:avLst/>
          </a:prstGeom>
          <a:noFill/>
          <a:ln/>
        </p:spPr>
        <p:txBody>
          <a:bodyPr wrap="square" lIns="0" tIns="0" rIns="0" bIns="0" rtlCol="0" anchor="ctr"/>
          <a:lstStyle/>
          <a:p>
            <a:pPr marL="0" indent="0">
              <a:buNone/>
            </a:pPr>
            <a:r>
              <a:rPr lang="en-US" sz="1000" b="1" kern="0" spc="400" dirty="0">
                <a:solidFill>
                  <a:srgbClr val="0B4F94"/>
                </a:solidFill>
                <a:latin typeface="Aptos" pitchFamily="34" charset="0"/>
                <a:ea typeface="Aptos" pitchFamily="34" charset="-122"/>
                <a:cs typeface="Aptos" pitchFamily="34" charset="-120"/>
              </a:rPr>
              <a:t>03</a:t>
            </a:r>
            <a:endParaRPr lang="en-US" sz="1000" dirty="0"/>
          </a:p>
        </p:txBody>
      </p:sp>
      <p:sp>
        <p:nvSpPr>
          <p:cNvPr id="22" name="Text 20"/>
          <p:cNvSpPr/>
          <p:nvPr/>
        </p:nvSpPr>
        <p:spPr>
          <a:xfrm>
            <a:off x="822960" y="4416552"/>
            <a:ext cx="5029200" cy="502920"/>
          </a:xfrm>
          <a:prstGeom prst="rect">
            <a:avLst/>
          </a:prstGeom>
          <a:noFill/>
          <a:ln/>
        </p:spPr>
        <p:txBody>
          <a:bodyPr wrap="square" lIns="0" tIns="0" rIns="0" bIns="0" rtlCol="0" anchor="ctr"/>
          <a:lstStyle/>
          <a:p>
            <a:pPr marL="0" indent="0">
              <a:buNone/>
            </a:pPr>
            <a:r>
              <a:rPr lang="en-US" sz="1800" b="1" dirty="0">
                <a:solidFill>
                  <a:srgbClr val="082F5B"/>
                </a:solidFill>
                <a:latin typeface="Aptos Display" pitchFamily="34" charset="0"/>
                <a:ea typeface="Aptos Display" pitchFamily="34" charset="-122"/>
                <a:cs typeface="Aptos Display" pitchFamily="34" charset="-120"/>
              </a:rPr>
              <a:t>Partition identity check</a:t>
            </a:r>
            <a:endParaRPr lang="en-US" sz="1800" dirty="0"/>
          </a:p>
        </p:txBody>
      </p:sp>
      <p:sp>
        <p:nvSpPr>
          <p:cNvPr id="23" name="Text 21"/>
          <p:cNvSpPr/>
          <p:nvPr/>
        </p:nvSpPr>
        <p:spPr>
          <a:xfrm>
            <a:off x="822960" y="4965192"/>
            <a:ext cx="5029200" cy="77724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Report ARI / NMI of harmonized labels versus raw labels — stability is not enough.</a:t>
            </a:r>
            <a:endParaRPr lang="en-US" sz="1200" dirty="0"/>
          </a:p>
        </p:txBody>
      </p:sp>
      <p:sp>
        <p:nvSpPr>
          <p:cNvPr id="24" name="Shape 22"/>
          <p:cNvSpPr/>
          <p:nvPr/>
        </p:nvSpPr>
        <p:spPr>
          <a:xfrm>
            <a:off x="6172200" y="3959352"/>
            <a:ext cx="5486400" cy="1783080"/>
          </a:xfrm>
          <a:prstGeom prst="rect">
            <a:avLst/>
          </a:prstGeom>
          <a:solidFill>
            <a:srgbClr val="F4F6FA"/>
          </a:solidFill>
          <a:ln/>
        </p:spPr>
        <p:txBody>
          <a:bodyPr/>
          <a:lstStyle/>
          <a:p>
            <a:endParaRPr lang="en-GB"/>
          </a:p>
        </p:txBody>
      </p:sp>
      <p:sp>
        <p:nvSpPr>
          <p:cNvPr id="25" name="Shape 23"/>
          <p:cNvSpPr/>
          <p:nvPr/>
        </p:nvSpPr>
        <p:spPr>
          <a:xfrm>
            <a:off x="6172200" y="3959352"/>
            <a:ext cx="73152" cy="1783080"/>
          </a:xfrm>
          <a:prstGeom prst="rect">
            <a:avLst/>
          </a:prstGeom>
          <a:solidFill>
            <a:srgbClr val="0B4F94"/>
          </a:solidFill>
          <a:ln/>
        </p:spPr>
        <p:txBody>
          <a:bodyPr/>
          <a:lstStyle/>
          <a:p>
            <a:endParaRPr lang="en-GB"/>
          </a:p>
        </p:txBody>
      </p:sp>
      <p:sp>
        <p:nvSpPr>
          <p:cNvPr id="26" name="Text 24"/>
          <p:cNvSpPr/>
          <p:nvPr/>
        </p:nvSpPr>
        <p:spPr>
          <a:xfrm>
            <a:off x="6446520" y="4142232"/>
            <a:ext cx="914400" cy="274320"/>
          </a:xfrm>
          <a:prstGeom prst="rect">
            <a:avLst/>
          </a:prstGeom>
          <a:noFill/>
          <a:ln/>
        </p:spPr>
        <p:txBody>
          <a:bodyPr wrap="square" lIns="0" tIns="0" rIns="0" bIns="0" rtlCol="0" anchor="ctr"/>
          <a:lstStyle/>
          <a:p>
            <a:pPr marL="0" indent="0">
              <a:buNone/>
            </a:pPr>
            <a:r>
              <a:rPr lang="en-US" sz="1000" b="1" kern="0" spc="400" dirty="0">
                <a:solidFill>
                  <a:srgbClr val="0B4F94"/>
                </a:solidFill>
                <a:latin typeface="Aptos" pitchFamily="34" charset="0"/>
                <a:ea typeface="Aptos" pitchFamily="34" charset="-122"/>
                <a:cs typeface="Aptos" pitchFamily="34" charset="-120"/>
              </a:rPr>
              <a:t>04</a:t>
            </a:r>
            <a:endParaRPr lang="en-US" sz="1000" dirty="0"/>
          </a:p>
        </p:txBody>
      </p:sp>
      <p:sp>
        <p:nvSpPr>
          <p:cNvPr id="27" name="Text 25"/>
          <p:cNvSpPr/>
          <p:nvPr/>
        </p:nvSpPr>
        <p:spPr>
          <a:xfrm>
            <a:off x="6446520" y="4416552"/>
            <a:ext cx="5029200" cy="502920"/>
          </a:xfrm>
          <a:prstGeom prst="rect">
            <a:avLst/>
          </a:prstGeom>
          <a:noFill/>
          <a:ln/>
        </p:spPr>
        <p:txBody>
          <a:bodyPr wrap="square" lIns="0" tIns="0" rIns="0" bIns="0" rtlCol="0" anchor="ctr"/>
          <a:lstStyle/>
          <a:p>
            <a:pPr marL="0" indent="0">
              <a:buNone/>
            </a:pPr>
            <a:r>
              <a:rPr lang="en-US" sz="1800" b="1" dirty="0">
                <a:solidFill>
                  <a:srgbClr val="082F5B"/>
                </a:solidFill>
                <a:latin typeface="Aptos Display" pitchFamily="34" charset="0"/>
                <a:ea typeface="Aptos Display" pitchFamily="34" charset="-122"/>
                <a:cs typeface="Aptos Display" pitchFamily="34" charset="-120"/>
              </a:rPr>
              <a:t>Within-vendor sanity check</a:t>
            </a:r>
            <a:endParaRPr lang="en-US" sz="1800" dirty="0"/>
          </a:p>
        </p:txBody>
      </p:sp>
      <p:sp>
        <p:nvSpPr>
          <p:cNvPr id="28" name="Text 26"/>
          <p:cNvSpPr/>
          <p:nvPr/>
        </p:nvSpPr>
        <p:spPr>
          <a:xfrm>
            <a:off x="6446520" y="4965192"/>
            <a:ext cx="5029200" cy="777240"/>
          </a:xfrm>
          <a:prstGeom prst="rect">
            <a:avLst/>
          </a:prstGeom>
          <a:noFill/>
          <a:ln/>
        </p:spPr>
        <p:txBody>
          <a:bodyPr wrap="square" lIns="0" tIns="0" rIns="0" bIns="0" rtlCol="0" anchor="ctr"/>
          <a:lstStyle/>
          <a:p>
            <a:pPr marL="0" indent="0">
              <a:buNone/>
            </a:pPr>
            <a:r>
              <a:rPr lang="en-US" sz="1200" dirty="0">
                <a:solidFill>
                  <a:srgbClr val="1A2330"/>
                </a:solidFill>
                <a:latin typeface="Aptos" pitchFamily="34" charset="0"/>
                <a:ea typeface="Aptos" pitchFamily="34" charset="-122"/>
                <a:cs typeface="Aptos" pitchFamily="34" charset="-120"/>
              </a:rPr>
              <a:t>Verify that known biological structure is recoverable when vendor heterogeneity is removed.</a:t>
            </a:r>
            <a:endParaRPr lang="en-US" sz="1200" dirty="0"/>
          </a:p>
        </p:txBody>
      </p:sp>
      <p:sp>
        <p:nvSpPr>
          <p:cNvPr id="29" name="Text 27"/>
          <p:cNvSpPr/>
          <p:nvPr/>
        </p:nvSpPr>
        <p:spPr>
          <a:xfrm>
            <a:off x="548640" y="5989320"/>
            <a:ext cx="11064240" cy="365760"/>
          </a:xfrm>
          <a:prstGeom prst="rect">
            <a:avLst/>
          </a:prstGeom>
          <a:noFill/>
          <a:ln/>
        </p:spPr>
        <p:txBody>
          <a:bodyPr wrap="square" lIns="0" tIns="0" rIns="0" bIns="0" rtlCol="0" anchor="ctr"/>
          <a:lstStyle/>
          <a:p>
            <a:pPr marL="0" indent="0">
              <a:buNone/>
            </a:pPr>
            <a:r>
              <a:rPr lang="en-US" sz="1300" i="1" dirty="0">
                <a:solidFill>
                  <a:srgbClr val="082F5B"/>
                </a:solidFill>
                <a:latin typeface="Aptos" pitchFamily="34" charset="0"/>
                <a:ea typeface="Aptos" pitchFamily="34" charset="-122"/>
                <a:cs typeface="Aptos" pitchFamily="34" charset="-120"/>
              </a:rPr>
              <a:t>Stability should start validation, not end 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13  ·  LIMITATIONS &amp; CONCLUSION</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CLOSING</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Limitations and conclusion.</a:t>
            </a:r>
            <a:endParaRPr lang="en-US" sz="2800" dirty="0"/>
          </a:p>
        </p:txBody>
      </p:sp>
      <p:sp>
        <p:nvSpPr>
          <p:cNvPr id="9" name="Text 7"/>
          <p:cNvSpPr/>
          <p:nvPr/>
        </p:nvSpPr>
        <p:spPr>
          <a:xfrm>
            <a:off x="548640" y="1965960"/>
            <a:ext cx="5394960" cy="274320"/>
          </a:xfrm>
          <a:prstGeom prst="rect">
            <a:avLst/>
          </a:prstGeom>
          <a:noFill/>
          <a:ln/>
        </p:spPr>
        <p:txBody>
          <a:bodyPr wrap="square" lIns="0" tIns="0" rIns="0" bIns="0" rtlCol="0" anchor="ctr"/>
          <a:lstStyle/>
          <a:p>
            <a:pPr marL="0" indent="0">
              <a:buNone/>
            </a:pPr>
            <a:r>
              <a:rPr lang="en-US" sz="1000" b="1" kern="0" spc="400" dirty="0">
                <a:solidFill>
                  <a:srgbClr val="B33C3C"/>
                </a:solidFill>
                <a:latin typeface="Aptos" pitchFamily="34" charset="0"/>
                <a:ea typeface="Aptos" pitchFamily="34" charset="-122"/>
                <a:cs typeface="Aptos" pitchFamily="34" charset="-120"/>
              </a:rPr>
              <a:t>LIMITATIONS</a:t>
            </a:r>
            <a:endParaRPr lang="en-US" sz="1000" dirty="0"/>
          </a:p>
        </p:txBody>
      </p:sp>
      <p:sp>
        <p:nvSpPr>
          <p:cNvPr id="10" name="Text 8"/>
          <p:cNvSpPr/>
          <p:nvPr/>
        </p:nvSpPr>
        <p:spPr>
          <a:xfrm>
            <a:off x="548640" y="2286000"/>
            <a:ext cx="5394960" cy="3657600"/>
          </a:xfrm>
          <a:prstGeom prst="rect">
            <a:avLst/>
          </a:prstGeom>
          <a:noFill/>
          <a:ln/>
        </p:spPr>
        <p:txBody>
          <a:bodyPr wrap="square" lIns="0" tIns="0" rIns="0" bIns="0" rtlCol="0" anchor="ctr"/>
          <a:lstStyle/>
          <a:p>
            <a:pPr marL="0" indent="0">
              <a:spcAft>
                <a:spcPts val="200"/>
              </a:spcAft>
              <a:buNone/>
            </a:pPr>
            <a:r>
              <a:rPr lang="en-US" sz="1200" b="1" dirty="0">
                <a:solidFill>
                  <a:srgbClr val="082F5B"/>
                </a:solidFill>
                <a:latin typeface="Aptos" pitchFamily="34" charset="0"/>
                <a:ea typeface="Aptos" pitchFamily="34" charset="-122"/>
                <a:cs typeface="Aptos" pitchFamily="34" charset="-120"/>
              </a:rPr>
              <a:t>10 events</a:t>
            </a:r>
            <a:r>
              <a:rPr lang="en-US" sz="1200" dirty="0">
                <a:solidFill>
                  <a:srgbClr val="1A2330"/>
                </a:solidFill>
                <a:latin typeface="Aptos" pitchFamily="34" charset="0"/>
                <a:ea typeface="Aptos" pitchFamily="34" charset="-122"/>
                <a:cs typeface="Aptos" pitchFamily="34" charset="-120"/>
              </a:rPr>
              <a:t> in the HR+/HER2+ subgroup — wide confidence intervals.</a:t>
            </a:r>
            <a:endParaRPr lang="en-US" sz="1200" dirty="0"/>
          </a:p>
          <a:p>
            <a:pPr marL="0" indent="0">
              <a:spcAft>
                <a:spcPts val="200"/>
              </a:spcAft>
              <a:buNone/>
            </a:pPr>
            <a:r>
              <a:rPr lang="en-US" sz="400" dirty="0">
                <a:solidFill>
                  <a:srgbClr val="1A2330"/>
                </a:solidFill>
                <a:latin typeface="Aptos" pitchFamily="34" charset="0"/>
                <a:ea typeface="Aptos" pitchFamily="34" charset="-122"/>
                <a:cs typeface="Aptos" pitchFamily="34" charset="-120"/>
              </a:rPr>
              <a:t> </a:t>
            </a:r>
            <a:endParaRPr lang="en-US" sz="1200" dirty="0"/>
          </a:p>
          <a:p>
            <a:pPr marL="0" indent="0">
              <a:spcAft>
                <a:spcPts val="200"/>
              </a:spcAft>
              <a:buNone/>
            </a:pPr>
            <a:r>
              <a:rPr lang="en-US" sz="1200" b="1" dirty="0">
                <a:solidFill>
                  <a:srgbClr val="082F5B"/>
                </a:solidFill>
                <a:latin typeface="Aptos" pitchFamily="34" charset="0"/>
                <a:ea typeface="Aptos" pitchFamily="34" charset="-122"/>
                <a:cs typeface="Aptos" pitchFamily="34" charset="-120"/>
              </a:rPr>
              <a:t>Manufacturer is a proxy</a:t>
            </a:r>
            <a:r>
              <a:rPr lang="en-US" sz="1200" dirty="0">
                <a:solidFill>
                  <a:srgbClr val="1A2330"/>
                </a:solidFill>
                <a:latin typeface="Aptos" pitchFamily="34" charset="0"/>
                <a:ea typeface="Aptos" pitchFamily="34" charset="-122"/>
                <a:cs typeface="Aptos" pitchFamily="34" charset="-120"/>
              </a:rPr>
              <a:t> — TR, TE, matrix, field strength, geometry, coils, reconstruction all co-vary.</a:t>
            </a:r>
            <a:endParaRPr lang="en-US" sz="1200" dirty="0"/>
          </a:p>
          <a:p>
            <a:pPr marL="0" indent="0">
              <a:spcAft>
                <a:spcPts val="200"/>
              </a:spcAft>
              <a:buNone/>
            </a:pPr>
            <a:r>
              <a:rPr lang="en-US" sz="400" dirty="0">
                <a:solidFill>
                  <a:srgbClr val="1A2330"/>
                </a:solidFill>
                <a:latin typeface="Aptos" pitchFamily="34" charset="0"/>
                <a:ea typeface="Aptos" pitchFamily="34" charset="-122"/>
                <a:cs typeface="Aptos" pitchFamily="34" charset="-120"/>
              </a:rPr>
              <a:t> </a:t>
            </a:r>
            <a:endParaRPr lang="en-US" sz="1200" dirty="0"/>
          </a:p>
          <a:p>
            <a:pPr marL="0" indent="0">
              <a:spcAft>
                <a:spcPts val="200"/>
              </a:spcAft>
              <a:buNone/>
            </a:pPr>
            <a:r>
              <a:rPr lang="en-US" sz="1200" b="1" dirty="0">
                <a:solidFill>
                  <a:srgbClr val="082F5B"/>
                </a:solidFill>
                <a:latin typeface="Aptos" pitchFamily="34" charset="0"/>
                <a:ea typeface="Aptos" pitchFamily="34" charset="-122"/>
                <a:cs typeface="Aptos" pitchFamily="34" charset="-120"/>
              </a:rPr>
              <a:t>Feature-domain correction only</a:t>
            </a:r>
            <a:r>
              <a:rPr lang="en-US" sz="1200" dirty="0">
                <a:solidFill>
                  <a:srgbClr val="1A2330"/>
                </a:solidFill>
                <a:latin typeface="Aptos" pitchFamily="34" charset="0"/>
                <a:ea typeface="Aptos" pitchFamily="34" charset="-122"/>
                <a:cs typeface="Aptos" pitchFamily="34" charset="-120"/>
              </a:rPr>
              <a:t> — image-domain harmonization was not available.</a:t>
            </a:r>
            <a:endParaRPr lang="en-US" sz="1200" dirty="0"/>
          </a:p>
          <a:p>
            <a:pPr marL="0" indent="0">
              <a:spcAft>
                <a:spcPts val="200"/>
              </a:spcAft>
              <a:buNone/>
            </a:pPr>
            <a:r>
              <a:rPr lang="en-US" sz="400" dirty="0">
                <a:solidFill>
                  <a:srgbClr val="1A2330"/>
                </a:solidFill>
                <a:latin typeface="Aptos" pitchFamily="34" charset="0"/>
                <a:ea typeface="Aptos" pitchFamily="34" charset="-122"/>
                <a:cs typeface="Aptos" pitchFamily="34" charset="-120"/>
              </a:rPr>
              <a:t> </a:t>
            </a:r>
            <a:endParaRPr lang="en-US" sz="1200" dirty="0"/>
          </a:p>
          <a:p>
            <a:pPr marL="0" indent="0">
              <a:spcAft>
                <a:spcPts val="200"/>
              </a:spcAft>
              <a:buNone/>
            </a:pPr>
            <a:r>
              <a:rPr lang="en-US" sz="1200" b="1" dirty="0">
                <a:solidFill>
                  <a:srgbClr val="082F5B"/>
                </a:solidFill>
                <a:latin typeface="Aptos" pitchFamily="34" charset="0"/>
                <a:ea typeface="Aptos" pitchFamily="34" charset="-122"/>
                <a:cs typeface="Aptos" pitchFamily="34" charset="-120"/>
              </a:rPr>
              <a:t>k-means in PCA space</a:t>
            </a:r>
            <a:r>
              <a:rPr lang="en-US" sz="1200" dirty="0">
                <a:solidFill>
                  <a:srgbClr val="1A2330"/>
                </a:solidFill>
                <a:latin typeface="Aptos" pitchFamily="34" charset="0"/>
                <a:ea typeface="Aptos" pitchFamily="34" charset="-122"/>
                <a:cs typeface="Aptos" pitchFamily="34" charset="-120"/>
              </a:rPr>
              <a:t> is transparent but not exhaustive.</a:t>
            </a:r>
            <a:endParaRPr lang="en-US" sz="1200" dirty="0"/>
          </a:p>
          <a:p>
            <a:pPr marL="0" indent="0">
              <a:spcAft>
                <a:spcPts val="200"/>
              </a:spcAft>
              <a:buNone/>
            </a:pPr>
            <a:r>
              <a:rPr lang="en-US" sz="400" dirty="0">
                <a:solidFill>
                  <a:srgbClr val="1A2330"/>
                </a:solidFill>
                <a:latin typeface="Aptos" pitchFamily="34" charset="0"/>
                <a:ea typeface="Aptos" pitchFamily="34" charset="-122"/>
                <a:cs typeface="Aptos" pitchFamily="34" charset="-120"/>
              </a:rPr>
              <a:t> </a:t>
            </a:r>
            <a:endParaRPr lang="en-US" sz="1200" dirty="0"/>
          </a:p>
          <a:p>
            <a:pPr marL="0" indent="0">
              <a:spcAft>
                <a:spcPts val="200"/>
              </a:spcAft>
              <a:buNone/>
            </a:pPr>
            <a:r>
              <a:rPr lang="en-US" sz="1200" b="1" dirty="0">
                <a:solidFill>
                  <a:srgbClr val="082F5B"/>
                </a:solidFill>
                <a:latin typeface="Aptos" pitchFamily="34" charset="0"/>
                <a:ea typeface="Aptos" pitchFamily="34" charset="-122"/>
                <a:cs typeface="Aptos" pitchFamily="34" charset="-120"/>
              </a:rPr>
              <a:t>Harmonization is not ground truth</a:t>
            </a:r>
            <a:r>
              <a:rPr lang="en-US" sz="1200" dirty="0">
                <a:solidFill>
                  <a:srgbClr val="1A2330"/>
                </a:solidFill>
                <a:latin typeface="Aptos" pitchFamily="34" charset="0"/>
                <a:ea typeface="Aptos" pitchFamily="34" charset="-122"/>
                <a:cs typeface="Aptos" pitchFamily="34" charset="-120"/>
              </a:rPr>
              <a:t> — treat it as a challenge test, not validation.</a:t>
            </a:r>
            <a:endParaRPr lang="en-US" sz="1200" dirty="0"/>
          </a:p>
        </p:txBody>
      </p:sp>
      <p:sp>
        <p:nvSpPr>
          <p:cNvPr id="11" name="Shape 9"/>
          <p:cNvSpPr/>
          <p:nvPr/>
        </p:nvSpPr>
        <p:spPr>
          <a:xfrm>
            <a:off x="6089904" y="1965960"/>
            <a:ext cx="10973" cy="4023360"/>
          </a:xfrm>
          <a:prstGeom prst="rect">
            <a:avLst/>
          </a:prstGeom>
          <a:solidFill>
            <a:srgbClr val="C9D2DC"/>
          </a:solidFill>
          <a:ln/>
        </p:spPr>
        <p:txBody>
          <a:bodyPr/>
          <a:lstStyle/>
          <a:p>
            <a:endParaRPr lang="en-GB"/>
          </a:p>
        </p:txBody>
      </p:sp>
      <p:sp>
        <p:nvSpPr>
          <p:cNvPr id="12" name="Text 10"/>
          <p:cNvSpPr/>
          <p:nvPr/>
        </p:nvSpPr>
        <p:spPr>
          <a:xfrm>
            <a:off x="6263640" y="1965960"/>
            <a:ext cx="5486400" cy="274320"/>
          </a:xfrm>
          <a:prstGeom prst="rect">
            <a:avLst/>
          </a:prstGeom>
          <a:noFill/>
          <a:ln/>
        </p:spPr>
        <p:txBody>
          <a:bodyPr wrap="square" lIns="0" tIns="0" rIns="0" bIns="0" rtlCol="0" anchor="ctr"/>
          <a:lstStyle/>
          <a:p>
            <a:pPr marL="0" indent="0">
              <a:buNone/>
            </a:pPr>
            <a:r>
              <a:rPr lang="en-US" sz="1000" b="1" kern="0" spc="400" dirty="0">
                <a:solidFill>
                  <a:srgbClr val="0B4F94"/>
                </a:solidFill>
                <a:latin typeface="Aptos" pitchFamily="34" charset="0"/>
                <a:ea typeface="Aptos" pitchFamily="34" charset="-122"/>
                <a:cs typeface="Aptos" pitchFamily="34" charset="-120"/>
              </a:rPr>
              <a:t>CONCLUSION</a:t>
            </a:r>
            <a:endParaRPr lang="en-US" sz="1000" dirty="0"/>
          </a:p>
        </p:txBody>
      </p:sp>
      <p:sp>
        <p:nvSpPr>
          <p:cNvPr id="13" name="Text 11"/>
          <p:cNvSpPr/>
          <p:nvPr/>
        </p:nvSpPr>
        <p:spPr>
          <a:xfrm>
            <a:off x="6263640" y="2331720"/>
            <a:ext cx="502920" cy="640080"/>
          </a:xfrm>
          <a:prstGeom prst="rect">
            <a:avLst/>
          </a:prstGeom>
          <a:noFill/>
          <a:ln/>
        </p:spPr>
        <p:txBody>
          <a:bodyPr wrap="square" lIns="0" tIns="0" rIns="0" bIns="0" rtlCol="0" anchor="ctr"/>
          <a:lstStyle/>
          <a:p>
            <a:pPr marL="0" indent="0">
              <a:buNone/>
            </a:pPr>
            <a:r>
              <a:rPr lang="en-US" sz="3200" b="1" dirty="0">
                <a:solidFill>
                  <a:srgbClr val="0B4F94"/>
                </a:solidFill>
                <a:latin typeface="Aptos Display" pitchFamily="34" charset="0"/>
                <a:ea typeface="Aptos Display" pitchFamily="34" charset="-122"/>
                <a:cs typeface="Aptos Display" pitchFamily="34" charset="-120"/>
              </a:rPr>
              <a:t>1</a:t>
            </a:r>
            <a:endParaRPr lang="en-US" sz="3200" dirty="0"/>
          </a:p>
        </p:txBody>
      </p:sp>
      <p:sp>
        <p:nvSpPr>
          <p:cNvPr id="14" name="Text 12"/>
          <p:cNvSpPr/>
          <p:nvPr/>
        </p:nvSpPr>
        <p:spPr>
          <a:xfrm>
            <a:off x="6766560" y="2423160"/>
            <a:ext cx="5029200" cy="1005840"/>
          </a:xfrm>
          <a:prstGeom prst="rect">
            <a:avLst/>
          </a:prstGeom>
          <a:noFill/>
          <a:ln/>
        </p:spPr>
        <p:txBody>
          <a:bodyPr wrap="square" lIns="0" tIns="0" rIns="0" bIns="0" rtlCol="0" anchor="ctr"/>
          <a:lstStyle/>
          <a:p>
            <a:pPr marL="0" indent="0">
              <a:buNone/>
            </a:pPr>
            <a:r>
              <a:rPr lang="en-US" sz="1600" b="1" dirty="0">
                <a:solidFill>
                  <a:srgbClr val="082F5B"/>
                </a:solidFill>
                <a:latin typeface="Aptos Display" pitchFamily="34" charset="0"/>
                <a:ea typeface="Aptos Display" pitchFamily="34" charset="-122"/>
                <a:cs typeface="Aptos Display" pitchFamily="34" charset="-120"/>
              </a:rPr>
              <a:t>Stable radiomic clusters can be technically induced.</a:t>
            </a:r>
            <a:endParaRPr lang="en-US" sz="1600" dirty="0"/>
          </a:p>
        </p:txBody>
      </p:sp>
      <p:sp>
        <p:nvSpPr>
          <p:cNvPr id="15" name="Text 13"/>
          <p:cNvSpPr/>
          <p:nvPr/>
        </p:nvSpPr>
        <p:spPr>
          <a:xfrm>
            <a:off x="6263640" y="3474720"/>
            <a:ext cx="502920" cy="640080"/>
          </a:xfrm>
          <a:prstGeom prst="rect">
            <a:avLst/>
          </a:prstGeom>
          <a:noFill/>
          <a:ln/>
        </p:spPr>
        <p:txBody>
          <a:bodyPr wrap="square" lIns="0" tIns="0" rIns="0" bIns="0" rtlCol="0" anchor="ctr"/>
          <a:lstStyle/>
          <a:p>
            <a:pPr marL="0" indent="0">
              <a:buNone/>
            </a:pPr>
            <a:r>
              <a:rPr lang="en-US" sz="3200" b="1" dirty="0">
                <a:solidFill>
                  <a:srgbClr val="0B4F94"/>
                </a:solidFill>
                <a:latin typeface="Aptos Display" pitchFamily="34" charset="0"/>
                <a:ea typeface="Aptos Display" pitchFamily="34" charset="-122"/>
                <a:cs typeface="Aptos Display" pitchFamily="34" charset="-120"/>
              </a:rPr>
              <a:t>2</a:t>
            </a:r>
            <a:endParaRPr lang="en-US" sz="3200" dirty="0"/>
          </a:p>
        </p:txBody>
      </p:sp>
      <p:sp>
        <p:nvSpPr>
          <p:cNvPr id="16" name="Text 14"/>
          <p:cNvSpPr/>
          <p:nvPr/>
        </p:nvSpPr>
        <p:spPr>
          <a:xfrm>
            <a:off x="6766560" y="3566160"/>
            <a:ext cx="5029200" cy="1005840"/>
          </a:xfrm>
          <a:prstGeom prst="rect">
            <a:avLst/>
          </a:prstGeom>
          <a:noFill/>
          <a:ln/>
        </p:spPr>
        <p:txBody>
          <a:bodyPr wrap="square" lIns="0" tIns="0" rIns="0" bIns="0" rtlCol="0" anchor="ctr"/>
          <a:lstStyle/>
          <a:p>
            <a:pPr marL="0" indent="0">
              <a:buNone/>
            </a:pPr>
            <a:r>
              <a:rPr lang="en-US" sz="1600" b="1" dirty="0">
                <a:solidFill>
                  <a:srgbClr val="082F5B"/>
                </a:solidFill>
                <a:latin typeface="Aptos Display" pitchFamily="34" charset="0"/>
                <a:ea typeface="Aptos Display" pitchFamily="34" charset="-122"/>
                <a:cs typeface="Aptos Display" pitchFamily="34" charset="-120"/>
              </a:rPr>
              <a:t>Harmonization can preserve stability while destroying identity.</a:t>
            </a:r>
            <a:endParaRPr lang="en-US" sz="1600" dirty="0"/>
          </a:p>
        </p:txBody>
      </p:sp>
      <p:sp>
        <p:nvSpPr>
          <p:cNvPr id="17" name="Text 15"/>
          <p:cNvSpPr/>
          <p:nvPr/>
        </p:nvSpPr>
        <p:spPr>
          <a:xfrm>
            <a:off x="6263640" y="4617720"/>
            <a:ext cx="502920" cy="640080"/>
          </a:xfrm>
          <a:prstGeom prst="rect">
            <a:avLst/>
          </a:prstGeom>
          <a:noFill/>
          <a:ln/>
        </p:spPr>
        <p:txBody>
          <a:bodyPr wrap="square" lIns="0" tIns="0" rIns="0" bIns="0" rtlCol="0" anchor="ctr"/>
          <a:lstStyle/>
          <a:p>
            <a:pPr marL="0" indent="0">
              <a:buNone/>
            </a:pPr>
            <a:r>
              <a:rPr lang="en-US" sz="3200" b="1" dirty="0">
                <a:solidFill>
                  <a:srgbClr val="0B4F94"/>
                </a:solidFill>
                <a:latin typeface="Aptos Display" pitchFamily="34" charset="0"/>
                <a:ea typeface="Aptos Display" pitchFamily="34" charset="-122"/>
                <a:cs typeface="Aptos Display" pitchFamily="34" charset="-120"/>
              </a:rPr>
              <a:t>3</a:t>
            </a:r>
            <a:endParaRPr lang="en-US" sz="3200" dirty="0"/>
          </a:p>
        </p:txBody>
      </p:sp>
      <p:sp>
        <p:nvSpPr>
          <p:cNvPr id="18" name="Text 16"/>
          <p:cNvSpPr/>
          <p:nvPr/>
        </p:nvSpPr>
        <p:spPr>
          <a:xfrm>
            <a:off x="6766560" y="4709160"/>
            <a:ext cx="5029200" cy="1005840"/>
          </a:xfrm>
          <a:prstGeom prst="rect">
            <a:avLst/>
          </a:prstGeom>
          <a:noFill/>
          <a:ln/>
        </p:spPr>
        <p:txBody>
          <a:bodyPr wrap="square" lIns="0" tIns="0" rIns="0" bIns="0" rtlCol="0" anchor="ctr"/>
          <a:lstStyle/>
          <a:p>
            <a:pPr marL="0" indent="0">
              <a:buNone/>
            </a:pPr>
            <a:r>
              <a:rPr lang="en-US" sz="1600" b="1" dirty="0">
                <a:solidFill>
                  <a:srgbClr val="082F5B"/>
                </a:solidFill>
                <a:latin typeface="Aptos Display" pitchFamily="34" charset="0"/>
                <a:ea typeface="Aptos Display" pitchFamily="34" charset="-122"/>
                <a:cs typeface="Aptos Display" pitchFamily="34" charset="-120"/>
              </a:rPr>
              <a:t>Acquisition-aware falsification should become a minimum standard.</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082F5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9DB3CC"/>
          </a:solidFill>
          <a:ln/>
        </p:spPr>
        <p:txBody>
          <a:bodyPr/>
          <a:lstStyle/>
          <a:p>
            <a:endParaRPr lang="en-GB"/>
          </a:p>
        </p:txBody>
      </p:sp>
      <p:sp>
        <p:nvSpPr>
          <p:cNvPr id="3" name="Text 1"/>
          <p:cNvSpPr/>
          <p:nvPr/>
        </p:nvSpPr>
        <p:spPr>
          <a:xfrm>
            <a:off x="548640" y="548640"/>
            <a:ext cx="7315200" cy="274320"/>
          </a:xfrm>
          <a:prstGeom prst="rect">
            <a:avLst/>
          </a:prstGeom>
          <a:noFill/>
          <a:ln/>
        </p:spPr>
        <p:txBody>
          <a:bodyPr wrap="square" lIns="0" tIns="0" rIns="0" bIns="0" rtlCol="0" anchor="ctr"/>
          <a:lstStyle/>
          <a:p>
            <a:pPr marL="0" indent="0">
              <a:buNone/>
            </a:pPr>
            <a:r>
              <a:rPr lang="en-US" sz="1000" b="1" kern="0" spc="500" dirty="0">
                <a:solidFill>
                  <a:srgbClr val="9DB3CC"/>
                </a:solidFill>
                <a:latin typeface="Aptos" pitchFamily="34" charset="0"/>
                <a:ea typeface="Aptos" pitchFamily="34" charset="-122"/>
                <a:cs typeface="Aptos" pitchFamily="34" charset="-120"/>
              </a:rPr>
              <a:t>Project·  2026</a:t>
            </a:r>
            <a:endParaRPr lang="en-US" sz="1000" dirty="0"/>
          </a:p>
        </p:txBody>
      </p:sp>
      <p:sp>
        <p:nvSpPr>
          <p:cNvPr id="4" name="Text 2"/>
          <p:cNvSpPr/>
          <p:nvPr/>
        </p:nvSpPr>
        <p:spPr>
          <a:xfrm>
            <a:off x="1097280" y="2194560"/>
            <a:ext cx="9966960" cy="2011680"/>
          </a:xfrm>
          <a:prstGeom prst="rect">
            <a:avLst/>
          </a:prstGeom>
          <a:noFill/>
          <a:ln/>
        </p:spPr>
        <p:txBody>
          <a:bodyPr wrap="square" lIns="0" tIns="0" rIns="0" bIns="0" rtlCol="0" anchor="ctr"/>
          <a:lstStyle/>
          <a:p>
            <a:pPr marL="0" indent="0" algn="ctr">
              <a:buNone/>
            </a:pPr>
            <a:r>
              <a:rPr lang="en-US" sz="3000" b="1" i="1" dirty="0">
                <a:solidFill>
                  <a:srgbClr val="FFFFFF"/>
                </a:solidFill>
                <a:latin typeface="Aptos Display" pitchFamily="34" charset="0"/>
                <a:ea typeface="Aptos Display" pitchFamily="34" charset="-122"/>
                <a:cs typeface="Aptos Display" pitchFamily="34" charset="-120"/>
              </a:rPr>
              <a:t>“Stability should be treated as the beginning of validation — not the end.”</a:t>
            </a:r>
            <a:endParaRPr lang="en-US" sz="3000" dirty="0"/>
          </a:p>
        </p:txBody>
      </p:sp>
      <p:sp>
        <p:nvSpPr>
          <p:cNvPr id="5" name="Shape 3"/>
          <p:cNvSpPr/>
          <p:nvPr/>
        </p:nvSpPr>
        <p:spPr>
          <a:xfrm>
            <a:off x="5638648" y="4434840"/>
            <a:ext cx="914400" cy="27432"/>
          </a:xfrm>
          <a:prstGeom prst="rect">
            <a:avLst/>
          </a:prstGeom>
          <a:solidFill>
            <a:srgbClr val="4E78A0"/>
          </a:solidFill>
          <a:ln/>
        </p:spPr>
        <p:txBody>
          <a:bodyPr/>
          <a:lstStyle/>
          <a:p>
            <a:endParaRPr lang="en-GB"/>
          </a:p>
        </p:txBody>
      </p:sp>
      <p:sp>
        <p:nvSpPr>
          <p:cNvPr id="6" name="Text 4"/>
          <p:cNvSpPr/>
          <p:nvPr/>
        </p:nvSpPr>
        <p:spPr>
          <a:xfrm>
            <a:off x="548640" y="4663440"/>
            <a:ext cx="11064240" cy="548640"/>
          </a:xfrm>
          <a:prstGeom prst="rect">
            <a:avLst/>
          </a:prstGeom>
          <a:noFill/>
          <a:ln/>
        </p:spPr>
        <p:txBody>
          <a:bodyPr wrap="square" lIns="0" tIns="0" rIns="0" bIns="0" rtlCol="0" anchor="ctr"/>
          <a:lstStyle/>
          <a:p>
            <a:pPr marL="0" indent="0" algn="ctr">
              <a:buNone/>
            </a:pPr>
            <a:r>
              <a:rPr lang="en-US" sz="2200" dirty="0">
                <a:solidFill>
                  <a:srgbClr val="FFFFFF"/>
                </a:solidFill>
                <a:latin typeface="Aptos Display" pitchFamily="34" charset="0"/>
                <a:ea typeface="Aptos Display" pitchFamily="34" charset="-122"/>
                <a:cs typeface="Aptos Display" pitchFamily="34" charset="-120"/>
              </a:rPr>
              <a:t>Thank you.</a:t>
            </a:r>
            <a:endParaRPr lang="en-US" sz="2200" dirty="0"/>
          </a:p>
        </p:txBody>
      </p:sp>
      <p:sp>
        <p:nvSpPr>
          <p:cNvPr id="7" name="Text 5"/>
          <p:cNvSpPr/>
          <p:nvPr/>
        </p:nvSpPr>
        <p:spPr>
          <a:xfrm>
            <a:off x="548640" y="5212080"/>
            <a:ext cx="11064240" cy="548640"/>
          </a:xfrm>
          <a:prstGeom prst="rect">
            <a:avLst/>
          </a:prstGeom>
          <a:noFill/>
          <a:ln/>
        </p:spPr>
        <p:txBody>
          <a:bodyPr wrap="square" lIns="0" tIns="0" rIns="0" bIns="0" rtlCol="0" anchor="ctr"/>
          <a:lstStyle/>
          <a:p>
            <a:pPr marL="0" indent="0" algn="ctr">
              <a:buNone/>
            </a:pPr>
            <a:r>
              <a:rPr lang="en-US" sz="1600" i="1" dirty="0">
                <a:solidFill>
                  <a:srgbClr val="9DB3CC"/>
                </a:solidFill>
                <a:latin typeface="Aptos" pitchFamily="34" charset="0"/>
                <a:ea typeface="Aptos" pitchFamily="34" charset="-122"/>
                <a:cs typeface="Aptos" pitchFamily="34" charset="-120"/>
              </a:rPr>
              <a:t>Questions &amp; discussion.</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9FA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Text 1"/>
          <p:cNvSpPr/>
          <p:nvPr/>
        </p:nvSpPr>
        <p:spPr>
          <a:xfrm>
            <a:off x="548640" y="2834640"/>
            <a:ext cx="10972800" cy="548640"/>
          </a:xfrm>
          <a:prstGeom prst="rect">
            <a:avLst/>
          </a:prstGeom>
          <a:noFill/>
          <a:ln/>
        </p:spPr>
        <p:txBody>
          <a:bodyPr wrap="square" lIns="0" tIns="0" rIns="0" bIns="0" rtlCol="0" anchor="ctr"/>
          <a:lstStyle/>
          <a:p>
            <a:pPr marL="0" indent="0" algn="ctr">
              <a:buNone/>
            </a:pPr>
            <a:r>
              <a:rPr lang="en-US" sz="1400" b="1" kern="0" spc="800" dirty="0">
                <a:solidFill>
                  <a:srgbClr val="4E78A0"/>
                </a:solidFill>
                <a:latin typeface="Aptos" pitchFamily="34" charset="0"/>
                <a:ea typeface="Aptos" pitchFamily="34" charset="-122"/>
                <a:cs typeface="Aptos" pitchFamily="34" charset="-120"/>
              </a:rPr>
              <a:t>APPENDIX</a:t>
            </a:r>
            <a:endParaRPr lang="en-US" sz="1400" dirty="0"/>
          </a:p>
        </p:txBody>
      </p:sp>
      <p:sp>
        <p:nvSpPr>
          <p:cNvPr id="4" name="Text 2"/>
          <p:cNvSpPr/>
          <p:nvPr/>
        </p:nvSpPr>
        <p:spPr>
          <a:xfrm>
            <a:off x="548640" y="3383280"/>
            <a:ext cx="10972800" cy="731520"/>
          </a:xfrm>
          <a:prstGeom prst="rect">
            <a:avLst/>
          </a:prstGeom>
          <a:noFill/>
          <a:ln/>
        </p:spPr>
        <p:txBody>
          <a:bodyPr wrap="square" lIns="0" tIns="0" rIns="0" bIns="0" rtlCol="0" anchor="ctr"/>
          <a:lstStyle/>
          <a:p>
            <a:pPr marL="0" indent="0" algn="ctr">
              <a:buNone/>
            </a:pPr>
            <a:r>
              <a:rPr lang="en-US" sz="3600" b="1" dirty="0">
                <a:solidFill>
                  <a:srgbClr val="082F5B"/>
                </a:solidFill>
                <a:latin typeface="Aptos Display" pitchFamily="34" charset="0"/>
                <a:ea typeface="Aptos Display" pitchFamily="34" charset="-122"/>
                <a:cs typeface="Aptos Display" pitchFamily="34" charset="-120"/>
              </a:rPr>
              <a:t>Backup slides for Q&amp;A</a:t>
            </a:r>
            <a:endParaRPr lang="en-US" sz="3600" dirty="0"/>
          </a:p>
        </p:txBody>
      </p:sp>
      <p:sp>
        <p:nvSpPr>
          <p:cNvPr id="5" name="Shape 3"/>
          <p:cNvSpPr/>
          <p:nvPr/>
        </p:nvSpPr>
        <p:spPr>
          <a:xfrm>
            <a:off x="5638648" y="4297680"/>
            <a:ext cx="914400" cy="36576"/>
          </a:xfrm>
          <a:prstGeom prst="rect">
            <a:avLst/>
          </a:prstGeom>
          <a:solidFill>
            <a:srgbClr val="0B4F94"/>
          </a:solidFill>
          <a:ln/>
        </p:spPr>
        <p:txBody>
          <a:bodyPr/>
          <a:lstStyle/>
          <a:p>
            <a:endParaRPr lang="en-GB"/>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APPENDIX  ·  B1</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BACKUP B1</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Preprocessing &amp; QC summary.</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2240280"/>
        </p:xfrm>
        <a:graphic>
          <a:graphicData uri="http://schemas.openxmlformats.org/drawingml/2006/table">
            <a:tbl>
              <a:tblPr/>
              <a:tblGrid>
                <a:gridCol w="3657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0">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Step</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Patients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Features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Result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Raw imaging matrix</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922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529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Numeric MRI-derived radiomic features.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Missingness filter (&lt;5%)</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922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529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No variables exceeded threshold.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Low-variance filter (≥2 unique)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922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529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No variables removed.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Median imputation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922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529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Residual missing values imputed feature-wise.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Z-score standardization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922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529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Mean-centered, variance-scaled.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Final analysis matrix</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922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dirty="0">
                          <a:solidFill>
                            <a:srgbClr val="1A2330"/>
                          </a:solidFill>
                          <a:latin typeface="Aptos" pitchFamily="34" charset="0"/>
                          <a:ea typeface="Aptos" pitchFamily="34" charset="-122"/>
                          <a:cs typeface="Aptos" pitchFamily="34" charset="-120"/>
                        </a:rPr>
                        <a:t>529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Input to PCA, clustering, harmonization, survival.</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APPENDIX  ·  B2</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BACKUP B2</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Top raw cluster-separating features.</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2560320"/>
        </p:xfrm>
        <a:graphic>
          <a:graphicData uri="http://schemas.openxmlformats.org/drawingml/2006/table">
            <a:tbl>
              <a:tblPr/>
              <a:tblGrid>
                <a:gridCol w="3291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0">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Feature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Mean C0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Mean C1</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Δ (C1−C0)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Cohen 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q-value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SER entropy</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−0.552</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0.964</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1.516</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2.214</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1.1 × 10⁻¹⁰⁰</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SER sum entropy</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−0.552</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0.963</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1.515</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2.211</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2.7 × 10⁻¹⁰⁹</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SER std. dev.</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0.550</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−0.960</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−1.510</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−2.196</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2.4 × 10⁻¹⁶⁴</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SER difference entropy</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−0.546</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0.953</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1.499</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2.162</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1.2 × 10⁻¹⁰³</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SER homogeneity (2)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0.540</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−0.942</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−1.483</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−2.114</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2.5 × 10⁻⁹⁵</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SER homogeneity (1)</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0.539</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−0.940</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−1.479</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−2.104</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1.7 × 10⁻⁹⁷</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6"/>
                  </a:ext>
                </a:extLst>
              </a:tr>
              <a:tr h="0">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PE std. dev.</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 0.532</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−0.927</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−1.459</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−2.047</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Consolas" pitchFamily="34" charset="0"/>
                          <a:ea typeface="Consolas" pitchFamily="34" charset="-122"/>
                          <a:cs typeface="Consolas" pitchFamily="34" charset="-120"/>
                        </a:rPr>
                        <a:t>1.7 × 10⁻¹⁶⁴</a:t>
                      </a:r>
                      <a:endParaRPr lang="en-US" sz="1100" dirty="0">
                        <a:latin typeface="Consolas" charset="0"/>
                        <a:ea typeface="Consolas" charset="0"/>
                        <a:cs typeface="Consola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APPENDIX  ·  B3</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BACKUP B3</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Raw cluster × subtype, raw cluster × recurrence.</a:t>
            </a:r>
            <a:endParaRPr lang="en-US" sz="2800" dirty="0"/>
          </a:p>
        </p:txBody>
      </p:sp>
      <p:sp>
        <p:nvSpPr>
          <p:cNvPr id="9" name="Text 7"/>
          <p:cNvSpPr/>
          <p:nvPr/>
        </p:nvSpPr>
        <p:spPr>
          <a:xfrm>
            <a:off x="548640" y="1965960"/>
            <a:ext cx="109728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BY MOLECULAR SUBTYPE  (raw cluster)</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64240" cy="960120"/>
        </p:xfrm>
        <a:graphic>
          <a:graphicData uri="http://schemas.openxmlformats.org/drawingml/2006/table">
            <a:tbl>
              <a:tblPr/>
              <a:tblGrid>
                <a:gridCol w="15544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0">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Cluster</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Luminal-like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HR+/HER2+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HER2-only</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TNBC</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ctr">
                        <a:buNone/>
                      </a:pPr>
                      <a:r>
                        <a:rPr lang="en-US" sz="1100" b="1" dirty="0">
                          <a:solidFill>
                            <a:srgbClr val="1A2330"/>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383</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56</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41</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106</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100" b="1" dirty="0">
                          <a:solidFill>
                            <a:srgbClr val="1A2330"/>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212</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48</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18</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58</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sp>
        <p:nvSpPr>
          <p:cNvPr id="11" name="Text 8"/>
          <p:cNvSpPr/>
          <p:nvPr/>
        </p:nvSpPr>
        <p:spPr>
          <a:xfrm>
            <a:off x="548640" y="4160520"/>
            <a:ext cx="10972800" cy="274320"/>
          </a:xfrm>
          <a:prstGeom prst="rect">
            <a:avLst/>
          </a:prstGeom>
          <a:noFill/>
          <a:ln/>
        </p:spPr>
        <p:txBody>
          <a:bodyPr wrap="square" lIns="0" tIns="0" rIns="0" bIns="0" rtlCol="0" anchor="ctr"/>
          <a:lstStyle/>
          <a:p>
            <a:pPr marL="0" indent="0">
              <a:buNone/>
            </a:pPr>
            <a:r>
              <a:rPr lang="en-US" sz="900" b="1" kern="0" spc="400" dirty="0">
                <a:solidFill>
                  <a:srgbClr val="4E78A0"/>
                </a:solidFill>
                <a:latin typeface="Aptos" pitchFamily="34" charset="0"/>
                <a:ea typeface="Aptos" pitchFamily="34" charset="-122"/>
                <a:cs typeface="Aptos" pitchFamily="34" charset="-120"/>
              </a:rPr>
              <a:t>BY RECURRENCE EVENT  (raw cluster)</a:t>
            </a:r>
            <a:endParaRPr lang="en-US" sz="9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48640" y="4480560"/>
          <a:ext cx="11064240" cy="960120"/>
        </p:xfrm>
        <a:graphic>
          <a:graphicData uri="http://schemas.openxmlformats.org/drawingml/2006/table">
            <a:tbl>
              <a:tblPr/>
              <a:tblGrid>
                <a:gridCol w="182880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4617720">
                  <a:extLst>
                    <a:ext uri="{9D8B030D-6E8A-4147-A177-3AD203B41FA5}">
                      <a16:colId xmlns:a16="http://schemas.microsoft.com/office/drawing/2014/main" val="20002"/>
                    </a:ext>
                  </a:extLst>
                </a:gridCol>
              </a:tblGrid>
              <a:tr h="0">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Cluster</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No recurrence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ctr">
                        <a:buNone/>
                      </a:pPr>
                      <a:r>
                        <a:rPr lang="en-US" sz="1100" b="1" dirty="0">
                          <a:solidFill>
                            <a:srgbClr val="FFFFFF"/>
                          </a:solidFill>
                          <a:latin typeface="Aptos" pitchFamily="34" charset="0"/>
                          <a:ea typeface="Aptos" pitchFamily="34" charset="-122"/>
                          <a:cs typeface="Aptos" pitchFamily="34" charset="-120"/>
                        </a:rPr>
                        <a:t>Recurrence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ctr">
                        <a:buNone/>
                      </a:pPr>
                      <a:r>
                        <a:rPr lang="en-US" sz="1100" b="1" dirty="0">
                          <a:solidFill>
                            <a:srgbClr val="1A2330"/>
                          </a:solidFill>
                          <a:latin typeface="Aptos" pitchFamily="34" charset="0"/>
                          <a:ea typeface="Aptos" pitchFamily="34" charset="-122"/>
                          <a:cs typeface="Aptos" pitchFamily="34" charset="-120"/>
                        </a:rPr>
                        <a:t>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527</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57</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100" b="1" dirty="0">
                          <a:solidFill>
                            <a:srgbClr val="1A2330"/>
                          </a:solidFill>
                          <a:latin typeface="Aptos" pitchFamily="34" charset="0"/>
                          <a:ea typeface="Aptos" pitchFamily="34" charset="-122"/>
                          <a:cs typeface="Aptos" pitchFamily="34" charset="-120"/>
                        </a:rPr>
                        <a:t>1</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306</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30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APPENDIX  ·  B4</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BACKUP B4</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Full stability vs. identity table.</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1280160"/>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0">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Condition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Mean bootstrap ARI</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SD ARI</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ARI vs. raw labels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Interpretation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Raw</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0.893</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0.084</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1.000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Stable baseline partition (reference).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Manufacturer residualized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0.919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0.047</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0.056</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Stable, but nearly unrelated to raw labels.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ComBat harmonized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0.903</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0.058</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0.065</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Stable, but nearly unrelated to raw labels.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APPENDIX  ·  B5</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BACKUP B5</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Manufacturer-adjusted Cox model, HR+/HER2+ subgroup.</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129540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743200">
                  <a:extLst>
                    <a:ext uri="{9D8B030D-6E8A-4147-A177-3AD203B41FA5}">
                      <a16:colId xmlns:a16="http://schemas.microsoft.com/office/drawing/2014/main" val="20005"/>
                    </a:ext>
                  </a:extLst>
                </a:gridCol>
              </a:tblGrid>
              <a:tr h="0">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Covariate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Coefficient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Hazard ratio</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95% CI</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p-value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Interpretation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Raw cluster (1 vs 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0.908</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2.48</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0.46 – 13.39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0.291</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Cluster effect attenuates; loses significance.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Manufacturer (Siemens vs GE)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1.097</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2.99</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0.56 – 16.03</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r">
                        <a:buNone/>
                      </a:pPr>
                      <a:r>
                        <a:rPr lang="en-US" sz="1100" dirty="0">
                          <a:solidFill>
                            <a:srgbClr val="1A2330"/>
                          </a:solidFill>
                          <a:latin typeface="Aptos" pitchFamily="34" charset="0"/>
                          <a:ea typeface="Aptos" pitchFamily="34" charset="-122"/>
                          <a:cs typeface="Aptos" pitchFamily="34" charset="-120"/>
                        </a:rPr>
                        <a:t>0.200</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Non-significant in sparse subgroup; correlated with cluster.</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bl>
          </a:graphicData>
        </a:graphic>
      </p:graphicFrame>
      <p:sp>
        <p:nvSpPr>
          <p:cNvPr id="10" name="Text 7"/>
          <p:cNvSpPr/>
          <p:nvPr/>
        </p:nvSpPr>
        <p:spPr>
          <a:xfrm>
            <a:off x="548640" y="4114800"/>
            <a:ext cx="10972800" cy="365760"/>
          </a:xfrm>
          <a:prstGeom prst="rect">
            <a:avLst/>
          </a:prstGeom>
          <a:noFill/>
          <a:ln/>
        </p:spPr>
        <p:txBody>
          <a:bodyPr wrap="square" lIns="0" tIns="0" rIns="0" bIns="0" rtlCol="0" anchor="ctr"/>
          <a:lstStyle/>
          <a:p>
            <a:pPr marL="0" indent="0">
              <a:buNone/>
            </a:pPr>
            <a:r>
              <a:rPr lang="en-US" sz="1100" i="1" dirty="0">
                <a:solidFill>
                  <a:srgbClr val="B33C3C"/>
                </a:solidFill>
                <a:latin typeface="Aptos" pitchFamily="34" charset="0"/>
                <a:ea typeface="Aptos" pitchFamily="34" charset="-122"/>
                <a:cs typeface="Aptos" pitchFamily="34" charset="-120"/>
              </a:rPr>
              <a:t>10 events; two correlated predictors  ·  estimates are unstable.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082F5B"/>
          </a:solidFill>
          <a:ln/>
        </p:spPr>
        <p:txBody>
          <a:bodyPr/>
          <a:lstStyle/>
          <a:p>
            <a:endParaRPr lang="en-GB"/>
          </a:p>
        </p:txBody>
      </p:sp>
      <p:sp>
        <p:nvSpPr>
          <p:cNvPr id="3" name="Shape 1"/>
          <p:cNvSpPr/>
          <p:nvPr/>
        </p:nvSpPr>
        <p:spPr>
          <a:xfrm>
            <a:off x="548640" y="6473952"/>
            <a:ext cx="11094415" cy="10973"/>
          </a:xfrm>
          <a:prstGeom prst="rect">
            <a:avLst/>
          </a:prstGeom>
          <a:solidFill>
            <a:srgbClr val="C9D2DC"/>
          </a:solidFill>
          <a:ln/>
        </p:spPr>
        <p:txBody>
          <a:bodyPr/>
          <a:lstStyle/>
          <a:p>
            <a:endParaRPr lang="en-GB"/>
          </a:p>
        </p:txBody>
      </p:sp>
      <p:sp>
        <p:nvSpPr>
          <p:cNvPr id="4" name="Text 2"/>
          <p:cNvSpPr/>
          <p:nvPr/>
        </p:nvSpPr>
        <p:spPr>
          <a:xfrm>
            <a:off x="548640" y="6528816"/>
            <a:ext cx="7315200" cy="274320"/>
          </a:xfrm>
          <a:prstGeom prst="rect">
            <a:avLst/>
          </a:prstGeom>
          <a:noFill/>
          <a:ln/>
        </p:spPr>
        <p:txBody>
          <a:bodyPr wrap="square" lIns="0" tIns="0" rIns="0" bIns="0" rtlCol="0" anchor="ctr"/>
          <a:lstStyle/>
          <a:p>
            <a:pPr marL="0" indent="0" algn="l">
              <a:buNone/>
            </a:pPr>
            <a:r>
              <a:rPr lang="en-US" sz="900" kern="0" spc="200" dirty="0">
                <a:solidFill>
                  <a:srgbClr val="5C6B7E"/>
                </a:solidFill>
                <a:latin typeface="Aptos" pitchFamily="34" charset="0"/>
                <a:ea typeface="Aptos" pitchFamily="34" charset="-122"/>
                <a:cs typeface="Aptos" pitchFamily="34" charset="-120"/>
              </a:rPr>
              <a:t>APPENDIX  ·  B6</a:t>
            </a:r>
            <a:endParaRPr lang="en-US" sz="900" dirty="0"/>
          </a:p>
        </p:txBody>
      </p:sp>
      <p:sp>
        <p:nvSpPr>
          <p:cNvPr id="5" name="Text 3"/>
          <p:cNvSpPr/>
          <p:nvPr/>
        </p:nvSpPr>
        <p:spPr>
          <a:xfrm>
            <a:off x="6156655" y="6528816"/>
            <a:ext cx="5486400" cy="274320"/>
          </a:xfrm>
          <a:prstGeom prst="rect">
            <a:avLst/>
          </a:prstGeom>
          <a:noFill/>
          <a:ln/>
        </p:spPr>
        <p:txBody>
          <a:bodyPr wrap="square" lIns="0" tIns="0" rIns="0" bIns="0" rtlCol="0" anchor="ctr"/>
          <a:lstStyle/>
          <a:p>
            <a:pPr algn="r"/>
            <a:r>
              <a:rPr lang="en-US" sz="900" kern="0" spc="100" dirty="0">
                <a:solidFill>
                  <a:srgbClr val="5C6B7E"/>
                </a:solidFill>
                <a:latin typeface="Aptos" pitchFamily="34" charset="0"/>
                <a:ea typeface="Aptos" pitchFamily="34" charset="-122"/>
                <a:cs typeface="Aptos" pitchFamily="34" charset="-120"/>
              </a:rPr>
              <a:t>Trapped by Stability  · Project</a:t>
            </a:r>
            <a:endParaRPr lang="en-US" sz="900" dirty="0"/>
          </a:p>
        </p:txBody>
      </p:sp>
      <p:sp>
        <p:nvSpPr>
          <p:cNvPr id="6" name="Text 4"/>
          <p:cNvSpPr/>
          <p:nvPr/>
        </p:nvSpPr>
        <p:spPr>
          <a:xfrm>
            <a:off x="548640" y="365760"/>
            <a:ext cx="10972800" cy="274320"/>
          </a:xfrm>
          <a:prstGeom prst="rect">
            <a:avLst/>
          </a:prstGeom>
          <a:noFill/>
          <a:ln/>
        </p:spPr>
        <p:txBody>
          <a:bodyPr wrap="square" lIns="0" tIns="0" rIns="0" bIns="0" rtlCol="0" anchor="ctr"/>
          <a:lstStyle/>
          <a:p>
            <a:pPr marL="0" indent="0">
              <a:buNone/>
            </a:pPr>
            <a:r>
              <a:rPr lang="en-US" sz="1000" b="1" kern="0" spc="400" dirty="0">
                <a:solidFill>
                  <a:srgbClr val="4E78A0"/>
                </a:solidFill>
                <a:latin typeface="Aptos" pitchFamily="34" charset="0"/>
                <a:ea typeface="Aptos" pitchFamily="34" charset="-122"/>
                <a:cs typeface="Aptos" pitchFamily="34" charset="-120"/>
              </a:rPr>
              <a:t>BACKUP B6</a:t>
            </a:r>
            <a:endParaRPr lang="en-US" sz="1000" dirty="0"/>
          </a:p>
        </p:txBody>
      </p:sp>
      <p:sp>
        <p:nvSpPr>
          <p:cNvPr id="7" name="Shape 5"/>
          <p:cNvSpPr/>
          <p:nvPr/>
        </p:nvSpPr>
        <p:spPr>
          <a:xfrm>
            <a:off x="548640" y="713232"/>
            <a:ext cx="502920" cy="36576"/>
          </a:xfrm>
          <a:prstGeom prst="rect">
            <a:avLst/>
          </a:prstGeom>
          <a:solidFill>
            <a:srgbClr val="0B4F94"/>
          </a:solidFill>
          <a:ln/>
        </p:spPr>
        <p:txBody>
          <a:bodyPr/>
          <a:lstStyle/>
          <a:p>
            <a:endParaRPr lang="en-GB"/>
          </a:p>
        </p:txBody>
      </p:sp>
      <p:sp>
        <p:nvSpPr>
          <p:cNvPr id="8" name="Text 6"/>
          <p:cNvSpPr/>
          <p:nvPr/>
        </p:nvSpPr>
        <p:spPr>
          <a:xfrm>
            <a:off x="548640" y="868680"/>
            <a:ext cx="11155680" cy="1005840"/>
          </a:xfrm>
          <a:prstGeom prst="rect">
            <a:avLst/>
          </a:prstGeom>
          <a:noFill/>
          <a:ln/>
        </p:spPr>
        <p:txBody>
          <a:bodyPr wrap="square" lIns="0" tIns="0" rIns="0" bIns="0" rtlCol="0" anchor="t"/>
          <a:lstStyle/>
          <a:p>
            <a:pPr marL="0" indent="0">
              <a:buNone/>
            </a:pPr>
            <a:r>
              <a:rPr lang="en-US" sz="2800" b="1" dirty="0">
                <a:solidFill>
                  <a:srgbClr val="082F5B"/>
                </a:solidFill>
                <a:latin typeface="Aptos Display" pitchFamily="34" charset="0"/>
                <a:ea typeface="Aptos Display" pitchFamily="34" charset="-122"/>
                <a:cs typeface="Aptos Display" pitchFamily="34" charset="-120"/>
              </a:rPr>
              <a:t>Prespecified biomarker criteria — full table.</a:t>
            </a:r>
            <a:endParaRPr lang="en-US" sz="2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2270760"/>
        </p:xfrm>
        <a:graphic>
          <a:graphicData uri="http://schemas.openxmlformats.org/drawingml/2006/table">
            <a:tbl>
              <a:tblPr/>
              <a:tblGrid>
                <a:gridCol w="3108960">
                  <a:extLst>
                    <a:ext uri="{9D8B030D-6E8A-4147-A177-3AD203B41FA5}">
                      <a16:colId xmlns:a16="http://schemas.microsoft.com/office/drawing/2014/main" val="20000"/>
                    </a:ext>
                  </a:extLst>
                </a:gridCol>
                <a:gridCol w="6126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0">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Criterion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Observed result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tc>
                  <a:txBody>
                    <a:bodyPr/>
                    <a:lstStyle/>
                    <a:p>
                      <a:pPr marL="0" indent="0" algn="l">
                        <a:buNone/>
                      </a:pPr>
                      <a:r>
                        <a:rPr lang="en-US" sz="1100" b="1" dirty="0">
                          <a:solidFill>
                            <a:srgbClr val="FFFFFF"/>
                          </a:solidFill>
                          <a:latin typeface="Aptos" pitchFamily="34" charset="0"/>
                          <a:ea typeface="Aptos" pitchFamily="34" charset="-122"/>
                          <a:cs typeface="Aptos" pitchFamily="34" charset="-120"/>
                        </a:rPr>
                        <a:t>Status</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082F5B"/>
                    </a:solidFill>
                  </a:tcPr>
                </a:tc>
                <a:extLst>
                  <a:ext uri="{0D108BD9-81ED-4DB2-BD59-A6C34878D82A}">
                    <a16:rowId xmlns:a16="http://schemas.microsoft.com/office/drawing/2014/main" val="10000"/>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Endpoint association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Cluster-level recurrence signals were borderline or non-robust; adjusted clinical models did not establish a durable association.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33C3C"/>
                          </a:solidFill>
                          <a:latin typeface="Aptos" pitchFamily="34" charset="0"/>
                          <a:ea typeface="Aptos" pitchFamily="34" charset="-122"/>
                          <a:cs typeface="Aptos" pitchFamily="34" charset="-120"/>
                        </a:rPr>
                        <a:t>Not met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Incremental predictive value</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Radiomic / vascularity-augmented models did not improve recurrence prediction beyond clinical features in nested CV.</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b="1" dirty="0">
                          <a:solidFill>
                            <a:srgbClr val="B33C3C"/>
                          </a:solidFill>
                          <a:latin typeface="Aptos" pitchFamily="34" charset="0"/>
                          <a:ea typeface="Aptos" pitchFamily="34" charset="-122"/>
                          <a:cs typeface="Aptos" pitchFamily="34" charset="-120"/>
                        </a:rPr>
                        <a:t>Not met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2"/>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Within-vendor direction consistency</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Direction and magnitude were not sufficiently reliable across vendor-restricted analyses to support a biomarker claim.</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B33C3C"/>
                          </a:solidFill>
                          <a:latin typeface="Aptos" pitchFamily="34" charset="0"/>
                          <a:ea typeface="Aptos" pitchFamily="34" charset="-122"/>
                          <a:cs typeface="Aptos" pitchFamily="34" charset="-120"/>
                        </a:rPr>
                        <a:t>Not met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100" b="1" dirty="0">
                          <a:solidFill>
                            <a:srgbClr val="1A2330"/>
                          </a:solidFill>
                          <a:latin typeface="Aptos" pitchFamily="34" charset="0"/>
                          <a:ea typeface="Aptos" pitchFamily="34" charset="-122"/>
                          <a:cs typeface="Aptos" pitchFamily="34" charset="-120"/>
                        </a:rPr>
                        <a:t>Overall conclusion</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l">
                        <a:buNone/>
                      </a:pPr>
                      <a:r>
                        <a:rPr lang="en-US" sz="1100" dirty="0">
                          <a:solidFill>
                            <a:srgbClr val="1A2330"/>
                          </a:solidFill>
                          <a:latin typeface="Aptos" pitchFamily="34" charset="0"/>
                          <a:ea typeface="Aptos" pitchFamily="34" charset="-122"/>
                          <a:cs typeface="Aptos" pitchFamily="34" charset="-120"/>
                        </a:rPr>
                        <a:t>Residual structure is vendor-cleaner and size-linked, but is not validated as a biological or clinical phenotype in this cohort.</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tc>
                  <a:txBody>
                    <a:bodyPr/>
                    <a:lstStyle/>
                    <a:p>
                      <a:pPr marL="0" indent="0" algn="ctr">
                        <a:buNone/>
                      </a:pPr>
                      <a:r>
                        <a:rPr lang="en-US" sz="1100" b="1" dirty="0">
                          <a:solidFill>
                            <a:srgbClr val="B33C3C"/>
                          </a:solidFill>
                          <a:latin typeface="Aptos" pitchFamily="34" charset="0"/>
                          <a:ea typeface="Aptos" pitchFamily="34" charset="-122"/>
                          <a:cs typeface="Aptos" pitchFamily="34" charset="-120"/>
                        </a:rPr>
                        <a:t>Fails threshold</a:t>
                      </a:r>
                      <a:endParaRPr lang="en-US" sz="1100" dirty="0">
                        <a:latin typeface="Aptos" charset="0"/>
                        <a:ea typeface="Aptos" charset="0"/>
                        <a:cs typeface="Aptos" charset="0"/>
                      </a:endParaRPr>
                    </a:p>
                  </a:txBody>
                  <a:tcPr marL="76200" marR="76200" marT="76200" marB="76200">
                    <a:lnL w="6350" cap="flat" cmpd="sng" algn="ctr">
                      <a:solidFill>
                        <a:srgbClr val="E5EAF0"/>
                      </a:solidFill>
                      <a:prstDash val="solid"/>
                      <a:round/>
                      <a:headEnd type="none" w="med" len="med"/>
                      <a:tailEnd type="none" w="med" len="med"/>
                    </a:lnL>
                    <a:lnR w="6350" cap="flat" cmpd="sng" algn="ctr">
                      <a:solidFill>
                        <a:srgbClr val="E5EAF0"/>
                      </a:solidFill>
                      <a:prstDash val="solid"/>
                      <a:round/>
                      <a:headEnd type="none" w="med" len="med"/>
                      <a:tailEnd type="none" w="med" len="med"/>
                    </a:lnR>
                    <a:lnT w="6350" cap="flat" cmpd="sng" algn="ctr">
                      <a:solidFill>
                        <a:srgbClr val="E5EAF0"/>
                      </a:solidFill>
                      <a:prstDash val="solid"/>
                      <a:round/>
                      <a:headEnd type="none" w="med" len="med"/>
                      <a:tailEnd type="none" w="med" len="med"/>
                    </a:lnT>
                    <a:lnB w="6350" cap="flat" cmpd="sng" algn="ctr">
                      <a:solidFill>
                        <a:srgbClr val="E5EAF0"/>
                      </a:solidFill>
                      <a:prstDash val="solid"/>
                      <a:round/>
                      <a:headEnd type="none" w="med" len="med"/>
                      <a:tailEnd type="none" w="med" len="med"/>
                    </a:lnB>
                    <a:solidFill>
                      <a:srgbClr val="F4F6FA"/>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5163</Words>
  <Application>Microsoft Office PowerPoint</Application>
  <PresentationFormat>Widescreen</PresentationFormat>
  <Paragraphs>599</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Trapped by Stability</dc:title>
  <dc:subject>PptxGenJS Presentation</dc:subject>
  <dc:creator>Thesis Defense</dc:creator>
  <cp:lastModifiedBy>malek itani</cp:lastModifiedBy>
  <cp:revision>7</cp:revision>
  <dcterms:created xsi:type="dcterms:W3CDTF">2026-05-21T08:51:04Z</dcterms:created>
  <dcterms:modified xsi:type="dcterms:W3CDTF">2026-05-21T10:54:49Z</dcterms:modified>
</cp:coreProperties>
</file>